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0ff98d-edfc-5d57-d2b8-7ca7c62fd043}">
          <p14:sldIdLst>
            <p14:sldId id="256"/>
            <p14:sldId id="257"/>
          </p14:sldIdLst>
        </p14:section>
        <p14:section name="The promise" id="{3ab0893a-8cf1-a930-94ec-836c344be945}">
          <p14:sldIdLst>
            <p14:sldId id="258"/>
            <p14:sldId id="259"/>
          </p14:sldIdLst>
        </p14:section>
        <p14:section name="The pivot" id="{b1ec979b-8ef6-2c1b-1368-e986308d36c3}">
          <p14:sldIdLst>
            <p14:sldId id="260"/>
            <p14:sldId id="261"/>
            <p14:sldId id="262"/>
            <p14:sldId id="263"/>
          </p14:sldIdLst>
        </p14:section>
        <p14:section name="User and problem" id="{2e8587a7-3be9-185e-66d2-8f9406c0701b}">
          <p14:sldIdLst>
            <p14:sldId id="264"/>
            <p14:sldId id="265"/>
            <p14:sldId id="266"/>
            <p14:sldId id="267"/>
          </p14:sldIdLst>
        </p14:section>
        <p14:section name="Market" id="{b88e54b6-75f5-cc7b-bdda-96bd9fcbe685}">
          <p14:sldIdLst>
            <p14:sldId id="268"/>
            <p14:sldId id="269"/>
            <p14:sldId id="270"/>
            <p14:sldId id="271"/>
          </p14:sldIdLst>
        </p14:section>
        <p14:section name="Strategy and business model" id="{cc744556-00e3-044b-2c8b-5ede81e369d0}">
          <p14:sldIdLst>
            <p14:sldId id="272"/>
            <p14:sldId id="273"/>
            <p14:sldId id="274"/>
            <p14:sldId id="275"/>
            <p14:sldId id="276"/>
            <p14:sldId id="277"/>
            <p14:sldId id="278"/>
            <p14:sldId id="279"/>
          </p14:sldIdLst>
        </p14:section>
        <p14:section name="Validation" id="{3ce6437a-aa54-4803-1d94-a9e43b6cf1bd}">
          <p14:sldIdLst>
            <p14:sldId id="280"/>
            <p14:sldId id="281"/>
            <p14:sldId id="282"/>
            <p14:sldId id="283"/>
            <p14:sldId id="284"/>
            <p14:sldId id="285"/>
            <p14:sldId id="286"/>
          </p14:sldIdLst>
        </p14:section>
        <p14:section name="Decision and next test" id="{980bc96e-92b7-1550-f624-1b1e92df7d07}">
          <p14:sldIdLst>
            <p14:sldId id="287"/>
            <p14:sldId id="288"/>
            <p14:sldId id="289"/>
            <p14:sldId id="290"/>
            <p14:sldId id="291"/>
            <p14:sldId id="292"/>
          </p14:sldIdLst>
        </p14:section>
        <p14:section name="Close" id="{0aefaeb2-7140-4c12-d1b9-bdc483179312}">
          <p14:sldIdLst>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352F"/>
                </a:solidFill>
                <a:latin typeface="+mn-lt"/>
              </a:defRPr>
            </a:pPr>
            <a:r>
              <a:rPr sz="1300" b="0" i="0" u="none" strike="noStrike">
                <a:solidFill>
                  <a:srgbClr val="16352F"/>
                </a:solidFill>
                <a:latin typeface="+mn-lt"/>
              </a:rPr>
              <a:t>Student survey (n = 17): number of students</a:t>
            </a:r>
          </a:p>
        </c:rich>
      </c:tx>
      <c:layout/>
      <c:overlay val="0"/>
    </c:title>
    <c:autoTitleDeleted val="0"/>
    <c:plotArea>
      <c:layout/>
      <c:barChart>
        <c:barDir val="bar"/>
        <c:grouping val="clustered"/>
        <c:varyColors val="0"/>
        <c:ser>
          <c:idx val="0"/>
          <c:order val="0"/>
          <c:tx>
            <c:strRef>
              <c:f>Sheet1!$B$1</c:f>
              <c:strCache>
                <c:ptCount val="1"/>
                <c:pt idx="0">
                  <c:v>Students (of 17)</c:v>
                </c:pt>
              </c:strCache>
            </c:strRef>
          </c:tx>
          <c:spPr>
            <a:solidFill>
              <a:srgbClr val="2E8B67"/>
            </a:solidFill>
            <a:effectLst/>
          </c:spPr>
          <c:invertIfNegative val="0"/>
          <c:dLbls>
            <c:numFmt formatCode="#,##0" sourceLinked="0"/>
            <c:txPr>
              <a:bodyPr/>
              <a:lstStyle/>
              <a:p>
                <a:pPr>
                  <a:defRPr b="0" i="0" strike="noStrike" sz="1200" u="none">
                    <a:solidFill>
                      <a:srgbClr val="1B1F1D"/>
                    </a:solidFill>
                    <a:latin typeface="+mn-lt"/>
                  </a:defRPr>
                </a:pPr>
              </a:p>
            </c:txPr>
            <c:showLegendKey val="0"/>
            <c:showVal val="1"/>
            <c:showCatName val="0"/>
            <c:showSerName val="0"/>
            <c:showPercent val="0"/>
            <c:showBubbleSize val="0"/>
            <c:showLeaderLines val="0"/>
          </c:dLbls>
          <c:dPt>
            <c:idx val="0"/>
            <c:invertIfNegative val="0"/>
            <c:bubble3D val="0"/>
            <c:spPr>
              <a:solidFill>
                <a:srgbClr val="2E8B67"/>
              </a:solidFill>
              <a:effectLst/>
            </c:spPr>
          </c:dPt>
          <c:dPt>
            <c:idx val="1"/>
            <c:invertIfNegative val="0"/>
            <c:bubble3D val="0"/>
            <c:spPr>
              <a:solidFill>
                <a:srgbClr val="2E8B67"/>
              </a:solidFill>
              <a:effectLst/>
            </c:spPr>
          </c:dPt>
          <c:dPt>
            <c:idx val="2"/>
            <c:invertIfNegative val="0"/>
            <c:bubble3D val="0"/>
            <c:spPr>
              <a:solidFill>
                <a:srgbClr val="5E6B66"/>
              </a:solidFill>
              <a:effectLst/>
            </c:spPr>
          </c:dPt>
          <c:dPt>
            <c:idx val="3"/>
            <c:invertIfNegative val="0"/>
            <c:bubble3D val="0"/>
            <c:spPr>
              <a:solidFill>
                <a:srgbClr val="5E6B66"/>
              </a:solidFill>
              <a:effectLst/>
            </c:spPr>
          </c:dPt>
          <c:dPt>
            <c:idx val="4"/>
            <c:invertIfNegative val="0"/>
            <c:bubble3D val="0"/>
            <c:spPr>
              <a:solidFill>
                <a:srgbClr val="5E6B66"/>
              </a:solidFill>
              <a:effectLst/>
            </c:spPr>
          </c:dPt>
          <c:dPt>
            <c:idx val="5"/>
            <c:invertIfNegative val="0"/>
            <c:bubble3D val="0"/>
            <c:spPr>
              <a:solidFill>
                <a:srgbClr val="5E6B66"/>
              </a:solidFill>
              <a:effectLst/>
            </c:spPr>
          </c:dPt>
          <c:dPt>
            <c:idx val="6"/>
            <c:invertIfNegative val="0"/>
            <c:bubble3D val="0"/>
            <c:spPr>
              <a:solidFill>
                <a:srgbClr val="B9503A"/>
              </a:solidFill>
              <a:effectLst/>
            </c:spPr>
          </c:dPt>
          <c:cat>
            <c:multiLvlStrRef>
              <c:f>Sheet1!$A$2:$A$8</c:f>
              <c:multiLvlStrCache>
                <c:ptCount val="7"/>
                <c:lvl>
                  <c:pt idx="0">
                    <c:v>Struggle to explain personal contribution</c:v>
                  </c:pt>
                  <c:pt idx="1">
                    <c:v>Struggle to show work beyond coursework</c:v>
                  </c:pt>
                  <c:pt idx="2">
                    <c:v>Want clear scope and deadlines</c:v>
                  </c:pt>
                  <c:pt idx="3">
                    <c:v>Want career relevance</c:v>
                  </c:pt>
                  <c:pt idx="4">
                    <c:v>Latest project reviewed only in class</c:v>
                  </c:pt>
                  <c:pt idx="5">
                    <c:v>Lack of feedback</c:v>
                  </c:pt>
                  <c:pt idx="6">
                    <c:v>Motivated by payment</c:v>
                  </c:pt>
                </c:lvl>
              </c:multiLvlStrCache>
            </c:multiLvlStrRef>
          </c:cat>
          <c:val>
            <c:numRef>
              <c:f>Sheet1!$B$2:$B$8</c:f>
              <c:numCache>
                <c:formatCode>General</c:formatCode>
                <c:ptCount val="7"/>
                <c:pt idx="0">
                  <c:v>14</c:v>
                </c:pt>
                <c:pt idx="1">
                  <c:v>12</c:v>
                </c:pt>
                <c:pt idx="2">
                  <c:v>11</c:v>
                </c:pt>
                <c:pt idx="3">
                  <c:v>11</c:v>
                </c:pt>
                <c:pt idx="4">
                  <c:v>9</c:v>
                </c:pt>
                <c:pt idx="5">
                  <c:v>8</c:v>
                </c:pt>
                <c:pt idx="6">
                  <c:v>3</c:v>
                </c:pt>
              </c:numCache>
            </c:numRef>
          </c:val>
        </c:ser>
        <c:dLbls>
          <c:numFmt formatCode="#,##0" sourceLinked="0"/>
          <c:txPr>
            <a:bodyPr/>
            <a:lstStyle/>
            <a:p>
              <a:pPr>
                <a:defRPr b="0" i="0" strike="noStrike" sz="1200" u="none">
                  <a:solidFill>
                    <a:srgbClr val="1B1F1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1D"/>
                </a:solidFill>
                <a:latin typeface="+mn-lt"/>
              </a:defRPr>
            </a:pPr>
            <a:endParaRPr lang="en-US"/>
          </a:p>
        </c:txPr>
        <c:crossAx val="2094734552"/>
        <c:crosses val="autoZero"/>
        <c:auto val="1"/>
        <c:lblAlgn val="ctr"/>
        <c:noMultiLvlLbl val="1"/>
      </c:catAx>
      <c:valAx>
        <c:axId val="2094734552"/>
        <c:scaling>
          <c:orientation val="minMax"/>
          <c:max val="1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352F"/>
                </a:solidFill>
                <a:latin typeface="+mn-lt"/>
              </a:defRPr>
            </a:pPr>
            <a:r>
              <a:rPr sz="1300" b="0" i="0" u="none" strike="noStrike">
                <a:solidFill>
                  <a:srgbClr val="16352F"/>
                </a:solidFill>
                <a:latin typeface="+mn-lt"/>
              </a:rPr>
              <a:t>Offering level, 1 (low) to 5 (high), team judgement</a:t>
            </a:r>
          </a:p>
        </c:rich>
      </c:tx>
      <c:layout/>
      <c:overlay val="0"/>
    </c:title>
    <c:autoTitleDeleted val="0"/>
    <c:plotArea>
      <c:layout/>
      <c:lineChart>
        <c:varyColors val="0"/>
        <c:ser>
          <c:idx val="0"/>
          <c:order val="0"/>
          <c:tx>
            <c:strRef>
              <c:f>Sheet1!$B$1</c:f>
              <c:strCache>
                <c:ptCount val="1"/>
                <c:pt idx="0">
                  <c:v>SkillBridge v2</c:v>
                </c:pt>
              </c:strCache>
            </c:strRef>
          </c:tx>
          <c:spPr>
            <a:solidFill>
              <a:srgbClr val="2E8B67"/>
            </a:solidFill>
            <a:ln w="25400" cap="flat">
              <a:solidFill>
                <a:srgbClr val="2E8B6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8B67"/>
              </a:solidFill>
              <a:ln w="9525" cap="flat">
                <a:solidFill>
                  <a:srgbClr val="2E8B67"/>
                </a:solidFill>
                <a:prstDash val="solid"/>
                <a:round/>
              </a:ln>
              <a:effectLst/>
            </c:spPr>
          </c:marker>
          <c:cat>
            <c:multiLvlStrRef>
              <c:f>Sheet1!$A$2:$A$9</c:f>
              <c:multiLvlStrCache>
                <c:ptCount val="8"/>
                <c:lvl>
                  <c:pt idx="0">
                    <c:v>Price to student</c:v>
                  </c:pt>
                  <c:pt idx="1">
                    <c:v>Prizes &amp; events</c:v>
                  </c:pt>
                  <c:pt idx="2">
                    <c:v>Time required</c:v>
                  </c:pt>
                  <c:pt idx="3">
                    <c:v>Realness of brief</c:v>
                  </c:pt>
                  <c:pt idx="4">
                    <c:v>Feedback depth</c:v>
                  </c:pt>
                  <c:pt idx="5">
                    <c:v>Contribution proof</c:v>
                  </c:pt>
                  <c:pt idx="6">
                    <c:v>Integrity checks</c:v>
                  </c:pt>
                  <c:pt idx="7">
                    <c:v>Employer calibration</c:v>
                  </c:pt>
                </c:lvl>
              </c:multiLvlStrCache>
            </c:multiLvlStrRef>
          </c:cat>
          <c:val>
            <c:numRef>
              <c:f>Sheet1!$B$2:$B$9</c:f>
              <c:numCache>
                <c:formatCode>General</c:formatCode>
                <c:ptCount val="8"/>
                <c:pt idx="0">
                  <c:v>2</c:v>
                </c:pt>
                <c:pt idx="1">
                  <c:v>1</c:v>
                </c:pt>
                <c:pt idx="2">
                  <c:v>2</c:v>
                </c:pt>
                <c:pt idx="3">
                  <c:v>4</c:v>
                </c:pt>
                <c:pt idx="4">
                  <c:v>4</c:v>
                </c:pt>
                <c:pt idx="5">
                  <c:v>5</c:v>
                </c:pt>
                <c:pt idx="6">
                  <c:v>4</c:v>
                </c:pt>
                <c:pt idx="7">
                  <c:v>4</c:v>
                </c:pt>
              </c:numCache>
            </c:numRef>
          </c:val>
          <c:smooth val="0"/>
        </c:ser>
        <c:ser>
          <c:idx val="1"/>
          <c:order val="1"/>
          <c:tx>
            <c:strRef>
              <c:f>Sheet1!$C$1</c:f>
              <c:strCache>
                <c:ptCount val="1"/>
                <c:pt idx="0">
                  <c:v>Forage</c:v>
                </c:pt>
              </c:strCache>
            </c:strRef>
          </c:tx>
          <c:spPr>
            <a:solidFill>
              <a:srgbClr val="E39B32"/>
            </a:solidFill>
            <a:ln w="25400" cap="flat">
              <a:solidFill>
                <a:srgbClr val="E39B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39B32"/>
              </a:solidFill>
              <a:ln w="9525" cap="flat">
                <a:solidFill>
                  <a:srgbClr val="E39B32"/>
                </a:solidFill>
                <a:prstDash val="solid"/>
                <a:round/>
              </a:ln>
              <a:effectLst/>
            </c:spPr>
          </c:marker>
          <c:cat>
            <c:multiLvlStrRef>
              <c:f>Sheet1!$A$2:$A$9</c:f>
              <c:multiLvlStrCache>
                <c:ptCount val="8"/>
                <c:lvl>
                  <c:pt idx="0">
                    <c:v>Price to student</c:v>
                  </c:pt>
                  <c:pt idx="1">
                    <c:v>Prizes &amp; events</c:v>
                  </c:pt>
                  <c:pt idx="2">
                    <c:v>Time required</c:v>
                  </c:pt>
                  <c:pt idx="3">
                    <c:v>Realness of brief</c:v>
                  </c:pt>
                  <c:pt idx="4">
                    <c:v>Feedback depth</c:v>
                  </c:pt>
                  <c:pt idx="5">
                    <c:v>Contribution proof</c:v>
                  </c:pt>
                  <c:pt idx="6">
                    <c:v>Integrity checks</c:v>
                  </c:pt>
                  <c:pt idx="7">
                    <c:v>Employer calibration</c:v>
                  </c:pt>
                </c:lvl>
              </c:multiLvlStrCache>
            </c:multiLvlStrRef>
          </c:cat>
          <c:val>
            <c:numRef>
              <c:f>Sheet1!$C$2:$C$9</c:f>
              <c:numCache>
                <c:formatCode>General</c:formatCode>
                <c:ptCount val="8"/>
                <c:pt idx="0">
                  <c:v>1</c:v>
                </c:pt>
                <c:pt idx="1">
                  <c:v>1</c:v>
                </c:pt>
                <c:pt idx="2">
                  <c:v>2</c:v>
                </c:pt>
                <c:pt idx="3">
                  <c:v>3</c:v>
                </c:pt>
                <c:pt idx="4">
                  <c:v>1</c:v>
                </c:pt>
                <c:pt idx="5">
                  <c:v>2</c:v>
                </c:pt>
                <c:pt idx="6">
                  <c:v>1</c:v>
                </c:pt>
                <c:pt idx="7">
                  <c:v>3</c:v>
                </c:pt>
              </c:numCache>
            </c:numRef>
          </c:val>
          <c:smooth val="0"/>
        </c:ser>
        <c:ser>
          <c:idx val="2"/>
          <c:order val="2"/>
          <c:tx>
            <c:strRef>
              <c:f>Sheet1!$D$1</c:f>
              <c:strCache>
                <c:ptCount val="1"/>
                <c:pt idx="0">
                  <c:v>HackerRank cert.</c:v>
                </c:pt>
              </c:strCache>
            </c:strRef>
          </c:tx>
          <c:spPr>
            <a:solidFill>
              <a:srgbClr val="2F5D8A"/>
            </a:solidFill>
            <a:ln w="25400" cap="flat">
              <a:solidFill>
                <a:srgbClr val="2F5D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F5D8A"/>
              </a:solidFill>
              <a:ln w="9525" cap="flat">
                <a:solidFill>
                  <a:srgbClr val="2F5D8A"/>
                </a:solidFill>
                <a:prstDash val="solid"/>
                <a:round/>
              </a:ln>
              <a:effectLst/>
            </c:spPr>
          </c:marker>
          <c:cat>
            <c:multiLvlStrRef>
              <c:f>Sheet1!$A$2:$A$9</c:f>
              <c:multiLvlStrCache>
                <c:ptCount val="8"/>
                <c:lvl>
                  <c:pt idx="0">
                    <c:v>Price to student</c:v>
                  </c:pt>
                  <c:pt idx="1">
                    <c:v>Prizes &amp; events</c:v>
                  </c:pt>
                  <c:pt idx="2">
                    <c:v>Time required</c:v>
                  </c:pt>
                  <c:pt idx="3">
                    <c:v>Realness of brief</c:v>
                  </c:pt>
                  <c:pt idx="4">
                    <c:v>Feedback depth</c:v>
                  </c:pt>
                  <c:pt idx="5">
                    <c:v>Contribution proof</c:v>
                  </c:pt>
                  <c:pt idx="6">
                    <c:v>Integrity checks</c:v>
                  </c:pt>
                  <c:pt idx="7">
                    <c:v>Employer calibration</c:v>
                  </c:pt>
                </c:lvl>
              </c:multiLvlStrCache>
            </c:multiLvlStrRef>
          </c:cat>
          <c:val>
            <c:numRef>
              <c:f>Sheet1!$D$2:$D$9</c:f>
              <c:numCache>
                <c:formatCode>General</c:formatCode>
                <c:ptCount val="8"/>
                <c:pt idx="0">
                  <c:v>1</c:v>
                </c:pt>
                <c:pt idx="1">
                  <c:v>1</c:v>
                </c:pt>
                <c:pt idx="2">
                  <c:v>1</c:v>
                </c:pt>
                <c:pt idx="3">
                  <c:v>1</c:v>
                </c:pt>
                <c:pt idx="4">
                  <c:v>2</c:v>
                </c:pt>
                <c:pt idx="5">
                  <c:v>3</c:v>
                </c:pt>
                <c:pt idx="6">
                  <c:v>3</c:v>
                </c:pt>
                <c:pt idx="7">
                  <c:v>3</c:v>
                </c:pt>
              </c:numCache>
            </c:numRef>
          </c:val>
          <c:smooth val="0"/>
        </c:ser>
        <c:ser>
          <c:idx val="3"/>
          <c:order val="3"/>
          <c:tx>
            <c:strRef>
              <c:f>Sheet1!$E$1</c:f>
              <c:strCache>
                <c:ptCount val="1"/>
                <c:pt idx="0">
                  <c:v>Devpost hackathon</c:v>
                </c:pt>
              </c:strCache>
            </c:strRef>
          </c:tx>
          <c:spPr>
            <a:solidFill>
              <a:srgbClr val="B9503A"/>
            </a:solidFill>
            <a:ln w="25400" cap="flat">
              <a:solidFill>
                <a:srgbClr val="B950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9503A"/>
              </a:solidFill>
              <a:ln w="9525" cap="flat">
                <a:solidFill>
                  <a:srgbClr val="B9503A"/>
                </a:solidFill>
                <a:prstDash val="solid"/>
                <a:round/>
              </a:ln>
              <a:effectLst/>
            </c:spPr>
          </c:marker>
          <c:cat>
            <c:multiLvlStrRef>
              <c:f>Sheet1!$A$2:$A$9</c:f>
              <c:multiLvlStrCache>
                <c:ptCount val="8"/>
                <c:lvl>
                  <c:pt idx="0">
                    <c:v>Price to student</c:v>
                  </c:pt>
                  <c:pt idx="1">
                    <c:v>Prizes &amp; events</c:v>
                  </c:pt>
                  <c:pt idx="2">
                    <c:v>Time required</c:v>
                  </c:pt>
                  <c:pt idx="3">
                    <c:v>Realness of brief</c:v>
                  </c:pt>
                  <c:pt idx="4">
                    <c:v>Feedback depth</c:v>
                  </c:pt>
                  <c:pt idx="5">
                    <c:v>Contribution proof</c:v>
                  </c:pt>
                  <c:pt idx="6">
                    <c:v>Integrity checks</c:v>
                  </c:pt>
                  <c:pt idx="7">
                    <c:v>Employer calibration</c:v>
                  </c:pt>
                </c:lvl>
              </c:multiLvlStrCache>
            </c:multiLvlStrRef>
          </c:cat>
          <c:val>
            <c:numRef>
              <c:f>Sheet1!$E$2:$E$9</c:f>
              <c:numCache>
                <c:formatCode>General</c:formatCode>
                <c:ptCount val="8"/>
                <c:pt idx="0">
                  <c:v>1</c:v>
                </c:pt>
                <c:pt idx="1">
                  <c:v>5</c:v>
                </c:pt>
                <c:pt idx="2">
                  <c:v>4</c:v>
                </c:pt>
                <c:pt idx="3">
                  <c:v>3</c:v>
                </c:pt>
                <c:pt idx="4">
                  <c:v>2</c:v>
                </c:pt>
                <c:pt idx="5">
                  <c:v>1</c:v>
                </c:pt>
                <c:pt idx="6">
                  <c:v>2</c:v>
                </c:pt>
                <c:pt idx="7">
                  <c:v>2</c:v>
                </c:pt>
              </c:numCache>
            </c:numRef>
          </c:val>
          <c:smooth val="0"/>
        </c:ser>
        <c:ser>
          <c:idx val="4"/>
          <c:order val="4"/>
          <c:tx>
            <c:strRef>
              <c:f>Sheet1!$F$1</c:f>
              <c:strCache>
                <c:ptCount val="1"/>
                <c:pt idx="0">
                  <c:v>Coursework</c:v>
                </c:pt>
              </c:strCache>
            </c:strRef>
          </c:tx>
          <c:spPr>
            <a:solidFill>
              <a:srgbClr val="5E6B66"/>
            </a:solidFill>
            <a:ln w="25400" cap="flat">
              <a:solidFill>
                <a:srgbClr val="5E6B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E6B66"/>
              </a:solidFill>
              <a:ln w="9525" cap="flat">
                <a:solidFill>
                  <a:srgbClr val="5E6B66"/>
                </a:solidFill>
                <a:prstDash val="solid"/>
                <a:round/>
              </a:ln>
              <a:effectLst/>
            </c:spPr>
          </c:marker>
          <c:cat>
            <c:multiLvlStrRef>
              <c:f>Sheet1!$A$2:$A$9</c:f>
              <c:multiLvlStrCache>
                <c:ptCount val="8"/>
                <c:lvl>
                  <c:pt idx="0">
                    <c:v>Price to student</c:v>
                  </c:pt>
                  <c:pt idx="1">
                    <c:v>Prizes &amp; events</c:v>
                  </c:pt>
                  <c:pt idx="2">
                    <c:v>Time required</c:v>
                  </c:pt>
                  <c:pt idx="3">
                    <c:v>Realness of brief</c:v>
                  </c:pt>
                  <c:pt idx="4">
                    <c:v>Feedback depth</c:v>
                  </c:pt>
                  <c:pt idx="5">
                    <c:v>Contribution proof</c:v>
                  </c:pt>
                  <c:pt idx="6">
                    <c:v>Integrity checks</c:v>
                  </c:pt>
                  <c:pt idx="7">
                    <c:v>Employer calibration</c:v>
                  </c:pt>
                </c:lvl>
              </c:multiLvlStrCache>
            </c:multiLvlStrRef>
          </c:cat>
          <c:val>
            <c:numRef>
              <c:f>Sheet1!$F$2:$F$9</c:f>
              <c:numCache>
                <c:formatCode>General</c:formatCode>
                <c:ptCount val="8"/>
                <c:pt idx="0">
                  <c:v>1</c:v>
                </c:pt>
                <c:pt idx="1">
                  <c:v>1</c:v>
                </c:pt>
                <c:pt idx="2">
                  <c:v>5</c:v>
                </c:pt>
                <c:pt idx="3">
                  <c:v>2</c:v>
                </c:pt>
                <c:pt idx="4">
                  <c:v>3</c:v>
                </c:pt>
                <c:pt idx="5">
                  <c:v>2</c:v>
                </c:pt>
                <c:pt idx="6">
                  <c:v>2</c:v>
                </c:pt>
                <c:pt idx="7">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1D"/>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DDE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B1F1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outcome, not project history. SkillBridge: tech students solve short, real challenges set by companies; each result becomes a company-calibrated score with a verified record of what each student contributed.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talk to the course's 'What to bring to Group Project I' slide. Every item lives in the repo; the README has a table pointing to each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headline and the subhead. Then point at the right column: the problem and time-fit claims have real evidence; companies posting briefs, recruiters trusting the score and students paying are still hypotheses. That's what the pilot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the pivot was a team decision on existing evidence, not a validated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v1's riskiest assumption sat with the business: would a small business hand a real, paid project to an inexperienced student team? The planned test never reached a qualifying pitch, so we closed it honestly 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business pull was weak (Nolita had no current project and said even cheap work costs time to brief and review); students aren't motivated by payment; they have little time; and the real pain is explaining their own contribution. Survey is n = 17, unscreened.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to Be Done is solution-neutral, so it survived the pivot. What changed: who sets the work, how long it takes, what the student gets, and where the risk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and Job come straight from opportunity.md and jtbd.md. V2-S01's story is the Job in action: they froze when the recruiter asked which parts of the group project they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survey, n = 17, unscreened. The top two difficulties are explaining personal contribution and showing work beyond coursework. Payment is at the bottom. This is why v2 centres on a verified contribution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Answering the Challenge II personas feedback: the personas README now names the three critical personas and why. The Skeptical Verifier replaced the Once-Bitten Owner because after the pivot the riskiest assumption sits with the recruiter.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Four-category map from the course template. Strongest alternatives: Forage (free, short, employer-branded) and HackerRank (a standardised score employers already use). Nobody in the published materials we checked records individual contribution in a team. NUWE in Barcelona is closest and its model is not published, so we say 'not found', not 'nobody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team judgement from published offers, not measurements. SkillBridge drops prizes and stays low on time, then rises on contribution proof, integrity, feedback and employer calibration. Where we lose: price. Every alternative is free to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Fermi estimate: one known anchor, four assumptions. The so what matters more than the number: even at our 30% payment threshold, student fees alone in Madrid are under €9,000 a year. That can't fund engineers' time or a platform, so companies have to pay. This is why 'which side pays first' is our most decision-relevant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move has a cost effect and a buyer-value effect. Eliminate and Reduce cut cost for companies and time for students; Raise and Create add the value nobody else offers. The Reduce row was updated after the interviews: the engineer scores a sample including two lower-half entries and writes feedback on every certified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hypothesis, then the two falsifiers. Stress that this is a hypothesis, not a validated blue ocean. Thresholds were fixed before the test and won't be adjusted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in prototype v1. Point out what changed after the interviews: engineer feedback for every paying student; the engineer checks two lower-half entries; results are private by default; the certificate always shows the true score and you can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prototype-v1.html live if there's time; it works offline. Everything shown is invented for the walkthrough. It demonstrates the flow and is not evidence. The 12 Oct version is backed up in prototype/backups.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ranked students paying first; every company-side person we spoke to points at companies. We keep the ranking until the pilot decides, but we draft the company price now so the 'students fail, recruiters pass' branch can start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Challenge II defense feedback on dynamics and value per player. The company is the scarce side: credibility is borrowed from its name and rubric, so we secure a company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stakeholder map. 'Now' is during the 16–30 Oct pilot; 'Next' is Phase 2. Everything else waits for the pilot's decision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rubric line (13%): verifiable feedback from real people on the highest-risk hypothesis, and results that changed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rounds. Strength is labelled honestly: everything is stated, not observed. Samples are never added together because participants may overlap. Answering the Challenge I traceability feedback, recruitment.md now has a participant-fit table against the target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V2-S01 is a current IE CSAI student. They had done two Forage simulations ('it felt fake, nobody checked anything I did'), paid for LeetCode Premium before an interview, and would pay €15 under conditions. Their conditions became product decisions: engineer-written feedback, private by default, true score always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recruiters, same message: they picked or trusted the certified profile only when they could see the work, whose rubric it was and an engineer's note. None would act on a bare score. These are preliminary stated judgements and do not count toward Arm B's 3 of 5, which is measured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V2-E01 offered a real backlog task and five criteria in order. Note the limits: no written brief or rubric sign-off yet, and the PDF's closing request has no recorded answer. The written brief is due 20 Oct (owner: Lucas Avila).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Challenge II defense: the link between what we learned and what we changed. Full table with 11 rows is in validation/claims-changed.md. Each row: what we believed, what people said, what we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professor asked in Challenge I: are you after skills or payment? Skills (proof). And on who pays: every outside voice points at companies. We have not reversed the team's ranking yet, because these are stated preferences; the pilot decides. But the company price is drafted now so we can switch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Riskiest assumption: students will pay for a certified challenge score, because employers treat that score as credible. Arm A is high-strength evidence (real money, real submissions). Arm B is medium (stated intent from real recruiters).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Precommitted branches. This answers 'what could still make you narrow, pivot or stop?': students fail → companies pay; recruiters fail → narrow to practice and feedback; both fail → stop the credential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Avila coordinates and owns the written brief; arm owners are assigned at Session 14. If no engineer signs off a brief and rubric by 20 Oct, we run Arm B alone and record Arm A 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I: 7.3 / 8. Challenge II: 6.5 / 8. Real-user validation was 'Rework' in Challenge II; since then we have six rounds of evidence and a claims-changed table. Be honest that 'test not run yet' is the same weakness as in Challenge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Self-reflective, critical status check is part of the Explanation grade. Problem: real evidence. Payment and recruiter trust: stated and conditional. Unknown: everything that requires behaviour, which the pilot starts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answers: (1) Evidence changed the product: evidence bundle, feedback for every payer, private by default, engineer samples the lower half, recruiter persona. (2) Narrow/pivot/stop: the decision rule; and if no company signs a brief by 20 Oct, Arm A doesn't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35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8638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7863840" cy="109728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635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rtlCol="0"/>
          <a:lstStyle>
            <a:lvl1pPr indent="0" marL="0">
              <a:buNone/>
              <a:defRPr lang="en-US" sz="1600" b="1"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SkillBridge  ·  Group G2  ·  Group Project 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4.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4.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4.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4.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863840" cy="1280160"/>
          </a:xfrm>
          <a:prstGeom prst="rect">
            <a:avLst/>
          </a:prstGeom>
          <a:noFill/>
          <a:ln/>
        </p:spPr>
        <p:txBody>
          <a:bodyPr wrap="square" lIns="0" tIns="0" rIns="0" bIns="0" rtlCol="0" anchor="b"/>
          <a:lstStyle/>
          <a:p>
            <a:pPr algn="l" indent="0" marL="0">
              <a:buNone/>
            </a:pPr>
            <a:r>
              <a:rPr lang="en-US" sz="5400" b="1" dirty="0">
                <a:solidFill>
                  <a:schemeClr val="bg1"/>
                </a:solidFill>
              </a:rPr>
              <a:t>SkillBridge</a:t>
            </a:r>
            <a:endParaRPr lang="en-US" sz="5400" dirty="0"/>
          </a:p>
        </p:txBody>
      </p:sp>
      <p:sp>
        <p:nvSpPr>
          <p:cNvPr id="3" name="Text 0"/>
          <p:cNvSpPr/>
          <p:nvPr>
            <p:ph idx="101" type="body" hasCustomPrompt="1"/>
          </p:nvPr>
        </p:nvSpPr>
        <p:spPr>
          <a:xfrm>
            <a:off x="731520" y="3429000"/>
            <a:ext cx="7863840" cy="1097280"/>
          </a:xfrm>
          <a:prstGeom prst="rect">
            <a:avLst/>
          </a:prstGeom>
          <a:noFill/>
          <a:ln/>
        </p:spPr>
        <p:txBody>
          <a:bodyPr wrap="square" lIns="0" tIns="0" rIns="0" bIns="0" rtlCol="0" anchor="t"/>
          <a:lstStyle/>
          <a:p>
            <a:pPr indent="0" marL="0">
              <a:buNone/>
            </a:pPr>
            <a:r>
              <a:rPr lang="en-US" sz="2200" dirty="0">
                <a:solidFill>
                  <a:schemeClr val="accent5"/>
                </a:solidFill>
              </a:rPr>
              <a:t>Prove what you can do, and exactly what you did, in an afternoon</a:t>
            </a:r>
            <a:endParaRPr lang="en-US" sz="2200" dirty="0"/>
          </a:p>
        </p:txBody>
      </p:sp>
      <p:sp>
        <p:nvSpPr>
          <p:cNvPr id="4" name="text-1"/>
          <p:cNvSpPr txBox="1"/>
          <p:nvPr/>
        </p:nvSpPr>
        <p:spPr>
          <a:xfrm>
            <a:off x="731520" y="5852160"/>
            <a:ext cx="10058400" cy="365760"/>
          </a:xfrm>
          <a:prstGeom prst="rect">
            <a:avLst/>
          </a:prstGeom>
          <a:noFill/>
          <a:ln/>
        </p:spPr>
        <p:txBody>
          <a:bodyPr wrap="square" lIns="0" tIns="0" rIns="0" bIns="0" rtlCol="0" anchor="t"/>
          <a:lstStyle/>
          <a:p>
            <a:pPr indent="0" marL="0">
              <a:buNone/>
            </a:pPr>
            <a:r>
              <a:rPr lang="en-US" sz="1400" dirty="0">
                <a:solidFill>
                  <a:schemeClr val="accent5"/>
                </a:solidFill>
              </a:rPr>
              <a:t>Group Project I  ·  Group G2  ·  Rapid Prototyping with AI  ·  IE University  ·  13 October 2026</a:t>
            </a:r>
            <a:endParaRPr lang="en-US" sz="1400" dirty="0"/>
          </a:p>
        </p:txBody>
      </p:sp>
      <p:sp>
        <p:nvSpPr>
          <p:cNvPr id="5" name="badge-2"/>
          <p:cNvSpPr/>
          <p:nvPr/>
        </p:nvSpPr>
        <p:spPr>
          <a:xfrm>
            <a:off x="9326880" y="1920240"/>
            <a:ext cx="2103120" cy="2103120"/>
          </a:xfrm>
          <a:prstGeom prst="ellipse">
            <a:avLst/>
          </a:prstGeom>
          <a:solidFill>
            <a:schemeClr val="accent1"/>
          </a:solidFill>
          <a:ln w="12700">
            <a:solidFill>
              <a:schemeClr val="accent1"/>
            </a:solidFill>
            <a:prstDash val="solid"/>
          </a:ln>
        </p:spPr>
      </p:sp>
      <p:pic>
        <p:nvPicPr>
          <p:cNvPr id="6" name="icon-3" descr="preencoded.png">    </p:cNvPr>
          <p:cNvPicPr>
            <a:picLocks noChangeAspect="1"/>
          </p:cNvPicPr>
          <p:nvPr/>
        </p:nvPicPr>
        <p:blipFill>
          <a:blip r:embed="rId1"/>
          <a:stretch>
            <a:fillRect/>
          </a:stretch>
        </p:blipFill>
        <p:spPr>
          <a:xfrm>
            <a:off x="9831629" y="2424989"/>
            <a:ext cx="1093622" cy="10936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Today: the four things Group Project I asks for</a:t>
            </a:r>
            <a:endParaRPr lang="en-US" sz="3200" dirty="0"/>
          </a:p>
        </p:txBody>
      </p:sp>
      <p:sp>
        <p:nvSpPr>
          <p:cNvPr id="4" name="card-4"/>
          <p:cNvSpPr/>
          <p:nvPr/>
        </p:nvSpPr>
        <p:spPr>
          <a:xfrm>
            <a:off x="548640" y="1463040"/>
            <a:ext cx="2606040" cy="3017520"/>
          </a:xfrm>
          <a:prstGeom prst="roundRect">
            <a:avLst>
              <a:gd name="adj" fmla="val 2807"/>
            </a:avLst>
          </a:prstGeom>
          <a:solidFill>
            <a:schemeClr val="bg2"/>
          </a:solidFill>
          <a:ln w="12700">
            <a:solidFill>
              <a:schemeClr val="bg2"/>
            </a:solidFill>
            <a:prstDash val="solid"/>
          </a:ln>
        </p:spPr>
      </p:sp>
      <p:sp>
        <p:nvSpPr>
          <p:cNvPr id="5" name="badge-5"/>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6" name="icon-6"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7" name="text-7"/>
          <p:cNvSpPr txBox="1"/>
          <p:nvPr/>
        </p:nvSpPr>
        <p:spPr>
          <a:xfrm>
            <a:off x="1645920" y="1783080"/>
            <a:ext cx="1280160" cy="50292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8" name="text-8"/>
          <p:cNvSpPr txBox="1"/>
          <p:nvPr/>
        </p:nvSpPr>
        <p:spPr>
          <a:xfrm>
            <a:off x="822960" y="2560320"/>
            <a:ext cx="2103120" cy="822960"/>
          </a:xfrm>
          <a:prstGeom prst="rect">
            <a:avLst/>
          </a:prstGeom>
          <a:noFill/>
          <a:ln/>
        </p:spPr>
        <p:txBody>
          <a:bodyPr wrap="square" lIns="0" tIns="0" rIns="0" bIns="0" rtlCol="0" anchor="t"/>
          <a:lstStyle/>
          <a:p>
            <a:pPr indent="0" marL="0">
              <a:buNone/>
            </a:pPr>
            <a:r>
              <a:rPr lang="en-US" sz="1700" b="1" dirty="0">
                <a:solidFill>
                  <a:schemeClr val="tx2"/>
                </a:solidFill>
              </a:rPr>
              <a:t>Press release + Venture Skeleton v0.1</a:t>
            </a:r>
            <a:endParaRPr lang="en-US" sz="1700" dirty="0"/>
          </a:p>
        </p:txBody>
      </p:sp>
      <p:sp>
        <p:nvSpPr>
          <p:cNvPr id="9" name="text-9"/>
          <p:cNvSpPr txBox="1"/>
          <p:nvPr/>
        </p:nvSpPr>
        <p:spPr>
          <a:xfrm>
            <a:off x="822960" y="3383280"/>
            <a:ext cx="2103120" cy="1005840"/>
          </a:xfrm>
          <a:prstGeom prst="rect">
            <a:avLst/>
          </a:prstGeom>
          <a:noFill/>
          <a:ln/>
        </p:spPr>
        <p:txBody>
          <a:bodyPr wrap="square" lIns="0" tIns="0" rIns="0" bIns="0" rtlCol="0" anchor="t"/>
          <a:lstStyle/>
          <a:p>
            <a:pPr indent="0" marL="0">
              <a:buNone/>
            </a:pPr>
            <a:r>
              <a:rPr lang="en-US" sz="1400" dirty="0">
                <a:solidFill>
                  <a:schemeClr val="accent3"/>
                </a:solidFill>
              </a:rPr>
              <a:t>Customer outcome first, then the whole venture logic on one page</a:t>
            </a:r>
            <a:endParaRPr lang="en-US" sz="1400" dirty="0"/>
          </a:p>
        </p:txBody>
      </p:sp>
      <p:sp>
        <p:nvSpPr>
          <p:cNvPr id="10" name="card-10"/>
          <p:cNvSpPr/>
          <p:nvPr/>
        </p:nvSpPr>
        <p:spPr>
          <a:xfrm>
            <a:off x="3383280" y="1463040"/>
            <a:ext cx="2606040" cy="3017520"/>
          </a:xfrm>
          <a:prstGeom prst="roundRect">
            <a:avLst>
              <a:gd name="adj" fmla="val 2807"/>
            </a:avLst>
          </a:prstGeom>
          <a:solidFill>
            <a:schemeClr val="bg2"/>
          </a:solidFill>
          <a:ln w="12700">
            <a:solidFill>
              <a:schemeClr val="bg2"/>
            </a:solidFill>
            <a:prstDash val="solid"/>
          </a:ln>
        </p:spPr>
      </p:sp>
      <p:sp>
        <p:nvSpPr>
          <p:cNvPr id="11" name="badge-11"/>
          <p:cNvSpPr/>
          <p:nvPr/>
        </p:nvSpPr>
        <p:spPr>
          <a:xfrm>
            <a:off x="3657600" y="1691640"/>
            <a:ext cx="685800" cy="685800"/>
          </a:xfrm>
          <a:prstGeom prst="ellipse">
            <a:avLst/>
          </a:prstGeom>
          <a:solidFill>
            <a:schemeClr val="accent1"/>
          </a:solidFill>
          <a:ln w="12700">
            <a:solidFill>
              <a:schemeClr val="accent1"/>
            </a:solidFill>
            <a:prstDash val="solid"/>
          </a:ln>
        </p:spPr>
      </p:sp>
      <p:pic>
        <p:nvPicPr>
          <p:cNvPr id="12" name="icon-12" descr="preencoded.png">    </p:cNvPr>
          <p:cNvPicPr>
            <a:picLocks noChangeAspect="1"/>
          </p:cNvPicPr>
          <p:nvPr/>
        </p:nvPicPr>
        <p:blipFill>
          <a:blip r:embed="rId2"/>
          <a:stretch>
            <a:fillRect/>
          </a:stretch>
        </p:blipFill>
        <p:spPr>
          <a:xfrm>
            <a:off x="3822192" y="1856232"/>
            <a:ext cx="356616" cy="356616"/>
          </a:xfrm>
          <a:prstGeom prst="rect">
            <a:avLst/>
          </a:prstGeom>
        </p:spPr>
      </p:pic>
      <p:sp>
        <p:nvSpPr>
          <p:cNvPr id="13" name="text-13"/>
          <p:cNvSpPr txBox="1"/>
          <p:nvPr/>
        </p:nvSpPr>
        <p:spPr>
          <a:xfrm>
            <a:off x="4480560" y="1783080"/>
            <a:ext cx="1280160" cy="502920"/>
          </a:xfrm>
          <a:prstGeom prst="rect">
            <a:avLst/>
          </a:prstGeom>
          <a:noFill/>
          <a:ln/>
        </p:spPr>
        <p:txBody>
          <a:bodyPr wrap="square" lIns="0" tIns="0" rIns="0" bIns="0" rtlCol="0" anchor="t"/>
          <a:lstStyle/>
          <a:p>
            <a:pPr indent="0" marL="0">
              <a:buNone/>
            </a:pPr>
            <a:r>
              <a:rPr lang="en-US" sz="2600" b="1" dirty="0">
                <a:solidFill>
                  <a:schemeClr val="accent1"/>
                </a:solidFill>
              </a:rPr>
              <a:t>02</a:t>
            </a:r>
            <a:endParaRPr lang="en-US" sz="2600" dirty="0"/>
          </a:p>
        </p:txBody>
      </p:sp>
      <p:sp>
        <p:nvSpPr>
          <p:cNvPr id="14" name="text-14"/>
          <p:cNvSpPr txBox="1"/>
          <p:nvPr/>
        </p:nvSpPr>
        <p:spPr>
          <a:xfrm>
            <a:off x="3657600" y="2560320"/>
            <a:ext cx="2103120" cy="822960"/>
          </a:xfrm>
          <a:prstGeom prst="rect">
            <a:avLst/>
          </a:prstGeom>
          <a:noFill/>
          <a:ln/>
        </p:spPr>
        <p:txBody>
          <a:bodyPr wrap="square" lIns="0" tIns="0" rIns="0" bIns="0" rtlCol="0" anchor="t"/>
          <a:lstStyle/>
          <a:p>
            <a:pPr indent="0" marL="0">
              <a:buNone/>
            </a:pPr>
            <a:r>
              <a:rPr lang="en-US" sz="1700" b="1" dirty="0">
                <a:solidFill>
                  <a:schemeClr val="tx2"/>
                </a:solidFill>
              </a:rPr>
              <a:t>Market evidence + value curve</a:t>
            </a:r>
            <a:endParaRPr lang="en-US" sz="1700" dirty="0"/>
          </a:p>
        </p:txBody>
      </p:sp>
      <p:sp>
        <p:nvSpPr>
          <p:cNvPr id="15" name="text-15"/>
          <p:cNvSpPr txBox="1"/>
          <p:nvPr/>
        </p:nvSpPr>
        <p:spPr>
          <a:xfrm>
            <a:off x="3657600" y="3383280"/>
            <a:ext cx="2103120" cy="1005840"/>
          </a:xfrm>
          <a:prstGeom prst="rect">
            <a:avLst/>
          </a:prstGeom>
          <a:noFill/>
          <a:ln/>
        </p:spPr>
        <p:txBody>
          <a:bodyPr wrap="square" lIns="0" tIns="0" rIns="0" bIns="0" rtlCol="0" anchor="t"/>
          <a:lstStyle/>
          <a:p>
            <a:pPr indent="0" marL="0">
              <a:buNone/>
            </a:pPr>
            <a:r>
              <a:rPr lang="en-US" sz="1400" dirty="0">
                <a:solidFill>
                  <a:schemeClr val="accent3"/>
                </a:solidFill>
              </a:rPr>
              <a:t>Four-category alternatives, Fermi estimate, a clear so what</a:t>
            </a:r>
            <a:endParaRPr lang="en-US" sz="1400" dirty="0"/>
          </a:p>
        </p:txBody>
      </p:sp>
      <p:sp>
        <p:nvSpPr>
          <p:cNvPr id="16" name="card-16"/>
          <p:cNvSpPr/>
          <p:nvPr/>
        </p:nvSpPr>
        <p:spPr>
          <a:xfrm>
            <a:off x="6217920" y="1463040"/>
            <a:ext cx="2606040" cy="3017520"/>
          </a:xfrm>
          <a:prstGeom prst="roundRect">
            <a:avLst>
              <a:gd name="adj" fmla="val 2807"/>
            </a:avLst>
          </a:prstGeom>
          <a:solidFill>
            <a:schemeClr val="bg2"/>
          </a:solidFill>
          <a:ln w="12700">
            <a:solidFill>
              <a:schemeClr val="bg2"/>
            </a:solidFill>
            <a:prstDash val="solid"/>
          </a:ln>
        </p:spPr>
      </p:sp>
      <p:sp>
        <p:nvSpPr>
          <p:cNvPr id="17" name="badge-17"/>
          <p:cNvSpPr/>
          <p:nvPr/>
        </p:nvSpPr>
        <p:spPr>
          <a:xfrm>
            <a:off x="6492240" y="1691640"/>
            <a:ext cx="685800" cy="685800"/>
          </a:xfrm>
          <a:prstGeom prst="ellipse">
            <a:avLst/>
          </a:prstGeom>
          <a:solidFill>
            <a:schemeClr val="accent1"/>
          </a:solidFill>
          <a:ln w="12700">
            <a:solidFill>
              <a:schemeClr val="accent1"/>
            </a:solidFill>
            <a:prstDash val="solid"/>
          </a:ln>
        </p:spPr>
      </p:sp>
      <p:pic>
        <p:nvPicPr>
          <p:cNvPr id="18" name="icon-18" descr="preencoded.png">    </p:cNvPr>
          <p:cNvPicPr>
            <a:picLocks noChangeAspect="1"/>
          </p:cNvPicPr>
          <p:nvPr/>
        </p:nvPicPr>
        <p:blipFill>
          <a:blip r:embed="rId3"/>
          <a:stretch>
            <a:fillRect/>
          </a:stretch>
        </p:blipFill>
        <p:spPr>
          <a:xfrm>
            <a:off x="6656832" y="1856232"/>
            <a:ext cx="356616" cy="356616"/>
          </a:xfrm>
          <a:prstGeom prst="rect">
            <a:avLst/>
          </a:prstGeom>
        </p:spPr>
      </p:pic>
      <p:sp>
        <p:nvSpPr>
          <p:cNvPr id="19" name="text-19"/>
          <p:cNvSpPr txBox="1"/>
          <p:nvPr/>
        </p:nvSpPr>
        <p:spPr>
          <a:xfrm>
            <a:off x="7315200" y="1783080"/>
            <a:ext cx="1280160" cy="502920"/>
          </a:xfrm>
          <a:prstGeom prst="rect">
            <a:avLst/>
          </a:prstGeom>
          <a:noFill/>
          <a:ln/>
        </p:spPr>
        <p:txBody>
          <a:bodyPr wrap="square" lIns="0" tIns="0" rIns="0" bIns="0" rtlCol="0" anchor="t"/>
          <a:lstStyle/>
          <a:p>
            <a:pPr indent="0" marL="0">
              <a:buNone/>
            </a:pPr>
            <a:r>
              <a:rPr lang="en-US" sz="2600" b="1" dirty="0">
                <a:solidFill>
                  <a:schemeClr val="accent1"/>
                </a:solidFill>
              </a:rPr>
              <a:t>03</a:t>
            </a:r>
            <a:endParaRPr lang="en-US" sz="2600" dirty="0"/>
          </a:p>
        </p:txBody>
      </p:sp>
      <p:sp>
        <p:nvSpPr>
          <p:cNvPr id="20" name="text-20"/>
          <p:cNvSpPr txBox="1"/>
          <p:nvPr/>
        </p:nvSpPr>
        <p:spPr>
          <a:xfrm>
            <a:off x="6492240" y="2560320"/>
            <a:ext cx="2103120" cy="822960"/>
          </a:xfrm>
          <a:prstGeom prst="rect">
            <a:avLst/>
          </a:prstGeom>
          <a:noFill/>
          <a:ln/>
        </p:spPr>
        <p:txBody>
          <a:bodyPr wrap="square" lIns="0" tIns="0" rIns="0" bIns="0" rtlCol="0" anchor="t"/>
          <a:lstStyle/>
          <a:p>
            <a:pPr indent="0" marL="0">
              <a:buNone/>
            </a:pPr>
            <a:r>
              <a:rPr lang="en-US" sz="1700" b="1" dirty="0">
                <a:solidFill>
                  <a:schemeClr val="tx2"/>
                </a:solidFill>
              </a:rPr>
              <a:t>ERRC + value innovation hypothesis</a:t>
            </a:r>
            <a:endParaRPr lang="en-US" sz="1700" dirty="0"/>
          </a:p>
        </p:txBody>
      </p:sp>
      <p:sp>
        <p:nvSpPr>
          <p:cNvPr id="21" name="text-21"/>
          <p:cNvSpPr txBox="1"/>
          <p:nvPr/>
        </p:nvSpPr>
        <p:spPr>
          <a:xfrm>
            <a:off x="6492240" y="3383280"/>
            <a:ext cx="2103120" cy="1005840"/>
          </a:xfrm>
          <a:prstGeom prst="rect">
            <a:avLst/>
          </a:prstGeom>
          <a:noFill/>
          <a:ln/>
        </p:spPr>
        <p:txBody>
          <a:bodyPr wrap="square" lIns="0" tIns="0" rIns="0" bIns="0" rtlCol="0" anchor="t"/>
          <a:lstStyle/>
          <a:p>
            <a:pPr indent="0" marL="0">
              <a:buNone/>
            </a:pPr>
            <a:r>
              <a:rPr lang="en-US" sz="1400" dirty="0">
                <a:solidFill>
                  <a:schemeClr val="accent3"/>
                </a:solidFill>
              </a:rPr>
              <a:t>Four moves that change cost and buyer value; how it can fail</a:t>
            </a:r>
            <a:endParaRPr lang="en-US" sz="1400" dirty="0"/>
          </a:p>
        </p:txBody>
      </p:sp>
      <p:sp>
        <p:nvSpPr>
          <p:cNvPr id="22" name="card-22"/>
          <p:cNvSpPr/>
          <p:nvPr/>
        </p:nvSpPr>
        <p:spPr>
          <a:xfrm>
            <a:off x="9052560" y="1463040"/>
            <a:ext cx="2606040" cy="3017520"/>
          </a:xfrm>
          <a:prstGeom prst="roundRect">
            <a:avLst>
              <a:gd name="adj" fmla="val 2807"/>
            </a:avLst>
          </a:prstGeom>
          <a:solidFill>
            <a:schemeClr val="bg2"/>
          </a:solidFill>
          <a:ln w="12700">
            <a:solidFill>
              <a:schemeClr val="bg2"/>
            </a:solidFill>
            <a:prstDash val="solid"/>
          </a:ln>
        </p:spPr>
      </p:sp>
      <p:sp>
        <p:nvSpPr>
          <p:cNvPr id="23" name="badge-23"/>
          <p:cNvSpPr/>
          <p:nvPr/>
        </p:nvSpPr>
        <p:spPr>
          <a:xfrm>
            <a:off x="9326880" y="1691640"/>
            <a:ext cx="685800" cy="685800"/>
          </a:xfrm>
          <a:prstGeom prst="ellipse">
            <a:avLst/>
          </a:prstGeom>
          <a:solidFill>
            <a:schemeClr val="accent1"/>
          </a:solidFill>
          <a:ln w="12700">
            <a:solidFill>
              <a:schemeClr val="accent1"/>
            </a:solidFill>
            <a:prstDash val="solid"/>
          </a:ln>
        </p:spPr>
      </p:sp>
      <p:pic>
        <p:nvPicPr>
          <p:cNvPr id="24" name="icon-24" descr="preencoded.png">    </p:cNvPr>
          <p:cNvPicPr>
            <a:picLocks noChangeAspect="1"/>
          </p:cNvPicPr>
          <p:nvPr/>
        </p:nvPicPr>
        <p:blipFill>
          <a:blip r:embed="rId4"/>
          <a:stretch>
            <a:fillRect/>
          </a:stretch>
        </p:blipFill>
        <p:spPr>
          <a:xfrm>
            <a:off x="9491472" y="1856232"/>
            <a:ext cx="356616" cy="356616"/>
          </a:xfrm>
          <a:prstGeom prst="rect">
            <a:avLst/>
          </a:prstGeom>
        </p:spPr>
      </p:pic>
      <p:sp>
        <p:nvSpPr>
          <p:cNvPr id="25" name="text-25"/>
          <p:cNvSpPr txBox="1"/>
          <p:nvPr/>
        </p:nvSpPr>
        <p:spPr>
          <a:xfrm>
            <a:off x="10149840" y="1783080"/>
            <a:ext cx="1280160" cy="502920"/>
          </a:xfrm>
          <a:prstGeom prst="rect">
            <a:avLst/>
          </a:prstGeom>
          <a:noFill/>
          <a:ln/>
        </p:spPr>
        <p:txBody>
          <a:bodyPr wrap="square" lIns="0" tIns="0" rIns="0" bIns="0" rtlCol="0" anchor="t"/>
          <a:lstStyle/>
          <a:p>
            <a:pPr indent="0" marL="0">
              <a:buNone/>
            </a:pPr>
            <a:r>
              <a:rPr lang="en-US" sz="2600" b="1" dirty="0">
                <a:solidFill>
                  <a:schemeClr val="accent1"/>
                </a:solidFill>
              </a:rPr>
              <a:t>04</a:t>
            </a:r>
            <a:endParaRPr lang="en-US" sz="2600" dirty="0"/>
          </a:p>
        </p:txBody>
      </p:sp>
      <p:sp>
        <p:nvSpPr>
          <p:cNvPr id="26" name="text-26"/>
          <p:cNvSpPr txBox="1"/>
          <p:nvPr/>
        </p:nvSpPr>
        <p:spPr>
          <a:xfrm>
            <a:off x="9326880" y="2560320"/>
            <a:ext cx="2103120" cy="822960"/>
          </a:xfrm>
          <a:prstGeom prst="rect">
            <a:avLst/>
          </a:prstGeom>
          <a:noFill/>
          <a:ln/>
        </p:spPr>
        <p:txBody>
          <a:bodyPr wrap="square" lIns="0" tIns="0" rIns="0" bIns="0" rtlCol="0" anchor="t"/>
          <a:lstStyle/>
          <a:p>
            <a:pPr indent="0" marL="0">
              <a:buNone/>
            </a:pPr>
            <a:r>
              <a:rPr lang="en-US" sz="1700" b="1" dirty="0">
                <a:solidFill>
                  <a:schemeClr val="tx2"/>
                </a:solidFill>
              </a:rPr>
              <a:t>Real-user feedback on the riskiest hypothesis</a:t>
            </a:r>
            <a:endParaRPr lang="en-US" sz="1700" dirty="0"/>
          </a:p>
        </p:txBody>
      </p:sp>
      <p:sp>
        <p:nvSpPr>
          <p:cNvPr id="27" name="text-27"/>
          <p:cNvSpPr txBox="1"/>
          <p:nvPr/>
        </p:nvSpPr>
        <p:spPr>
          <a:xfrm>
            <a:off x="9326880" y="3383280"/>
            <a:ext cx="2103120" cy="1005840"/>
          </a:xfrm>
          <a:prstGeom prst="rect">
            <a:avLst/>
          </a:prstGeom>
          <a:noFill/>
          <a:ln/>
        </p:spPr>
        <p:txBody>
          <a:bodyPr wrap="square" lIns="0" tIns="0" rIns="0" bIns="0" rtlCol="0" anchor="t"/>
          <a:lstStyle/>
          <a:p>
            <a:pPr indent="0" marL="0">
              <a:buNone/>
            </a:pPr>
            <a:r>
              <a:rPr lang="en-US" sz="1400" dirty="0">
                <a:solidFill>
                  <a:schemeClr val="accent3"/>
                </a:solidFill>
              </a:rPr>
              <a:t>Students, recruiters and an engineer; what changed because of them</a:t>
            </a:r>
            <a:endParaRPr lang="en-US" sz="1400" dirty="0"/>
          </a:p>
        </p:txBody>
      </p:sp>
      <p:sp>
        <p:nvSpPr>
          <p:cNvPr id="28" name="card-28"/>
          <p:cNvSpPr/>
          <p:nvPr/>
        </p:nvSpPr>
        <p:spPr>
          <a:xfrm>
            <a:off x="548640" y="4754880"/>
            <a:ext cx="11064240" cy="1051560"/>
          </a:xfrm>
          <a:prstGeom prst="roundRect">
            <a:avLst>
              <a:gd name="adj" fmla="val 6957"/>
            </a:avLst>
          </a:prstGeom>
          <a:solidFill>
            <a:schemeClr val="tx2"/>
          </a:solidFill>
          <a:ln w="12700">
            <a:solidFill>
              <a:schemeClr val="tx2"/>
            </a:solidFill>
            <a:prstDash val="solid"/>
          </a:ln>
        </p:spPr>
      </p:sp>
      <p:sp>
        <p:nvSpPr>
          <p:cNvPr id="29" name="text-29"/>
          <p:cNvSpPr txBox="1"/>
          <p:nvPr/>
        </p:nvSpPr>
        <p:spPr>
          <a:xfrm>
            <a:off x="822960" y="4754880"/>
            <a:ext cx="10515600" cy="1051560"/>
          </a:xfrm>
          <a:prstGeom prst="rect">
            <a:avLst/>
          </a:prstGeom>
          <a:noFill/>
          <a:ln/>
        </p:spPr>
        <p:txBody>
          <a:bodyPr wrap="square" lIns="0" tIns="0" rIns="0" bIns="0" rtlCol="0" anchor="ctr"/>
          <a:lstStyle/>
          <a:p>
            <a:pPr indent="0" marL="0">
              <a:buNone/>
            </a:pPr>
            <a:r>
              <a:rPr lang="en-US" sz="1700" b="1" dirty="0">
                <a:solidFill>
                  <a:schemeClr val="accent2"/>
                </a:solidFill>
              </a:rPr>
              <a:t>And the two questions we must answer:  </a:t>
            </a:r>
            <a:pPr indent="0" marL="0">
              <a:buNone/>
            </a:pPr>
            <a:r>
              <a:rPr lang="en-US" sz="1700" dirty="0">
                <a:solidFill>
                  <a:schemeClr val="bg1"/>
                </a:solidFill>
              </a:rPr>
              <a:t>What did real evidence change?  ·  What could still make us narrow, pivot or stop?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01  ·  WORKING BACKWARDS</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Start from the customer outcome</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The press release we want to be true in September 2027, and the evidence status of every claim in it</a:t>
            </a:r>
            <a:endParaRPr lang="en-US" sz="1800" dirty="0"/>
          </a:p>
        </p:txBody>
      </p:sp>
      <p:sp>
        <p:nvSpPr>
          <p:cNvPr id="5" name="badge-30"/>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31"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Press release: proof of what each student did</a:t>
            </a:r>
            <a:endParaRPr lang="en-US" sz="3200" dirty="0"/>
          </a:p>
        </p:txBody>
      </p:sp>
      <p:sp>
        <p:nvSpPr>
          <p:cNvPr id="4" name="card-32"/>
          <p:cNvSpPr/>
          <p:nvPr/>
        </p:nvSpPr>
        <p:spPr>
          <a:xfrm>
            <a:off x="548640" y="1417320"/>
            <a:ext cx="6675120" cy="4434840"/>
          </a:xfrm>
          <a:prstGeom prst="roundRect">
            <a:avLst>
              <a:gd name="adj" fmla="val 1649"/>
            </a:avLst>
          </a:prstGeom>
          <a:solidFill>
            <a:schemeClr val="bg2"/>
          </a:solidFill>
          <a:ln w="12700">
            <a:solidFill>
              <a:schemeClr val="bg2"/>
            </a:solidFill>
            <a:prstDash val="solid"/>
          </a:ln>
        </p:spPr>
      </p:sp>
      <p:sp>
        <p:nvSpPr>
          <p:cNvPr id="5" name="text-33"/>
          <p:cNvSpPr txBox="1"/>
          <p:nvPr/>
        </p:nvSpPr>
        <p:spPr>
          <a:xfrm>
            <a:off x="868680" y="1645920"/>
            <a:ext cx="6035040" cy="320040"/>
          </a:xfrm>
          <a:prstGeom prst="rect">
            <a:avLst/>
          </a:prstGeom>
          <a:noFill/>
          <a:ln/>
        </p:spPr>
        <p:txBody>
          <a:bodyPr wrap="square" lIns="0" tIns="0" rIns="0" bIns="0" rtlCol="0" anchor="t"/>
          <a:lstStyle/>
          <a:p>
            <a:pPr indent="0" marL="0">
              <a:buNone/>
            </a:pPr>
            <a:r>
              <a:rPr lang="en-US" sz="1200" b="1" dirty="0">
                <a:solidFill>
                  <a:schemeClr val="accent1"/>
                </a:solidFill>
              </a:rPr>
              <a:t>MADRID, September 2027</a:t>
            </a:r>
            <a:endParaRPr lang="en-US" sz="1200" dirty="0"/>
          </a:p>
        </p:txBody>
      </p:sp>
      <p:sp>
        <p:nvSpPr>
          <p:cNvPr id="6" name="text-34"/>
          <p:cNvSpPr txBox="1"/>
          <p:nvPr/>
        </p:nvSpPr>
        <p:spPr>
          <a:xfrm>
            <a:off x="868680" y="2011680"/>
            <a:ext cx="6035040" cy="11887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SkillBridge lets tech students prove what they can do, and exactly what they did, in an afternoon</a:t>
            </a:r>
            <a:endParaRPr lang="en-US" sz="2400" dirty="0"/>
          </a:p>
        </p:txBody>
      </p:sp>
      <p:sp>
        <p:nvSpPr>
          <p:cNvPr id="7" name="text-35"/>
          <p:cNvSpPr txBox="1"/>
          <p:nvPr/>
        </p:nvSpPr>
        <p:spPr>
          <a:xfrm>
            <a:off x="868680" y="3246120"/>
            <a:ext cx="6035040" cy="731520"/>
          </a:xfrm>
          <a:prstGeom prst="rect">
            <a:avLst/>
          </a:prstGeom>
          <a:noFill/>
          <a:ln/>
        </p:spPr>
        <p:txBody>
          <a:bodyPr wrap="square" lIns="0" tIns="0" rIns="0" bIns="0" rtlCol="0" anchor="t"/>
          <a:lstStyle/>
          <a:p>
            <a:pPr indent="0" marL="0">
              <a:buNone/>
            </a:pPr>
            <a:r>
              <a:rPr lang="en-US" sz="1500" i="1" dirty="0">
                <a:solidFill>
                  <a:schemeClr val="accent3"/>
                </a:solidFill>
              </a:rPr>
              <a:t>Real company challenges, scored against the company's own bar, with every team member's contribution on the record.</a:t>
            </a:r>
            <a:endParaRPr lang="en-US" sz="1500" dirty="0"/>
          </a:p>
        </p:txBody>
      </p:sp>
      <p:sp>
        <p:nvSpPr>
          <p:cNvPr id="8" name="text-36"/>
          <p:cNvSpPr txBox="1"/>
          <p:nvPr/>
        </p:nvSpPr>
        <p:spPr>
          <a:xfrm>
            <a:off x="868680" y="4069080"/>
            <a:ext cx="612648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2–7 hours on a real brief from a SaaS, engineering or data company</a:t>
            </a:r>
            <a:endParaRPr lang="en-US" sz="1500" dirty="0"/>
          </a:p>
          <a:p>
            <a:pPr marL="342900" indent="-342900">
              <a:spcAft>
                <a:spcPts val="800"/>
              </a:spcAft>
              <a:buSzPct val="100000"/>
              <a:buChar char="•"/>
            </a:pPr>
            <a:r>
              <a:rPr lang="en-US" sz="1500" dirty="0">
                <a:solidFill>
                  <a:schemeClr val="tx1"/>
                </a:solidFill>
              </a:rPr>
              <a:t>Score calibrated to that company's rubric, plus written feedback from its engineer</a:t>
            </a:r>
            <a:endParaRPr lang="en-US" sz="1500" dirty="0"/>
          </a:p>
          <a:p>
            <a:pPr marL="342900" indent="-342900">
              <a:spcAft>
                <a:spcPts val="800"/>
              </a:spcAft>
              <a:buSzPct val="100000"/>
              <a:buChar char="•"/>
            </a:pPr>
            <a:r>
              <a:rPr lang="en-US" sz="1500" dirty="0">
                <a:solidFill>
                  <a:schemeClr val="tx1"/>
                </a:solidFill>
              </a:rPr>
              <a:t>A verified record of your own contribution, shareable to CV and LinkedIn</a:t>
            </a:r>
            <a:endParaRPr lang="en-US" sz="1500" dirty="0"/>
          </a:p>
        </p:txBody>
      </p:sp>
      <p:sp>
        <p:nvSpPr>
          <p:cNvPr id="9" name="text-37"/>
          <p:cNvSpPr txBox="1"/>
          <p:nvPr/>
        </p:nvSpPr>
        <p:spPr>
          <a:xfrm>
            <a:off x="7589520" y="1463040"/>
            <a:ext cx="4023360" cy="365760"/>
          </a:xfrm>
          <a:prstGeom prst="rect">
            <a:avLst/>
          </a:prstGeom>
          <a:noFill/>
          <a:ln/>
        </p:spPr>
        <p:txBody>
          <a:bodyPr wrap="square" lIns="0" tIns="0" rIns="0" bIns="0" rtlCol="0" anchor="t"/>
          <a:lstStyle/>
          <a:p>
            <a:pPr indent="0" marL="0">
              <a:buNone/>
            </a:pPr>
            <a:r>
              <a:rPr lang="en-US" sz="1600" b="1" dirty="0">
                <a:solidFill>
                  <a:schemeClr val="tx2"/>
                </a:solidFill>
              </a:rPr>
              <a:t>Evidence status of each claim</a:t>
            </a:r>
            <a:endParaRPr lang="en-US" sz="1600" dirty="0"/>
          </a:p>
        </p:txBody>
      </p:sp>
      <p:sp>
        <p:nvSpPr>
          <p:cNvPr id="10" name="text-38"/>
          <p:cNvSpPr txBox="1"/>
          <p:nvPr/>
        </p:nvSpPr>
        <p:spPr>
          <a:xfrm>
            <a:off x="7589520" y="1920240"/>
            <a:ext cx="2514600" cy="685800"/>
          </a:xfrm>
          <a:prstGeom prst="rect">
            <a:avLst/>
          </a:prstGeom>
          <a:noFill/>
          <a:ln/>
        </p:spPr>
        <p:txBody>
          <a:bodyPr wrap="square" lIns="0" tIns="0" rIns="0" bIns="0" rtlCol="0" anchor="ctr"/>
          <a:lstStyle/>
          <a:p>
            <a:pPr indent="0" marL="0">
              <a:buNone/>
            </a:pPr>
            <a:r>
              <a:rPr lang="en-US" sz="1300" dirty="0">
                <a:solidFill>
                  <a:schemeClr val="tx1"/>
                </a:solidFill>
              </a:rPr>
              <a:t>Students can't show work beyond coursework or their own part</a:t>
            </a:r>
            <a:endParaRPr lang="en-US" sz="1300" dirty="0"/>
          </a:p>
        </p:txBody>
      </p:sp>
      <p:sp>
        <p:nvSpPr>
          <p:cNvPr id="11" name="tag-39"/>
          <p:cNvSpPr/>
          <p:nvPr/>
        </p:nvSpPr>
        <p:spPr>
          <a:xfrm>
            <a:off x="10195560" y="2048256"/>
            <a:ext cx="1417320" cy="438912"/>
          </a:xfrm>
          <a:prstGeom prst="roundRect">
            <a:avLst>
              <a:gd name="adj" fmla="val 16667"/>
            </a:avLst>
          </a:prstGeom>
          <a:solidFill>
            <a:schemeClr val="accent1"/>
          </a:solidFill>
          <a:ln w="12700">
            <a:solidFill>
              <a:schemeClr val="accent1"/>
            </a:solidFill>
            <a:prstDash val="solid"/>
          </a:ln>
        </p:spPr>
      </p:sp>
      <p:sp>
        <p:nvSpPr>
          <p:cNvPr id="12" name="text-40"/>
          <p:cNvSpPr txBox="1"/>
          <p:nvPr/>
        </p:nvSpPr>
        <p:spPr>
          <a:xfrm>
            <a:off x="10195560" y="2048256"/>
            <a:ext cx="1417320" cy="438912"/>
          </a:xfrm>
          <a:prstGeom prst="rect">
            <a:avLst/>
          </a:prstGeom>
          <a:noFill/>
          <a:ln/>
        </p:spPr>
        <p:txBody>
          <a:bodyPr wrap="square" lIns="0" tIns="0" rIns="0" bIns="0" rtlCol="0" anchor="ctr"/>
          <a:lstStyle/>
          <a:p>
            <a:pPr algn="ctr" indent="0" marL="0">
              <a:buNone/>
            </a:pPr>
            <a:r>
              <a:rPr lang="en-US" sz="1100" b="1" dirty="0">
                <a:solidFill>
                  <a:schemeClr val="bg1"/>
                </a:solidFill>
              </a:rPr>
              <a:t>Evidence</a:t>
            </a:r>
            <a:endParaRPr lang="en-US" sz="1100" dirty="0"/>
          </a:p>
        </p:txBody>
      </p:sp>
      <p:sp>
        <p:nvSpPr>
          <p:cNvPr id="13" name="text-41"/>
          <p:cNvSpPr txBox="1"/>
          <p:nvPr/>
        </p:nvSpPr>
        <p:spPr>
          <a:xfrm>
            <a:off x="7589520" y="2706624"/>
            <a:ext cx="2514600" cy="685800"/>
          </a:xfrm>
          <a:prstGeom prst="rect">
            <a:avLst/>
          </a:prstGeom>
          <a:noFill/>
          <a:ln/>
        </p:spPr>
        <p:txBody>
          <a:bodyPr wrap="square" lIns="0" tIns="0" rIns="0" bIns="0" rtlCol="0" anchor="ctr"/>
          <a:lstStyle/>
          <a:p>
            <a:pPr indent="0" marL="0">
              <a:buNone/>
            </a:pPr>
            <a:r>
              <a:rPr lang="en-US" sz="1300" dirty="0">
                <a:solidFill>
                  <a:schemeClr val="tx1"/>
                </a:solidFill>
              </a:rPr>
              <a:t>2–7 hours fits their week</a:t>
            </a:r>
            <a:endParaRPr lang="en-US" sz="1300" dirty="0"/>
          </a:p>
        </p:txBody>
      </p:sp>
      <p:sp>
        <p:nvSpPr>
          <p:cNvPr id="14" name="tag-42"/>
          <p:cNvSpPr/>
          <p:nvPr/>
        </p:nvSpPr>
        <p:spPr>
          <a:xfrm>
            <a:off x="10195560" y="2834640"/>
            <a:ext cx="1417320" cy="438912"/>
          </a:xfrm>
          <a:prstGeom prst="roundRect">
            <a:avLst>
              <a:gd name="adj" fmla="val 16667"/>
            </a:avLst>
          </a:prstGeom>
          <a:solidFill>
            <a:schemeClr val="accent1"/>
          </a:solidFill>
          <a:ln w="12700">
            <a:solidFill>
              <a:schemeClr val="accent1"/>
            </a:solidFill>
            <a:prstDash val="solid"/>
          </a:ln>
        </p:spPr>
      </p:sp>
      <p:sp>
        <p:nvSpPr>
          <p:cNvPr id="15" name="text-43"/>
          <p:cNvSpPr txBox="1"/>
          <p:nvPr/>
        </p:nvSpPr>
        <p:spPr>
          <a:xfrm>
            <a:off x="10195560" y="2834640"/>
            <a:ext cx="1417320" cy="438912"/>
          </a:xfrm>
          <a:prstGeom prst="rect">
            <a:avLst/>
          </a:prstGeom>
          <a:noFill/>
          <a:ln/>
        </p:spPr>
        <p:txBody>
          <a:bodyPr wrap="square" lIns="0" tIns="0" rIns="0" bIns="0" rtlCol="0" anchor="ctr"/>
          <a:lstStyle/>
          <a:p>
            <a:pPr algn="ctr" indent="0" marL="0">
              <a:buNone/>
            </a:pPr>
            <a:r>
              <a:rPr lang="en-US" sz="1100" b="1" dirty="0">
                <a:solidFill>
                  <a:schemeClr val="bg1"/>
                </a:solidFill>
              </a:rPr>
              <a:t>Evidence</a:t>
            </a:r>
            <a:endParaRPr lang="en-US" sz="1100" dirty="0"/>
          </a:p>
        </p:txBody>
      </p:sp>
      <p:sp>
        <p:nvSpPr>
          <p:cNvPr id="16" name="text-44"/>
          <p:cNvSpPr txBox="1"/>
          <p:nvPr/>
        </p:nvSpPr>
        <p:spPr>
          <a:xfrm>
            <a:off x="7589520" y="3493008"/>
            <a:ext cx="2514600" cy="685800"/>
          </a:xfrm>
          <a:prstGeom prst="rect">
            <a:avLst/>
          </a:prstGeom>
          <a:noFill/>
          <a:ln/>
        </p:spPr>
        <p:txBody>
          <a:bodyPr wrap="square" lIns="0" tIns="0" rIns="0" bIns="0" rtlCol="0" anchor="ctr"/>
          <a:lstStyle/>
          <a:p>
            <a:pPr indent="0" marL="0">
              <a:buNone/>
            </a:pPr>
            <a:r>
              <a:rPr lang="en-US" sz="1300" dirty="0">
                <a:solidFill>
                  <a:schemeClr val="tx1"/>
                </a:solidFill>
              </a:rPr>
              <a:t>AI cheating makes employers wary</a:t>
            </a:r>
            <a:endParaRPr lang="en-US" sz="1300" dirty="0"/>
          </a:p>
        </p:txBody>
      </p:sp>
      <p:sp>
        <p:nvSpPr>
          <p:cNvPr id="17" name="tag-45"/>
          <p:cNvSpPr/>
          <p:nvPr/>
        </p:nvSpPr>
        <p:spPr>
          <a:xfrm>
            <a:off x="10195560" y="3621024"/>
            <a:ext cx="1417320" cy="438912"/>
          </a:xfrm>
          <a:prstGeom prst="roundRect">
            <a:avLst>
              <a:gd name="adj" fmla="val 16667"/>
            </a:avLst>
          </a:prstGeom>
          <a:solidFill>
            <a:schemeClr val="accent6"/>
          </a:solidFill>
          <a:ln w="12700">
            <a:solidFill>
              <a:schemeClr val="accent6"/>
            </a:solidFill>
            <a:prstDash val="solid"/>
          </a:ln>
        </p:spPr>
      </p:sp>
      <p:sp>
        <p:nvSpPr>
          <p:cNvPr id="18" name="text-46"/>
          <p:cNvSpPr txBox="1"/>
          <p:nvPr/>
        </p:nvSpPr>
        <p:spPr>
          <a:xfrm>
            <a:off x="10195560" y="3621024"/>
            <a:ext cx="1417320" cy="438912"/>
          </a:xfrm>
          <a:prstGeom prst="rect">
            <a:avLst/>
          </a:prstGeom>
          <a:noFill/>
          <a:ln/>
        </p:spPr>
        <p:txBody>
          <a:bodyPr wrap="square" lIns="0" tIns="0" rIns="0" bIns="0" rtlCol="0" anchor="ctr"/>
          <a:lstStyle/>
          <a:p>
            <a:pPr algn="ctr" indent="0" marL="0">
              <a:buNone/>
            </a:pPr>
            <a:r>
              <a:rPr lang="en-US" sz="1100" b="1" dirty="0">
                <a:solidFill>
                  <a:schemeClr val="bg1"/>
                </a:solidFill>
              </a:rPr>
              <a:t>Desk research</a:t>
            </a:r>
            <a:endParaRPr lang="en-US" sz="1100" dirty="0"/>
          </a:p>
        </p:txBody>
      </p:sp>
      <p:sp>
        <p:nvSpPr>
          <p:cNvPr id="19" name="text-47"/>
          <p:cNvSpPr txBox="1"/>
          <p:nvPr/>
        </p:nvSpPr>
        <p:spPr>
          <a:xfrm>
            <a:off x="7589520" y="4279392"/>
            <a:ext cx="2514600" cy="685800"/>
          </a:xfrm>
          <a:prstGeom prst="rect">
            <a:avLst/>
          </a:prstGeom>
          <a:noFill/>
          <a:ln/>
        </p:spPr>
        <p:txBody>
          <a:bodyPr wrap="square" lIns="0" tIns="0" rIns="0" bIns="0" rtlCol="0" anchor="ctr"/>
          <a:lstStyle/>
          <a:p>
            <a:pPr indent="0" marL="0">
              <a:buNone/>
            </a:pPr>
            <a:r>
              <a:rPr lang="en-US" sz="1300" dirty="0">
                <a:solidFill>
                  <a:schemeClr val="tx1"/>
                </a:solidFill>
              </a:rPr>
              <a:t>Companies will post briefs</a:t>
            </a:r>
            <a:endParaRPr lang="en-US" sz="1300" dirty="0"/>
          </a:p>
        </p:txBody>
      </p:sp>
      <p:sp>
        <p:nvSpPr>
          <p:cNvPr id="20" name="tag-48"/>
          <p:cNvSpPr/>
          <p:nvPr/>
        </p:nvSpPr>
        <p:spPr>
          <a:xfrm>
            <a:off x="10195560" y="4407408"/>
            <a:ext cx="1417320" cy="438912"/>
          </a:xfrm>
          <a:prstGeom prst="roundRect">
            <a:avLst>
              <a:gd name="adj" fmla="val 16667"/>
            </a:avLst>
          </a:prstGeom>
          <a:solidFill>
            <a:schemeClr val="accent2"/>
          </a:solidFill>
          <a:ln w="12700">
            <a:solidFill>
              <a:schemeClr val="accent2"/>
            </a:solidFill>
            <a:prstDash val="solid"/>
          </a:ln>
        </p:spPr>
      </p:sp>
      <p:sp>
        <p:nvSpPr>
          <p:cNvPr id="21" name="text-49"/>
          <p:cNvSpPr txBox="1"/>
          <p:nvPr/>
        </p:nvSpPr>
        <p:spPr>
          <a:xfrm>
            <a:off x="10195560" y="4407408"/>
            <a:ext cx="1417320" cy="438912"/>
          </a:xfrm>
          <a:prstGeom prst="rect">
            <a:avLst/>
          </a:prstGeom>
          <a:noFill/>
          <a:ln/>
        </p:spPr>
        <p:txBody>
          <a:bodyPr wrap="square" lIns="0" tIns="0" rIns="0" bIns="0" rtlCol="0" anchor="ctr"/>
          <a:lstStyle/>
          <a:p>
            <a:pPr algn="ctr" indent="0" marL="0">
              <a:buNone/>
            </a:pPr>
            <a:r>
              <a:rPr lang="en-US" sz="1100" b="1" dirty="0">
                <a:solidFill>
                  <a:schemeClr val="bg1"/>
                </a:solidFill>
              </a:rPr>
              <a:t>Hypothesis</a:t>
            </a:r>
            <a:endParaRPr lang="en-US" sz="1100" dirty="0"/>
          </a:p>
        </p:txBody>
      </p:sp>
      <p:sp>
        <p:nvSpPr>
          <p:cNvPr id="22" name="text-50"/>
          <p:cNvSpPr txBox="1"/>
          <p:nvPr/>
        </p:nvSpPr>
        <p:spPr>
          <a:xfrm>
            <a:off x="7589520" y="5065776"/>
            <a:ext cx="2514600" cy="685800"/>
          </a:xfrm>
          <a:prstGeom prst="rect">
            <a:avLst/>
          </a:prstGeom>
          <a:noFill/>
          <a:ln/>
        </p:spPr>
        <p:txBody>
          <a:bodyPr wrap="square" lIns="0" tIns="0" rIns="0" bIns="0" rtlCol="0" anchor="ctr"/>
          <a:lstStyle/>
          <a:p>
            <a:pPr indent="0" marL="0">
              <a:buNone/>
            </a:pPr>
            <a:r>
              <a:rPr lang="en-US" sz="1300" dirty="0">
                <a:solidFill>
                  <a:schemeClr val="tx1"/>
                </a:solidFill>
              </a:rPr>
              <a:t>Recruiters trust it; students pay</a:t>
            </a:r>
            <a:endParaRPr lang="en-US" sz="1300" dirty="0"/>
          </a:p>
        </p:txBody>
      </p:sp>
      <p:sp>
        <p:nvSpPr>
          <p:cNvPr id="23" name="tag-51"/>
          <p:cNvSpPr/>
          <p:nvPr/>
        </p:nvSpPr>
        <p:spPr>
          <a:xfrm>
            <a:off x="10195560" y="5193792"/>
            <a:ext cx="1417320" cy="438912"/>
          </a:xfrm>
          <a:prstGeom prst="roundRect">
            <a:avLst>
              <a:gd name="adj" fmla="val 16667"/>
            </a:avLst>
          </a:prstGeom>
          <a:solidFill>
            <a:schemeClr val="accent4"/>
          </a:solidFill>
          <a:ln w="12700">
            <a:solidFill>
              <a:schemeClr val="accent4"/>
            </a:solidFill>
            <a:prstDash val="solid"/>
          </a:ln>
        </p:spPr>
      </p:sp>
      <p:sp>
        <p:nvSpPr>
          <p:cNvPr id="24" name="text-52"/>
          <p:cNvSpPr txBox="1"/>
          <p:nvPr/>
        </p:nvSpPr>
        <p:spPr>
          <a:xfrm>
            <a:off x="10195560" y="5193792"/>
            <a:ext cx="1417320" cy="438912"/>
          </a:xfrm>
          <a:prstGeom prst="rect">
            <a:avLst/>
          </a:prstGeom>
          <a:noFill/>
          <a:ln/>
        </p:spPr>
        <p:txBody>
          <a:bodyPr wrap="square" lIns="0" tIns="0" rIns="0" bIns="0" rtlCol="0" anchor="ctr"/>
          <a:lstStyle/>
          <a:p>
            <a:pPr algn="ctr" indent="0" marL="0">
              <a:buNone/>
            </a:pPr>
            <a:r>
              <a:rPr lang="en-US" sz="1100" b="1" dirty="0">
                <a:solidFill>
                  <a:schemeClr val="bg1"/>
                </a:solidFill>
              </a:rPr>
              <a:t>Riskiest hypothesis</a:t>
            </a:r>
            <a:endParaRPr lang="en-US" sz="1100" dirty="0"/>
          </a:p>
        </p:txBody>
      </p:sp>
      <p:sp>
        <p:nvSpPr>
          <p:cNvPr id="25" name="text-53"/>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evidence-log/press-release.md. Quotes in the full release are illustrative.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02  ·  THE PIVOT</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From paid projects to company challenges</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What v1 was, why the evidence pushed us off it, and what stayed the same</a:t>
            </a:r>
            <a:endParaRPr lang="en-US" sz="1800" dirty="0"/>
          </a:p>
        </p:txBody>
      </p:sp>
      <p:sp>
        <p:nvSpPr>
          <p:cNvPr id="5" name="badge-54"/>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55"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v1: student teams doing paid projects for small businesses</a:t>
            </a:r>
            <a:endParaRPr lang="en-US" sz="3200" dirty="0"/>
          </a:p>
        </p:txBody>
      </p:sp>
      <p:sp>
        <p:nvSpPr>
          <p:cNvPr id="4" name="card-56"/>
          <p:cNvSpPr/>
          <p:nvPr/>
        </p:nvSpPr>
        <p:spPr>
          <a:xfrm>
            <a:off x="548640" y="1417320"/>
            <a:ext cx="5394960" cy="4389120"/>
          </a:xfrm>
          <a:prstGeom prst="roundRect">
            <a:avLst>
              <a:gd name="adj" fmla="val 1667"/>
            </a:avLst>
          </a:prstGeom>
          <a:solidFill>
            <a:schemeClr val="bg2"/>
          </a:solidFill>
          <a:ln w="12700">
            <a:solidFill>
              <a:schemeClr val="bg2"/>
            </a:solidFill>
            <a:prstDash val="solid"/>
          </a:ln>
        </p:spPr>
      </p:sp>
      <p:sp>
        <p:nvSpPr>
          <p:cNvPr id="5" name="badge-57"/>
          <p:cNvSpPr/>
          <p:nvPr/>
        </p:nvSpPr>
        <p:spPr>
          <a:xfrm>
            <a:off x="868680" y="1691640"/>
            <a:ext cx="822960" cy="822960"/>
          </a:xfrm>
          <a:prstGeom prst="ellipse">
            <a:avLst/>
          </a:prstGeom>
          <a:solidFill>
            <a:schemeClr val="accent3"/>
          </a:solidFill>
          <a:ln w="12700">
            <a:solidFill>
              <a:schemeClr val="accent3"/>
            </a:solidFill>
            <a:prstDash val="solid"/>
          </a:ln>
        </p:spPr>
      </p:sp>
      <p:pic>
        <p:nvPicPr>
          <p:cNvPr id="6" name="icon-58" descr="preencoded.png">    </p:cNvPr>
          <p:cNvPicPr>
            <a:picLocks noChangeAspect="1"/>
          </p:cNvPicPr>
          <p:nvPr/>
        </p:nvPicPr>
        <p:blipFill>
          <a:blip r:embed="rId1"/>
          <a:stretch>
            <a:fillRect/>
          </a:stretch>
        </p:blipFill>
        <p:spPr>
          <a:xfrm>
            <a:off x="1066190" y="1889150"/>
            <a:ext cx="427939" cy="427939"/>
          </a:xfrm>
          <a:prstGeom prst="rect">
            <a:avLst/>
          </a:prstGeom>
        </p:spPr>
      </p:pic>
      <p:sp>
        <p:nvSpPr>
          <p:cNvPr id="7" name="text-59"/>
          <p:cNvSpPr txBox="1"/>
          <p:nvPr/>
        </p:nvSpPr>
        <p:spPr>
          <a:xfrm>
            <a:off x="1874520" y="1828800"/>
            <a:ext cx="3657600" cy="457200"/>
          </a:xfrm>
          <a:prstGeom prst="rect">
            <a:avLst/>
          </a:prstGeom>
          <a:noFill/>
          <a:ln/>
        </p:spPr>
        <p:txBody>
          <a:bodyPr wrap="square" lIns="0" tIns="0" rIns="0" bIns="0" rtlCol="0" anchor="t"/>
          <a:lstStyle/>
          <a:p>
            <a:pPr indent="0" marL="0">
              <a:buNone/>
            </a:pPr>
            <a:r>
              <a:rPr lang="en-US" sz="2000" b="1" dirty="0">
                <a:solidFill>
                  <a:schemeClr val="tx2"/>
                </a:solidFill>
              </a:rPr>
              <a:t>The v1 idea</a:t>
            </a:r>
            <a:endParaRPr lang="en-US" sz="2000" dirty="0"/>
          </a:p>
        </p:txBody>
      </p:sp>
      <p:sp>
        <p:nvSpPr>
          <p:cNvPr id="8" name="text-60"/>
          <p:cNvSpPr txBox="1"/>
          <p:nvPr/>
        </p:nvSpPr>
        <p:spPr>
          <a:xfrm>
            <a:off x="868680" y="2697480"/>
            <a:ext cx="4754880" cy="1463040"/>
          </a:xfrm>
          <a:prstGeom prst="rect">
            <a:avLst/>
          </a:prstGeom>
          <a:noFill/>
          <a:ln/>
        </p:spPr>
        <p:txBody>
          <a:bodyPr wrap="square" lIns="0" tIns="0" rIns="0" bIns="0" rtlCol="0" anchor="t"/>
          <a:lstStyle/>
          <a:p>
            <a:pPr indent="0" marL="0">
              <a:buNone/>
            </a:pPr>
            <a:r>
              <a:rPr lang="en-US" sz="1600" dirty="0">
                <a:solidFill>
                  <a:schemeClr val="tx1"/>
                </a:solidFill>
              </a:rPr>
              <a:t>An open platform where teams of tech students take on small, real, paid "campaigns" for small businesses, and leave with a verified record of shipped client work plus some cash.</a:t>
            </a:r>
            <a:endParaRPr lang="en-US" sz="1600" dirty="0"/>
          </a:p>
        </p:txBody>
      </p:sp>
      <p:sp>
        <p:nvSpPr>
          <p:cNvPr id="9" name="text-61"/>
          <p:cNvSpPr txBox="1"/>
          <p:nvPr/>
        </p:nvSpPr>
        <p:spPr>
          <a:xfrm>
            <a:off x="868680" y="4206240"/>
            <a:ext cx="4754880" cy="1097280"/>
          </a:xfrm>
          <a:prstGeom prst="rect">
            <a:avLst/>
          </a:prstGeom>
          <a:noFill/>
          <a:ln/>
        </p:spPr>
        <p:txBody>
          <a:bodyPr wrap="square" lIns="0" tIns="0" rIns="0" bIns="0" rtlCol="0" anchor="t"/>
          <a:lstStyle/>
          <a:p>
            <a:pPr indent="0" marL="0">
              <a:buNone/>
            </a:pPr>
            <a:r>
              <a:rPr lang="en-US" sz="1500" b="1" dirty="0">
                <a:solidFill>
                  <a:schemeClr val="accent3"/>
                </a:solidFill>
              </a:rPr>
              <a:t>Riskiest assumption: </a:t>
            </a:r>
            <a:pPr indent="0" marL="0">
              <a:buNone/>
            </a:pPr>
            <a:r>
              <a:rPr lang="en-US" sz="1500" dirty="0">
                <a:solidFill>
                  <a:schemeClr val="accent3"/>
                </a:solidFill>
              </a:rPr>
              <a:t>a small business will trust an inexperienced student team with a real, paid project.</a:t>
            </a:r>
            <a:endParaRPr lang="en-US" sz="1500" dirty="0"/>
          </a:p>
        </p:txBody>
      </p:sp>
      <p:sp>
        <p:nvSpPr>
          <p:cNvPr id="10" name="card-62"/>
          <p:cNvSpPr/>
          <p:nvPr/>
        </p:nvSpPr>
        <p:spPr>
          <a:xfrm>
            <a:off x="6263640" y="1417320"/>
            <a:ext cx="5349240" cy="2057400"/>
          </a:xfrm>
          <a:prstGeom prst="roundRect">
            <a:avLst>
              <a:gd name="adj" fmla="val 3556"/>
            </a:avLst>
          </a:prstGeom>
          <a:solidFill>
            <a:schemeClr val="bg2"/>
          </a:solidFill>
          <a:ln w="12700">
            <a:solidFill>
              <a:schemeClr val="bg2"/>
            </a:solidFill>
            <a:prstDash val="solid"/>
          </a:ln>
        </p:spPr>
      </p:sp>
      <p:sp>
        <p:nvSpPr>
          <p:cNvPr id="11" name="text-63"/>
          <p:cNvSpPr txBox="1"/>
          <p:nvPr/>
        </p:nvSpPr>
        <p:spPr>
          <a:xfrm>
            <a:off x="6583680" y="1645920"/>
            <a:ext cx="4572000" cy="365760"/>
          </a:xfrm>
          <a:prstGeom prst="rect">
            <a:avLst/>
          </a:prstGeom>
          <a:noFill/>
          <a:ln/>
        </p:spPr>
        <p:txBody>
          <a:bodyPr wrap="square" lIns="0" tIns="0" rIns="0" bIns="0" rtlCol="0" anchor="t"/>
          <a:lstStyle/>
          <a:p>
            <a:pPr indent="0" marL="0">
              <a:buNone/>
            </a:pPr>
            <a:r>
              <a:rPr lang="en-US" sz="1600" b="1" dirty="0">
                <a:solidFill>
                  <a:schemeClr val="accent1"/>
                </a:solidFill>
              </a:rPr>
              <a:t>Planned test</a:t>
            </a:r>
            <a:endParaRPr lang="en-US" sz="1600" dirty="0"/>
          </a:p>
        </p:txBody>
      </p:sp>
      <p:sp>
        <p:nvSpPr>
          <p:cNvPr id="12" name="text-64"/>
          <p:cNvSpPr txBox="1"/>
          <p:nvPr/>
        </p:nvSpPr>
        <p:spPr>
          <a:xfrm>
            <a:off x="6583680" y="2057400"/>
            <a:ext cx="4754880" cy="1188720"/>
          </a:xfrm>
          <a:prstGeom prst="rect">
            <a:avLst/>
          </a:prstGeom>
          <a:noFill/>
          <a:ln/>
        </p:spPr>
        <p:txBody>
          <a:bodyPr wrap="square" lIns="0" tIns="0" rIns="0" bIns="0" rtlCol="0" anchor="t"/>
          <a:lstStyle/>
          <a:p>
            <a:pPr indent="0" marL="0">
              <a:buNone/>
            </a:pPr>
            <a:r>
              <a:rPr lang="en-US" sz="1600" dirty="0">
                <a:solidFill>
                  <a:schemeClr val="tx1"/>
                </a:solidFill>
              </a:rPr>
              <a:t>Pitch 10 small businesses. Pass if at least 2 sign a charter and pay a 10% deposit.</a:t>
            </a:r>
            <a:endParaRPr lang="en-US" sz="1600" dirty="0"/>
          </a:p>
        </p:txBody>
      </p:sp>
      <p:sp>
        <p:nvSpPr>
          <p:cNvPr id="13" name="card-65"/>
          <p:cNvSpPr/>
          <p:nvPr/>
        </p:nvSpPr>
        <p:spPr>
          <a:xfrm>
            <a:off x="6263640" y="3749040"/>
            <a:ext cx="5349240" cy="2057400"/>
          </a:xfrm>
          <a:prstGeom prst="roundRect">
            <a:avLst>
              <a:gd name="adj" fmla="val 3556"/>
            </a:avLst>
          </a:prstGeom>
          <a:solidFill>
            <a:schemeClr val="tx2"/>
          </a:solidFill>
          <a:ln w="12700">
            <a:solidFill>
              <a:schemeClr val="tx2"/>
            </a:solidFill>
            <a:prstDash val="solid"/>
          </a:ln>
        </p:spPr>
      </p:sp>
      <p:sp>
        <p:nvSpPr>
          <p:cNvPr id="14" name="text-66"/>
          <p:cNvSpPr txBox="1"/>
          <p:nvPr/>
        </p:nvSpPr>
        <p:spPr>
          <a:xfrm>
            <a:off x="6583680" y="3977640"/>
            <a:ext cx="4572000" cy="365760"/>
          </a:xfrm>
          <a:prstGeom prst="rect">
            <a:avLst/>
          </a:prstGeom>
          <a:noFill/>
          <a:ln/>
        </p:spPr>
        <p:txBody>
          <a:bodyPr wrap="square" lIns="0" tIns="0" rIns="0" bIns="0" rtlCol="0" anchor="t"/>
          <a:lstStyle/>
          <a:p>
            <a:pPr indent="0" marL="0">
              <a:buNone/>
            </a:pPr>
            <a:r>
              <a:rPr lang="en-US" sz="1600" b="1" dirty="0">
                <a:solidFill>
                  <a:schemeClr val="accent2"/>
                </a:solidFill>
              </a:rPr>
              <a:t>What happened</a:t>
            </a:r>
            <a:endParaRPr lang="en-US" sz="1600" dirty="0"/>
          </a:p>
        </p:txBody>
      </p:sp>
      <p:sp>
        <p:nvSpPr>
          <p:cNvPr id="15" name="text-67"/>
          <p:cNvSpPr txBox="1"/>
          <p:nvPr/>
        </p:nvSpPr>
        <p:spPr>
          <a:xfrm>
            <a:off x="6583680" y="4389120"/>
            <a:ext cx="4754880" cy="1188720"/>
          </a:xfrm>
          <a:prstGeom prst="rect">
            <a:avLst/>
          </a:prstGeom>
          <a:noFill/>
          <a:ln/>
        </p:spPr>
        <p:txBody>
          <a:bodyPr wrap="square" lIns="0" tIns="0" rIns="0" bIns="0" rtlCol="0" anchor="t"/>
          <a:lstStyle/>
          <a:p>
            <a:pPr indent="0" marL="0">
              <a:buNone/>
            </a:pPr>
            <a:r>
              <a:rPr lang="en-US" sz="1600" dirty="0">
                <a:solidFill>
                  <a:schemeClr val="bg1"/>
                </a:solidFill>
              </a:rPr>
              <a:t>No business reached a formal pitch. No charter, no deposit. Closed as not run, not scored as a failure.</a:t>
            </a:r>
            <a:endParaRPr lang="en-US" sz="1600" dirty="0"/>
          </a:p>
        </p:txBody>
      </p:sp>
      <p:sp>
        <p:nvSpPr>
          <p:cNvPr id="16" name="text-68"/>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evidence-log/archive/v1-paid-projects/README.md and experiment-card.md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The evidence pushed us off v1</a:t>
            </a:r>
            <a:endParaRPr lang="en-US" sz="3200" dirty="0"/>
          </a:p>
        </p:txBody>
      </p:sp>
      <p:sp>
        <p:nvSpPr>
          <p:cNvPr id="4" name="card-69"/>
          <p:cNvSpPr/>
          <p:nvPr/>
        </p:nvSpPr>
        <p:spPr>
          <a:xfrm>
            <a:off x="548640" y="1463040"/>
            <a:ext cx="2606040" cy="2743200"/>
          </a:xfrm>
          <a:prstGeom prst="roundRect">
            <a:avLst>
              <a:gd name="adj" fmla="val 2807"/>
            </a:avLst>
          </a:prstGeom>
          <a:solidFill>
            <a:schemeClr val="bg2"/>
          </a:solidFill>
          <a:ln w="12700">
            <a:solidFill>
              <a:schemeClr val="bg2"/>
            </a:solidFill>
            <a:prstDash val="solid"/>
          </a:ln>
        </p:spPr>
      </p:sp>
      <p:sp>
        <p:nvSpPr>
          <p:cNvPr id="5" name="text-70"/>
          <p:cNvSpPr txBox="1"/>
          <p:nvPr/>
        </p:nvSpPr>
        <p:spPr>
          <a:xfrm>
            <a:off x="777240" y="169164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0</a:t>
            </a:r>
            <a:endParaRPr lang="en-US" sz="4800" dirty="0"/>
          </a:p>
        </p:txBody>
      </p:sp>
      <p:sp>
        <p:nvSpPr>
          <p:cNvPr id="6" name="text-71"/>
          <p:cNvSpPr txBox="1"/>
          <p:nvPr/>
        </p:nvSpPr>
        <p:spPr>
          <a:xfrm>
            <a:off x="777240" y="2697480"/>
            <a:ext cx="2194560" cy="1097280"/>
          </a:xfrm>
          <a:prstGeom prst="rect">
            <a:avLst/>
          </a:prstGeom>
          <a:noFill/>
          <a:ln/>
        </p:spPr>
        <p:txBody>
          <a:bodyPr wrap="square" lIns="0" tIns="0" rIns="0" bIns="0" rtlCol="0" anchor="t"/>
          <a:lstStyle/>
          <a:p>
            <a:pPr indent="0" marL="0">
              <a:buNone/>
            </a:pPr>
            <a:r>
              <a:rPr lang="en-US" sz="1500" dirty="0">
                <a:solidFill>
                  <a:schemeClr val="tx1"/>
                </a:solidFill>
              </a:rPr>
              <a:t>businesses reached a formal pitch</a:t>
            </a:r>
            <a:endParaRPr lang="en-US" sz="1500" dirty="0"/>
          </a:p>
        </p:txBody>
      </p:sp>
      <p:sp>
        <p:nvSpPr>
          <p:cNvPr id="7" name="text-72"/>
          <p:cNvSpPr txBox="1"/>
          <p:nvPr/>
        </p:nvSpPr>
        <p:spPr>
          <a:xfrm>
            <a:off x="777240" y="3794760"/>
            <a:ext cx="2194560" cy="274320"/>
          </a:xfrm>
          <a:prstGeom prst="rect">
            <a:avLst/>
          </a:prstGeom>
          <a:noFill/>
          <a:ln/>
        </p:spPr>
        <p:txBody>
          <a:bodyPr wrap="square" lIns="0" tIns="0" rIns="0" bIns="0" rtlCol="0" anchor="t"/>
          <a:lstStyle/>
          <a:p>
            <a:pPr indent="0" marL="0">
              <a:buNone/>
            </a:pPr>
            <a:r>
              <a:rPr lang="en-US" sz="1100" i="1" dirty="0">
                <a:solidFill>
                  <a:schemeClr val="accent3"/>
                </a:solidFill>
              </a:rPr>
              <a:t>v1 recruitment</a:t>
            </a:r>
            <a:endParaRPr lang="en-US" sz="1100" dirty="0"/>
          </a:p>
        </p:txBody>
      </p:sp>
      <p:sp>
        <p:nvSpPr>
          <p:cNvPr id="8" name="card-73"/>
          <p:cNvSpPr/>
          <p:nvPr/>
        </p:nvSpPr>
        <p:spPr>
          <a:xfrm>
            <a:off x="3383280" y="1463040"/>
            <a:ext cx="2606040" cy="2743200"/>
          </a:xfrm>
          <a:prstGeom prst="roundRect">
            <a:avLst>
              <a:gd name="adj" fmla="val 2807"/>
            </a:avLst>
          </a:prstGeom>
          <a:solidFill>
            <a:schemeClr val="bg2"/>
          </a:solidFill>
          <a:ln w="12700">
            <a:solidFill>
              <a:schemeClr val="bg2"/>
            </a:solidFill>
            <a:prstDash val="solid"/>
          </a:ln>
        </p:spPr>
      </p:sp>
      <p:sp>
        <p:nvSpPr>
          <p:cNvPr id="9" name="text-74"/>
          <p:cNvSpPr txBox="1"/>
          <p:nvPr/>
        </p:nvSpPr>
        <p:spPr>
          <a:xfrm>
            <a:off x="3611880" y="169164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3/17</a:t>
            </a:r>
            <a:endParaRPr lang="en-US" sz="4800" dirty="0"/>
          </a:p>
        </p:txBody>
      </p:sp>
      <p:sp>
        <p:nvSpPr>
          <p:cNvPr id="10" name="text-75"/>
          <p:cNvSpPr txBox="1"/>
          <p:nvPr/>
        </p:nvSpPr>
        <p:spPr>
          <a:xfrm>
            <a:off x="3611880" y="2697480"/>
            <a:ext cx="2194560" cy="1097280"/>
          </a:xfrm>
          <a:prstGeom prst="rect">
            <a:avLst/>
          </a:prstGeom>
          <a:noFill/>
          <a:ln/>
        </p:spPr>
        <p:txBody>
          <a:bodyPr wrap="square" lIns="0" tIns="0" rIns="0" bIns="0" rtlCol="0" anchor="t"/>
          <a:lstStyle/>
          <a:p>
            <a:pPr indent="0" marL="0">
              <a:buNone/>
            </a:pPr>
            <a:r>
              <a:rPr lang="en-US" sz="1500" dirty="0">
                <a:solidFill>
                  <a:schemeClr val="tx1"/>
                </a:solidFill>
              </a:rPr>
              <a:t>students say payment motivates them (vs 11/17 for clear scope)</a:t>
            </a:r>
            <a:endParaRPr lang="en-US" sz="1500" dirty="0"/>
          </a:p>
        </p:txBody>
      </p:sp>
      <p:sp>
        <p:nvSpPr>
          <p:cNvPr id="11" name="text-76"/>
          <p:cNvSpPr txBox="1"/>
          <p:nvPr/>
        </p:nvSpPr>
        <p:spPr>
          <a:xfrm>
            <a:off x="3611880" y="3794760"/>
            <a:ext cx="2194560" cy="274320"/>
          </a:xfrm>
          <a:prstGeom prst="rect">
            <a:avLst/>
          </a:prstGeom>
          <a:noFill/>
          <a:ln/>
        </p:spPr>
        <p:txBody>
          <a:bodyPr wrap="square" lIns="0" tIns="0" rIns="0" bIns="0" rtlCol="0" anchor="t"/>
          <a:lstStyle/>
          <a:p>
            <a:pPr indent="0" marL="0">
              <a:buNone/>
            </a:pPr>
            <a:r>
              <a:rPr lang="en-US" sz="1100" i="1" dirty="0">
                <a:solidFill>
                  <a:schemeClr val="accent3"/>
                </a:solidFill>
              </a:rPr>
              <a:t>Survey Q5</a:t>
            </a:r>
            <a:endParaRPr lang="en-US" sz="1100" dirty="0"/>
          </a:p>
        </p:txBody>
      </p:sp>
      <p:sp>
        <p:nvSpPr>
          <p:cNvPr id="12" name="card-77"/>
          <p:cNvSpPr/>
          <p:nvPr/>
        </p:nvSpPr>
        <p:spPr>
          <a:xfrm>
            <a:off x="6217920" y="1463040"/>
            <a:ext cx="2606040" cy="2743200"/>
          </a:xfrm>
          <a:prstGeom prst="roundRect">
            <a:avLst>
              <a:gd name="adj" fmla="val 2807"/>
            </a:avLst>
          </a:prstGeom>
          <a:solidFill>
            <a:schemeClr val="bg2"/>
          </a:solidFill>
          <a:ln w="12700">
            <a:solidFill>
              <a:schemeClr val="bg2"/>
            </a:solidFill>
            <a:prstDash val="solid"/>
          </a:ln>
        </p:spPr>
      </p:sp>
      <p:sp>
        <p:nvSpPr>
          <p:cNvPr id="13" name="text-78"/>
          <p:cNvSpPr txBox="1"/>
          <p:nvPr/>
        </p:nvSpPr>
        <p:spPr>
          <a:xfrm>
            <a:off x="6446520" y="169164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12/17</a:t>
            </a:r>
            <a:endParaRPr lang="en-US" sz="4800" dirty="0"/>
          </a:p>
        </p:txBody>
      </p:sp>
      <p:sp>
        <p:nvSpPr>
          <p:cNvPr id="14" name="text-79"/>
          <p:cNvSpPr txBox="1"/>
          <p:nvPr/>
        </p:nvSpPr>
        <p:spPr>
          <a:xfrm>
            <a:off x="6446520" y="2697480"/>
            <a:ext cx="2194560" cy="1097280"/>
          </a:xfrm>
          <a:prstGeom prst="rect">
            <a:avLst/>
          </a:prstGeom>
          <a:noFill/>
          <a:ln/>
        </p:spPr>
        <p:txBody>
          <a:bodyPr wrap="square" lIns="0" tIns="0" rIns="0" bIns="0" rtlCol="0" anchor="t"/>
          <a:lstStyle/>
          <a:p>
            <a:pPr indent="0" marL="0">
              <a:buNone/>
            </a:pPr>
            <a:r>
              <a:rPr lang="en-US" sz="1500" dirty="0">
                <a:solidFill>
                  <a:schemeClr val="tx1"/>
                </a:solidFill>
              </a:rPr>
              <a:t>can give 4 hours a week or less; none can give 8+</a:t>
            </a:r>
            <a:endParaRPr lang="en-US" sz="1500" dirty="0"/>
          </a:p>
        </p:txBody>
      </p:sp>
      <p:sp>
        <p:nvSpPr>
          <p:cNvPr id="15" name="text-80"/>
          <p:cNvSpPr txBox="1"/>
          <p:nvPr/>
        </p:nvSpPr>
        <p:spPr>
          <a:xfrm>
            <a:off x="6446520" y="3794760"/>
            <a:ext cx="2194560" cy="274320"/>
          </a:xfrm>
          <a:prstGeom prst="rect">
            <a:avLst/>
          </a:prstGeom>
          <a:noFill/>
          <a:ln/>
        </p:spPr>
        <p:txBody>
          <a:bodyPr wrap="square" lIns="0" tIns="0" rIns="0" bIns="0" rtlCol="0" anchor="t"/>
          <a:lstStyle/>
          <a:p>
            <a:pPr indent="0" marL="0">
              <a:buNone/>
            </a:pPr>
            <a:r>
              <a:rPr lang="en-US" sz="1100" i="1" dirty="0">
                <a:solidFill>
                  <a:schemeClr val="accent3"/>
                </a:solidFill>
              </a:rPr>
              <a:t>Survey Q6</a:t>
            </a:r>
            <a:endParaRPr lang="en-US" sz="1100" dirty="0"/>
          </a:p>
        </p:txBody>
      </p:sp>
      <p:sp>
        <p:nvSpPr>
          <p:cNvPr id="16" name="card-81"/>
          <p:cNvSpPr/>
          <p:nvPr/>
        </p:nvSpPr>
        <p:spPr>
          <a:xfrm>
            <a:off x="9052560" y="1463040"/>
            <a:ext cx="2606040" cy="2743200"/>
          </a:xfrm>
          <a:prstGeom prst="roundRect">
            <a:avLst>
              <a:gd name="adj" fmla="val 2807"/>
            </a:avLst>
          </a:prstGeom>
          <a:solidFill>
            <a:schemeClr val="bg2"/>
          </a:solidFill>
          <a:ln w="12700">
            <a:solidFill>
              <a:schemeClr val="bg2"/>
            </a:solidFill>
            <a:prstDash val="solid"/>
          </a:ln>
        </p:spPr>
      </p:sp>
      <p:sp>
        <p:nvSpPr>
          <p:cNvPr id="17" name="text-82"/>
          <p:cNvSpPr txBox="1"/>
          <p:nvPr/>
        </p:nvSpPr>
        <p:spPr>
          <a:xfrm>
            <a:off x="9281160" y="169164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14/17</a:t>
            </a:r>
            <a:endParaRPr lang="en-US" sz="4800" dirty="0"/>
          </a:p>
        </p:txBody>
      </p:sp>
      <p:sp>
        <p:nvSpPr>
          <p:cNvPr id="18" name="text-83"/>
          <p:cNvSpPr txBox="1"/>
          <p:nvPr/>
        </p:nvSpPr>
        <p:spPr>
          <a:xfrm>
            <a:off x="9281160" y="2697480"/>
            <a:ext cx="2194560" cy="1097280"/>
          </a:xfrm>
          <a:prstGeom prst="rect">
            <a:avLst/>
          </a:prstGeom>
          <a:noFill/>
          <a:ln/>
        </p:spPr>
        <p:txBody>
          <a:bodyPr wrap="square" lIns="0" tIns="0" rIns="0" bIns="0" rtlCol="0" anchor="t"/>
          <a:lstStyle/>
          <a:p>
            <a:pPr indent="0" marL="0">
              <a:buNone/>
            </a:pPr>
            <a:r>
              <a:rPr lang="en-US" sz="1500" dirty="0">
                <a:solidFill>
                  <a:schemeClr val="tx1"/>
                </a:solidFill>
              </a:rPr>
              <a:t>struggle to explain their personal contribution</a:t>
            </a:r>
            <a:endParaRPr lang="en-US" sz="1500" dirty="0"/>
          </a:p>
        </p:txBody>
      </p:sp>
      <p:sp>
        <p:nvSpPr>
          <p:cNvPr id="19" name="text-84"/>
          <p:cNvSpPr txBox="1"/>
          <p:nvPr/>
        </p:nvSpPr>
        <p:spPr>
          <a:xfrm>
            <a:off x="9281160" y="3794760"/>
            <a:ext cx="2194560" cy="274320"/>
          </a:xfrm>
          <a:prstGeom prst="rect">
            <a:avLst/>
          </a:prstGeom>
          <a:noFill/>
          <a:ln/>
        </p:spPr>
        <p:txBody>
          <a:bodyPr wrap="square" lIns="0" tIns="0" rIns="0" bIns="0" rtlCol="0" anchor="t"/>
          <a:lstStyle/>
          <a:p>
            <a:pPr indent="0" marL="0">
              <a:buNone/>
            </a:pPr>
            <a:r>
              <a:rPr lang="en-US" sz="1100" i="1" dirty="0">
                <a:solidFill>
                  <a:schemeClr val="accent3"/>
                </a:solidFill>
              </a:rPr>
              <a:t>Survey Q2</a:t>
            </a:r>
            <a:endParaRPr lang="en-US" sz="1100" dirty="0"/>
          </a:p>
        </p:txBody>
      </p:sp>
      <p:sp>
        <p:nvSpPr>
          <p:cNvPr id="20" name="card-85"/>
          <p:cNvSpPr/>
          <p:nvPr/>
        </p:nvSpPr>
        <p:spPr>
          <a:xfrm>
            <a:off x="548640" y="4480560"/>
            <a:ext cx="11064240" cy="1325880"/>
          </a:xfrm>
          <a:prstGeom prst="roundRect">
            <a:avLst>
              <a:gd name="adj" fmla="val 5517"/>
            </a:avLst>
          </a:prstGeom>
          <a:solidFill>
            <a:schemeClr val="tx2"/>
          </a:solidFill>
          <a:ln w="12700">
            <a:solidFill>
              <a:schemeClr val="tx2"/>
            </a:solidFill>
            <a:prstDash val="solid"/>
          </a:ln>
        </p:spPr>
      </p:sp>
      <p:sp>
        <p:nvSpPr>
          <p:cNvPr id="21" name="badge-86"/>
          <p:cNvSpPr/>
          <p:nvPr/>
        </p:nvSpPr>
        <p:spPr>
          <a:xfrm>
            <a:off x="822960" y="4727448"/>
            <a:ext cx="822960" cy="822960"/>
          </a:xfrm>
          <a:prstGeom prst="ellipse">
            <a:avLst/>
          </a:prstGeom>
          <a:solidFill>
            <a:schemeClr val="accent3"/>
          </a:solidFill>
          <a:ln w="12700">
            <a:solidFill>
              <a:schemeClr val="accent3"/>
            </a:solidFill>
            <a:prstDash val="solid"/>
          </a:ln>
        </p:spPr>
      </p:sp>
      <p:pic>
        <p:nvPicPr>
          <p:cNvPr id="22" name="icon-87" descr="preencoded.png">    </p:cNvPr>
          <p:cNvPicPr>
            <a:picLocks noChangeAspect="1"/>
          </p:cNvPicPr>
          <p:nvPr/>
        </p:nvPicPr>
        <p:blipFill>
          <a:blip r:embed="rId1"/>
          <a:stretch>
            <a:fillRect/>
          </a:stretch>
        </p:blipFill>
        <p:spPr>
          <a:xfrm>
            <a:off x="1020470" y="4924958"/>
            <a:ext cx="427939" cy="427939"/>
          </a:xfrm>
          <a:prstGeom prst="rect">
            <a:avLst/>
          </a:prstGeom>
        </p:spPr>
      </p:pic>
      <p:sp>
        <p:nvSpPr>
          <p:cNvPr id="23" name="text-88"/>
          <p:cNvSpPr txBox="1"/>
          <p:nvPr/>
        </p:nvSpPr>
        <p:spPr>
          <a:xfrm>
            <a:off x="1920240" y="4480560"/>
            <a:ext cx="9418320" cy="1325880"/>
          </a:xfrm>
          <a:prstGeom prst="rect">
            <a:avLst/>
          </a:prstGeom>
          <a:noFill/>
          <a:ln/>
        </p:spPr>
        <p:txBody>
          <a:bodyPr wrap="square" lIns="0" tIns="0" rIns="0" bIns="0" rtlCol="0" anchor="ctr"/>
          <a:lstStyle/>
          <a:p>
            <a:pPr indent="0" marL="0">
              <a:buNone/>
            </a:pPr>
            <a:r>
              <a:rPr lang="en-US" sz="1700" b="1" dirty="0">
                <a:solidFill>
                  <a:schemeClr val="accent2"/>
                </a:solidFill>
              </a:rPr>
              <a:t>Nolita's manager (UV-B02): </a:t>
            </a:r>
            <a:pPr indent="0" marL="0">
              <a:buNone/>
            </a:pPr>
            <a:r>
              <a:rPr lang="en-US" sz="1700" dirty="0">
                <a:solidFill>
                  <a:schemeClr val="bg1"/>
                </a:solidFill>
              </a:rPr>
              <a:t>no current project, and even cheap student work costs time to brief and review.</a:t>
            </a:r>
            <a:endParaRPr lang="en-US" sz="1700" dirty="0"/>
          </a:p>
        </p:txBody>
      </p:sp>
      <p:sp>
        <p:nvSpPr>
          <p:cNvPr id="24" name="text-8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survey-summary-2026-10-12.md (n = 17, unscreened); interviews-2026-09-22.md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Same student, same job; new customer and new product</a:t>
            </a:r>
            <a:endParaRPr lang="en-US" sz="3200" dirty="0"/>
          </a:p>
        </p:txBody>
      </p:sp>
      <p:sp>
        <p:nvSpPr>
          <p:cNvPr id="4" name="text-90"/>
          <p:cNvSpPr txBox="1"/>
          <p:nvPr/>
        </p:nvSpPr>
        <p:spPr>
          <a:xfrm>
            <a:off x="3291840" y="1417320"/>
            <a:ext cx="3840480" cy="365760"/>
          </a:xfrm>
          <a:prstGeom prst="rect">
            <a:avLst/>
          </a:prstGeom>
          <a:noFill/>
          <a:ln/>
        </p:spPr>
        <p:txBody>
          <a:bodyPr wrap="square" lIns="0" tIns="0" rIns="0" bIns="0" rtlCol="0" anchor="t"/>
          <a:lstStyle/>
          <a:p>
            <a:pPr indent="0" marL="0">
              <a:buNone/>
            </a:pPr>
            <a:r>
              <a:rPr lang="en-US" sz="1600" b="1" dirty="0">
                <a:solidFill>
                  <a:schemeClr val="accent3"/>
                </a:solidFill>
              </a:rPr>
              <a:t>v1  ·  paid projects</a:t>
            </a:r>
            <a:endParaRPr lang="en-US" sz="1600" dirty="0"/>
          </a:p>
        </p:txBody>
      </p:sp>
      <p:sp>
        <p:nvSpPr>
          <p:cNvPr id="5" name="text-91"/>
          <p:cNvSpPr txBox="1"/>
          <p:nvPr/>
        </p:nvSpPr>
        <p:spPr>
          <a:xfrm>
            <a:off x="7589520" y="1417320"/>
            <a:ext cx="4023360" cy="365760"/>
          </a:xfrm>
          <a:prstGeom prst="rect">
            <a:avLst/>
          </a:prstGeom>
          <a:noFill/>
          <a:ln/>
        </p:spPr>
        <p:txBody>
          <a:bodyPr wrap="square" lIns="0" tIns="0" rIns="0" bIns="0" rtlCol="0" anchor="t"/>
          <a:lstStyle/>
          <a:p>
            <a:pPr indent="0" marL="0">
              <a:buNone/>
            </a:pPr>
            <a:r>
              <a:rPr lang="en-US" sz="1600" b="1" dirty="0">
                <a:solidFill>
                  <a:schemeClr val="accent1"/>
                </a:solidFill>
              </a:rPr>
              <a:t>v2  ·  company challenges</a:t>
            </a:r>
            <a:endParaRPr lang="en-US" sz="1600" dirty="0"/>
          </a:p>
        </p:txBody>
      </p:sp>
      <p:sp>
        <p:nvSpPr>
          <p:cNvPr id="6" name="text-92"/>
          <p:cNvSpPr txBox="1"/>
          <p:nvPr/>
        </p:nvSpPr>
        <p:spPr>
          <a:xfrm>
            <a:off x="548640" y="1874520"/>
            <a:ext cx="2560320" cy="731520"/>
          </a:xfrm>
          <a:prstGeom prst="rect">
            <a:avLst/>
          </a:prstGeom>
          <a:noFill/>
          <a:ln/>
        </p:spPr>
        <p:txBody>
          <a:bodyPr wrap="square" lIns="0" tIns="0" rIns="0" bIns="0" rtlCol="0" anchor="ctr"/>
          <a:lstStyle/>
          <a:p>
            <a:pPr indent="0" marL="0">
              <a:buNone/>
            </a:pPr>
            <a:r>
              <a:rPr lang="en-US" sz="1500" b="1" dirty="0">
                <a:solidFill>
                  <a:schemeClr val="tx2"/>
                </a:solidFill>
              </a:rPr>
              <a:t>Who sets the work</a:t>
            </a:r>
            <a:endParaRPr lang="en-US" sz="1500" dirty="0"/>
          </a:p>
        </p:txBody>
      </p:sp>
      <p:sp>
        <p:nvSpPr>
          <p:cNvPr id="7" name="card-93"/>
          <p:cNvSpPr/>
          <p:nvPr/>
        </p:nvSpPr>
        <p:spPr>
          <a:xfrm>
            <a:off x="3291840" y="1874520"/>
            <a:ext cx="3840480" cy="731520"/>
          </a:xfrm>
          <a:prstGeom prst="roundRect">
            <a:avLst>
              <a:gd name="adj" fmla="val 10000"/>
            </a:avLst>
          </a:prstGeom>
          <a:solidFill>
            <a:schemeClr val="bg2"/>
          </a:solidFill>
          <a:ln w="12700">
            <a:solidFill>
              <a:schemeClr val="bg2"/>
            </a:solidFill>
            <a:prstDash val="solid"/>
          </a:ln>
        </p:spPr>
      </p:sp>
      <p:sp>
        <p:nvSpPr>
          <p:cNvPr id="8" name="text-94"/>
          <p:cNvSpPr txBox="1"/>
          <p:nvPr/>
        </p:nvSpPr>
        <p:spPr>
          <a:xfrm>
            <a:off x="3474720" y="1874520"/>
            <a:ext cx="3566160" cy="731520"/>
          </a:xfrm>
          <a:prstGeom prst="rect">
            <a:avLst/>
          </a:prstGeom>
          <a:noFill/>
          <a:ln/>
        </p:spPr>
        <p:txBody>
          <a:bodyPr wrap="square" lIns="0" tIns="0" rIns="0" bIns="0" rtlCol="0" anchor="ctr"/>
          <a:lstStyle/>
          <a:p>
            <a:pPr indent="0" marL="0">
              <a:buNone/>
            </a:pPr>
            <a:r>
              <a:rPr lang="en-US" sz="1400" dirty="0">
                <a:solidFill>
                  <a:schemeClr val="accent3"/>
                </a:solidFill>
              </a:rPr>
              <a:t>Small businesses with a paid project</a:t>
            </a:r>
            <a:endParaRPr lang="en-US" sz="1400" dirty="0"/>
          </a:p>
        </p:txBody>
      </p:sp>
      <p:sp>
        <p:nvSpPr>
          <p:cNvPr id="9" name="dot-95"/>
          <p:cNvSpPr/>
          <p:nvPr/>
        </p:nvSpPr>
        <p:spPr>
          <a:xfrm>
            <a:off x="7150608" y="2057400"/>
            <a:ext cx="384048" cy="384048"/>
          </a:xfrm>
          <a:prstGeom prst="ellipse">
            <a:avLst/>
          </a:prstGeom>
          <a:solidFill>
            <a:schemeClr val="accent1"/>
          </a:solidFill>
          <a:ln w="12700">
            <a:solidFill>
              <a:schemeClr val="accent1"/>
            </a:solidFill>
            <a:prstDash val="solid"/>
          </a:ln>
        </p:spPr>
      </p:sp>
      <p:pic>
        <p:nvPicPr>
          <p:cNvPr id="10" name="arrow-96" descr="preencoded.png">    </p:cNvPr>
          <p:cNvPicPr>
            <a:picLocks noChangeAspect="1"/>
          </p:cNvPicPr>
          <p:nvPr/>
        </p:nvPicPr>
        <p:blipFill>
          <a:blip r:embed="rId1"/>
          <a:stretch>
            <a:fillRect/>
          </a:stretch>
        </p:blipFill>
        <p:spPr>
          <a:xfrm>
            <a:off x="7242048" y="2148840"/>
            <a:ext cx="201168" cy="201168"/>
          </a:xfrm>
          <a:prstGeom prst="rect">
            <a:avLst/>
          </a:prstGeom>
        </p:spPr>
      </p:pic>
      <p:sp>
        <p:nvSpPr>
          <p:cNvPr id="11" name="card-97"/>
          <p:cNvSpPr/>
          <p:nvPr/>
        </p:nvSpPr>
        <p:spPr>
          <a:xfrm>
            <a:off x="7589520" y="1874520"/>
            <a:ext cx="4023360" cy="731520"/>
          </a:xfrm>
          <a:prstGeom prst="roundRect">
            <a:avLst>
              <a:gd name="adj" fmla="val 10000"/>
            </a:avLst>
          </a:prstGeom>
          <a:solidFill>
            <a:schemeClr val="accent5"/>
          </a:solidFill>
          <a:ln w="12700">
            <a:solidFill>
              <a:schemeClr val="accent5"/>
            </a:solidFill>
            <a:prstDash val="solid"/>
          </a:ln>
        </p:spPr>
      </p:sp>
      <p:sp>
        <p:nvSpPr>
          <p:cNvPr id="12" name="text-98"/>
          <p:cNvSpPr txBox="1"/>
          <p:nvPr/>
        </p:nvSpPr>
        <p:spPr>
          <a:xfrm>
            <a:off x="7772400" y="1874520"/>
            <a:ext cx="3749040" cy="731520"/>
          </a:xfrm>
          <a:prstGeom prst="rect">
            <a:avLst/>
          </a:prstGeom>
          <a:noFill/>
          <a:ln/>
        </p:spPr>
        <p:txBody>
          <a:bodyPr wrap="square" lIns="0" tIns="0" rIns="0" bIns="0" rtlCol="0" anchor="ctr"/>
          <a:lstStyle/>
          <a:p>
            <a:pPr indent="0" marL="0">
              <a:buNone/>
            </a:pPr>
            <a:r>
              <a:rPr lang="en-US" sz="1400" b="1" dirty="0">
                <a:solidFill>
                  <a:schemeClr val="tx2"/>
                </a:solidFill>
              </a:rPr>
              <a:t>Companies that already hire juniors set a short challenge</a:t>
            </a:r>
            <a:endParaRPr lang="en-US" sz="1400" dirty="0"/>
          </a:p>
        </p:txBody>
      </p:sp>
      <p:sp>
        <p:nvSpPr>
          <p:cNvPr id="13" name="text-99"/>
          <p:cNvSpPr txBox="1"/>
          <p:nvPr/>
        </p:nvSpPr>
        <p:spPr>
          <a:xfrm>
            <a:off x="548640" y="2743200"/>
            <a:ext cx="2560320" cy="731520"/>
          </a:xfrm>
          <a:prstGeom prst="rect">
            <a:avLst/>
          </a:prstGeom>
          <a:noFill/>
          <a:ln/>
        </p:spPr>
        <p:txBody>
          <a:bodyPr wrap="square" lIns="0" tIns="0" rIns="0" bIns="0" rtlCol="0" anchor="ctr"/>
          <a:lstStyle/>
          <a:p>
            <a:pPr indent="0" marL="0">
              <a:buNone/>
            </a:pPr>
            <a:r>
              <a:rPr lang="en-US" sz="1500" b="1" dirty="0">
                <a:solidFill>
                  <a:schemeClr val="tx2"/>
                </a:solidFill>
              </a:rPr>
              <a:t>Size of the work</a:t>
            </a:r>
            <a:endParaRPr lang="en-US" sz="1500" dirty="0"/>
          </a:p>
        </p:txBody>
      </p:sp>
      <p:sp>
        <p:nvSpPr>
          <p:cNvPr id="14" name="card-100"/>
          <p:cNvSpPr/>
          <p:nvPr/>
        </p:nvSpPr>
        <p:spPr>
          <a:xfrm>
            <a:off x="3291840" y="2743200"/>
            <a:ext cx="3840480" cy="731520"/>
          </a:xfrm>
          <a:prstGeom prst="roundRect">
            <a:avLst>
              <a:gd name="adj" fmla="val 10000"/>
            </a:avLst>
          </a:prstGeom>
          <a:solidFill>
            <a:schemeClr val="bg2"/>
          </a:solidFill>
          <a:ln w="12700">
            <a:solidFill>
              <a:schemeClr val="bg2"/>
            </a:solidFill>
            <a:prstDash val="solid"/>
          </a:ln>
        </p:spPr>
      </p:sp>
      <p:sp>
        <p:nvSpPr>
          <p:cNvPr id="15" name="text-101"/>
          <p:cNvSpPr txBox="1"/>
          <p:nvPr/>
        </p:nvSpPr>
        <p:spPr>
          <a:xfrm>
            <a:off x="3474720" y="2743200"/>
            <a:ext cx="3566160" cy="731520"/>
          </a:xfrm>
          <a:prstGeom prst="rect">
            <a:avLst/>
          </a:prstGeom>
          <a:noFill/>
          <a:ln/>
        </p:spPr>
        <p:txBody>
          <a:bodyPr wrap="square" lIns="0" tIns="0" rIns="0" bIns="0" rtlCol="0" anchor="ctr"/>
          <a:lstStyle/>
          <a:p>
            <a:pPr indent="0" marL="0">
              <a:buNone/>
            </a:pPr>
            <a:r>
              <a:rPr lang="en-US" sz="1400" dirty="0">
                <a:solidFill>
                  <a:schemeClr val="accent3"/>
                </a:solidFill>
              </a:rPr>
              <a:t>Multi-week client project</a:t>
            </a:r>
            <a:endParaRPr lang="en-US" sz="1400" dirty="0"/>
          </a:p>
        </p:txBody>
      </p:sp>
      <p:sp>
        <p:nvSpPr>
          <p:cNvPr id="16" name="dot-102"/>
          <p:cNvSpPr/>
          <p:nvPr/>
        </p:nvSpPr>
        <p:spPr>
          <a:xfrm>
            <a:off x="7150608" y="2926080"/>
            <a:ext cx="384048" cy="384048"/>
          </a:xfrm>
          <a:prstGeom prst="ellipse">
            <a:avLst/>
          </a:prstGeom>
          <a:solidFill>
            <a:schemeClr val="accent1"/>
          </a:solidFill>
          <a:ln w="12700">
            <a:solidFill>
              <a:schemeClr val="accent1"/>
            </a:solidFill>
            <a:prstDash val="solid"/>
          </a:ln>
        </p:spPr>
      </p:sp>
      <p:pic>
        <p:nvPicPr>
          <p:cNvPr id="17" name="arrow-103" descr="preencoded.png">    </p:cNvPr>
          <p:cNvPicPr>
            <a:picLocks noChangeAspect="1"/>
          </p:cNvPicPr>
          <p:nvPr/>
        </p:nvPicPr>
        <p:blipFill>
          <a:blip r:embed="rId2"/>
          <a:stretch>
            <a:fillRect/>
          </a:stretch>
        </p:blipFill>
        <p:spPr>
          <a:xfrm>
            <a:off x="7242048" y="3017520"/>
            <a:ext cx="201168" cy="201168"/>
          </a:xfrm>
          <a:prstGeom prst="rect">
            <a:avLst/>
          </a:prstGeom>
        </p:spPr>
      </p:pic>
      <p:sp>
        <p:nvSpPr>
          <p:cNvPr id="18" name="card-104"/>
          <p:cNvSpPr/>
          <p:nvPr/>
        </p:nvSpPr>
        <p:spPr>
          <a:xfrm>
            <a:off x="7589520" y="2743200"/>
            <a:ext cx="4023360" cy="731520"/>
          </a:xfrm>
          <a:prstGeom prst="roundRect">
            <a:avLst>
              <a:gd name="adj" fmla="val 10000"/>
            </a:avLst>
          </a:prstGeom>
          <a:solidFill>
            <a:schemeClr val="accent5"/>
          </a:solidFill>
          <a:ln w="12700">
            <a:solidFill>
              <a:schemeClr val="accent5"/>
            </a:solidFill>
            <a:prstDash val="solid"/>
          </a:ln>
        </p:spPr>
      </p:sp>
      <p:sp>
        <p:nvSpPr>
          <p:cNvPr id="19" name="text-105"/>
          <p:cNvSpPr txBox="1"/>
          <p:nvPr/>
        </p:nvSpPr>
        <p:spPr>
          <a:xfrm>
            <a:off x="7772400" y="2743200"/>
            <a:ext cx="3749040" cy="731520"/>
          </a:xfrm>
          <a:prstGeom prst="rect">
            <a:avLst/>
          </a:prstGeom>
          <a:noFill/>
          <a:ln/>
        </p:spPr>
        <p:txBody>
          <a:bodyPr wrap="square" lIns="0" tIns="0" rIns="0" bIns="0" rtlCol="0" anchor="ctr"/>
          <a:lstStyle/>
          <a:p>
            <a:pPr indent="0" marL="0">
              <a:buNone/>
            </a:pPr>
            <a:r>
              <a:rPr lang="en-US" sz="1400" b="1" dirty="0">
                <a:solidFill>
                  <a:schemeClr val="tx2"/>
                </a:solidFill>
              </a:rPr>
              <a:t>2–7 hour challenge (pilot: 4 h)</a:t>
            </a:r>
            <a:endParaRPr lang="en-US" sz="1400" dirty="0"/>
          </a:p>
        </p:txBody>
      </p:sp>
      <p:sp>
        <p:nvSpPr>
          <p:cNvPr id="20" name="text-106"/>
          <p:cNvSpPr txBox="1"/>
          <p:nvPr/>
        </p:nvSpPr>
        <p:spPr>
          <a:xfrm>
            <a:off x="548640" y="3611880"/>
            <a:ext cx="2560320" cy="731520"/>
          </a:xfrm>
          <a:prstGeom prst="rect">
            <a:avLst/>
          </a:prstGeom>
          <a:noFill/>
          <a:ln/>
        </p:spPr>
        <p:txBody>
          <a:bodyPr wrap="square" lIns="0" tIns="0" rIns="0" bIns="0" rtlCol="0" anchor="ctr"/>
          <a:lstStyle/>
          <a:p>
            <a:pPr indent="0" marL="0">
              <a:buNone/>
            </a:pPr>
            <a:r>
              <a:rPr lang="en-US" sz="1500" b="1" dirty="0">
                <a:solidFill>
                  <a:schemeClr val="tx2"/>
                </a:solidFill>
              </a:rPr>
              <a:t>What the student gets</a:t>
            </a:r>
            <a:endParaRPr lang="en-US" sz="1500" dirty="0"/>
          </a:p>
        </p:txBody>
      </p:sp>
      <p:sp>
        <p:nvSpPr>
          <p:cNvPr id="21" name="card-107"/>
          <p:cNvSpPr/>
          <p:nvPr/>
        </p:nvSpPr>
        <p:spPr>
          <a:xfrm>
            <a:off x="3291840" y="3611880"/>
            <a:ext cx="3840480" cy="731520"/>
          </a:xfrm>
          <a:prstGeom prst="roundRect">
            <a:avLst>
              <a:gd name="adj" fmla="val 10000"/>
            </a:avLst>
          </a:prstGeom>
          <a:solidFill>
            <a:schemeClr val="bg2"/>
          </a:solidFill>
          <a:ln w="12700">
            <a:solidFill>
              <a:schemeClr val="bg2"/>
            </a:solidFill>
            <a:prstDash val="solid"/>
          </a:ln>
        </p:spPr>
      </p:sp>
      <p:sp>
        <p:nvSpPr>
          <p:cNvPr id="22" name="text-108"/>
          <p:cNvSpPr txBox="1"/>
          <p:nvPr/>
        </p:nvSpPr>
        <p:spPr>
          <a:xfrm>
            <a:off x="3474720" y="3611880"/>
            <a:ext cx="3566160" cy="731520"/>
          </a:xfrm>
          <a:prstGeom prst="rect">
            <a:avLst/>
          </a:prstGeom>
          <a:noFill/>
          <a:ln/>
        </p:spPr>
        <p:txBody>
          <a:bodyPr wrap="square" lIns="0" tIns="0" rIns="0" bIns="0" rtlCol="0" anchor="ctr"/>
          <a:lstStyle/>
          <a:p>
            <a:pPr indent="0" marL="0">
              <a:buNone/>
            </a:pPr>
            <a:r>
              <a:rPr lang="en-US" sz="1400" dirty="0">
                <a:solidFill>
                  <a:schemeClr val="accent3"/>
                </a:solidFill>
              </a:rPr>
              <a:t>Cash plus experience</a:t>
            </a:r>
            <a:endParaRPr lang="en-US" sz="1400" dirty="0"/>
          </a:p>
        </p:txBody>
      </p:sp>
      <p:sp>
        <p:nvSpPr>
          <p:cNvPr id="23" name="dot-109"/>
          <p:cNvSpPr/>
          <p:nvPr/>
        </p:nvSpPr>
        <p:spPr>
          <a:xfrm>
            <a:off x="7150608" y="3794760"/>
            <a:ext cx="384048" cy="384048"/>
          </a:xfrm>
          <a:prstGeom prst="ellipse">
            <a:avLst/>
          </a:prstGeom>
          <a:solidFill>
            <a:schemeClr val="accent1"/>
          </a:solidFill>
          <a:ln w="12700">
            <a:solidFill>
              <a:schemeClr val="accent1"/>
            </a:solidFill>
            <a:prstDash val="solid"/>
          </a:ln>
        </p:spPr>
      </p:sp>
      <p:pic>
        <p:nvPicPr>
          <p:cNvPr id="24" name="arrow-110" descr="preencoded.png">    </p:cNvPr>
          <p:cNvPicPr>
            <a:picLocks noChangeAspect="1"/>
          </p:cNvPicPr>
          <p:nvPr/>
        </p:nvPicPr>
        <p:blipFill>
          <a:blip r:embed="rId3"/>
          <a:stretch>
            <a:fillRect/>
          </a:stretch>
        </p:blipFill>
        <p:spPr>
          <a:xfrm>
            <a:off x="7242048" y="3886200"/>
            <a:ext cx="201168" cy="201168"/>
          </a:xfrm>
          <a:prstGeom prst="rect">
            <a:avLst/>
          </a:prstGeom>
        </p:spPr>
      </p:pic>
      <p:sp>
        <p:nvSpPr>
          <p:cNvPr id="25" name="card-111"/>
          <p:cNvSpPr/>
          <p:nvPr/>
        </p:nvSpPr>
        <p:spPr>
          <a:xfrm>
            <a:off x="7589520" y="3611880"/>
            <a:ext cx="4023360" cy="731520"/>
          </a:xfrm>
          <a:prstGeom prst="roundRect">
            <a:avLst>
              <a:gd name="adj" fmla="val 10000"/>
            </a:avLst>
          </a:prstGeom>
          <a:solidFill>
            <a:schemeClr val="accent5"/>
          </a:solidFill>
          <a:ln w="12700">
            <a:solidFill>
              <a:schemeClr val="accent5"/>
            </a:solidFill>
            <a:prstDash val="solid"/>
          </a:ln>
        </p:spPr>
      </p:sp>
      <p:sp>
        <p:nvSpPr>
          <p:cNvPr id="26" name="text-112"/>
          <p:cNvSpPr txBox="1"/>
          <p:nvPr/>
        </p:nvSpPr>
        <p:spPr>
          <a:xfrm>
            <a:off x="7772400" y="3611880"/>
            <a:ext cx="3749040" cy="731520"/>
          </a:xfrm>
          <a:prstGeom prst="rect">
            <a:avLst/>
          </a:prstGeom>
          <a:noFill/>
          <a:ln/>
        </p:spPr>
        <p:txBody>
          <a:bodyPr wrap="square" lIns="0" tIns="0" rIns="0" bIns="0" rtlCol="0" anchor="ctr"/>
          <a:lstStyle/>
          <a:p>
            <a:pPr indent="0" marL="0">
              <a:buNone/>
            </a:pPr>
            <a:r>
              <a:rPr lang="en-US" sz="1400" b="1" dirty="0">
                <a:solidFill>
                  <a:schemeClr val="tx2"/>
                </a:solidFill>
              </a:rPr>
              <a:t>Company-calibrated result + verified contribution record</a:t>
            </a:r>
            <a:endParaRPr lang="en-US" sz="1400" dirty="0"/>
          </a:p>
        </p:txBody>
      </p:sp>
      <p:sp>
        <p:nvSpPr>
          <p:cNvPr id="27" name="text-113"/>
          <p:cNvSpPr txBox="1"/>
          <p:nvPr/>
        </p:nvSpPr>
        <p:spPr>
          <a:xfrm>
            <a:off x="548640" y="4480560"/>
            <a:ext cx="2560320" cy="731520"/>
          </a:xfrm>
          <a:prstGeom prst="rect">
            <a:avLst/>
          </a:prstGeom>
          <a:noFill/>
          <a:ln/>
        </p:spPr>
        <p:txBody>
          <a:bodyPr wrap="square" lIns="0" tIns="0" rIns="0" bIns="0" rtlCol="0" anchor="ctr"/>
          <a:lstStyle/>
          <a:p>
            <a:pPr indent="0" marL="0">
              <a:buNone/>
            </a:pPr>
            <a:r>
              <a:rPr lang="en-US" sz="1500" b="1" dirty="0">
                <a:solidFill>
                  <a:schemeClr val="tx2"/>
                </a:solidFill>
              </a:rPr>
              <a:t>Riskiest assumption</a:t>
            </a:r>
            <a:endParaRPr lang="en-US" sz="1500" dirty="0"/>
          </a:p>
        </p:txBody>
      </p:sp>
      <p:sp>
        <p:nvSpPr>
          <p:cNvPr id="28" name="card-114"/>
          <p:cNvSpPr/>
          <p:nvPr/>
        </p:nvSpPr>
        <p:spPr>
          <a:xfrm>
            <a:off x="3291840" y="4480560"/>
            <a:ext cx="3840480" cy="731520"/>
          </a:xfrm>
          <a:prstGeom prst="roundRect">
            <a:avLst>
              <a:gd name="adj" fmla="val 10000"/>
            </a:avLst>
          </a:prstGeom>
          <a:solidFill>
            <a:schemeClr val="bg2"/>
          </a:solidFill>
          <a:ln w="12700">
            <a:solidFill>
              <a:schemeClr val="bg2"/>
            </a:solidFill>
            <a:prstDash val="solid"/>
          </a:ln>
        </p:spPr>
      </p:sp>
      <p:sp>
        <p:nvSpPr>
          <p:cNvPr id="29" name="text-115"/>
          <p:cNvSpPr txBox="1"/>
          <p:nvPr/>
        </p:nvSpPr>
        <p:spPr>
          <a:xfrm>
            <a:off x="3474720" y="4480560"/>
            <a:ext cx="3566160" cy="731520"/>
          </a:xfrm>
          <a:prstGeom prst="rect">
            <a:avLst/>
          </a:prstGeom>
          <a:noFill/>
          <a:ln/>
        </p:spPr>
        <p:txBody>
          <a:bodyPr wrap="square" lIns="0" tIns="0" rIns="0" bIns="0" rtlCol="0" anchor="ctr"/>
          <a:lstStyle/>
          <a:p>
            <a:pPr indent="0" marL="0">
              <a:buNone/>
            </a:pPr>
            <a:r>
              <a:rPr lang="en-US" sz="1400" dirty="0">
                <a:solidFill>
                  <a:schemeClr val="accent3"/>
                </a:solidFill>
              </a:rPr>
              <a:t>Will a business trust students?</a:t>
            </a:r>
            <a:endParaRPr lang="en-US" sz="1400" dirty="0"/>
          </a:p>
        </p:txBody>
      </p:sp>
      <p:sp>
        <p:nvSpPr>
          <p:cNvPr id="30" name="dot-116"/>
          <p:cNvSpPr/>
          <p:nvPr/>
        </p:nvSpPr>
        <p:spPr>
          <a:xfrm>
            <a:off x="7150608" y="4663440"/>
            <a:ext cx="384048" cy="384048"/>
          </a:xfrm>
          <a:prstGeom prst="ellipse">
            <a:avLst/>
          </a:prstGeom>
          <a:solidFill>
            <a:schemeClr val="accent1"/>
          </a:solidFill>
          <a:ln w="12700">
            <a:solidFill>
              <a:schemeClr val="accent1"/>
            </a:solidFill>
            <a:prstDash val="solid"/>
          </a:ln>
        </p:spPr>
      </p:sp>
      <p:pic>
        <p:nvPicPr>
          <p:cNvPr id="31" name="arrow-117" descr="preencoded.png">    </p:cNvPr>
          <p:cNvPicPr>
            <a:picLocks noChangeAspect="1"/>
          </p:cNvPicPr>
          <p:nvPr/>
        </p:nvPicPr>
        <p:blipFill>
          <a:blip r:embed="rId4"/>
          <a:stretch>
            <a:fillRect/>
          </a:stretch>
        </p:blipFill>
        <p:spPr>
          <a:xfrm>
            <a:off x="7242048" y="4754880"/>
            <a:ext cx="201168" cy="201168"/>
          </a:xfrm>
          <a:prstGeom prst="rect">
            <a:avLst/>
          </a:prstGeom>
        </p:spPr>
      </p:pic>
      <p:sp>
        <p:nvSpPr>
          <p:cNvPr id="32" name="card-118"/>
          <p:cNvSpPr/>
          <p:nvPr/>
        </p:nvSpPr>
        <p:spPr>
          <a:xfrm>
            <a:off x="7589520" y="4480560"/>
            <a:ext cx="4023360" cy="731520"/>
          </a:xfrm>
          <a:prstGeom prst="roundRect">
            <a:avLst>
              <a:gd name="adj" fmla="val 10000"/>
            </a:avLst>
          </a:prstGeom>
          <a:solidFill>
            <a:schemeClr val="accent5"/>
          </a:solidFill>
          <a:ln w="12700">
            <a:solidFill>
              <a:schemeClr val="accent5"/>
            </a:solidFill>
            <a:prstDash val="solid"/>
          </a:ln>
        </p:spPr>
      </p:sp>
      <p:sp>
        <p:nvSpPr>
          <p:cNvPr id="33" name="text-119"/>
          <p:cNvSpPr txBox="1"/>
          <p:nvPr/>
        </p:nvSpPr>
        <p:spPr>
          <a:xfrm>
            <a:off x="7772400" y="4480560"/>
            <a:ext cx="3749040" cy="731520"/>
          </a:xfrm>
          <a:prstGeom prst="rect">
            <a:avLst/>
          </a:prstGeom>
          <a:noFill/>
          <a:ln/>
        </p:spPr>
        <p:txBody>
          <a:bodyPr wrap="square" lIns="0" tIns="0" rIns="0" bIns="0" rtlCol="0" anchor="ctr"/>
          <a:lstStyle/>
          <a:p>
            <a:pPr indent="0" marL="0">
              <a:buNone/>
            </a:pPr>
            <a:r>
              <a:rPr lang="en-US" sz="1400" b="1" dirty="0">
                <a:solidFill>
                  <a:schemeClr val="tx2"/>
                </a:solidFill>
              </a:rPr>
              <a:t>Will recruiters trust the credential, and will students pay?</a:t>
            </a:r>
            <a:endParaRPr lang="en-US" sz="1400" dirty="0"/>
          </a:p>
        </p:txBody>
      </p:sp>
      <p:sp>
        <p:nvSpPr>
          <p:cNvPr id="34" name="card-120"/>
          <p:cNvSpPr/>
          <p:nvPr/>
        </p:nvSpPr>
        <p:spPr>
          <a:xfrm>
            <a:off x="548640" y="5440680"/>
            <a:ext cx="11064240" cy="457200"/>
          </a:xfrm>
          <a:prstGeom prst="roundRect">
            <a:avLst>
              <a:gd name="adj" fmla="val 16000"/>
            </a:avLst>
          </a:prstGeom>
          <a:solidFill>
            <a:schemeClr val="tx2"/>
          </a:solidFill>
          <a:ln w="12700">
            <a:solidFill>
              <a:schemeClr val="tx2"/>
            </a:solidFill>
            <a:prstDash val="solid"/>
          </a:ln>
        </p:spPr>
      </p:sp>
      <p:sp>
        <p:nvSpPr>
          <p:cNvPr id="35" name="text-121"/>
          <p:cNvSpPr txBox="1"/>
          <p:nvPr/>
        </p:nvSpPr>
        <p:spPr>
          <a:xfrm>
            <a:off x="822960" y="5440680"/>
            <a:ext cx="10607040" cy="457200"/>
          </a:xfrm>
          <a:prstGeom prst="rect">
            <a:avLst/>
          </a:prstGeom>
          <a:noFill/>
          <a:ln/>
        </p:spPr>
        <p:txBody>
          <a:bodyPr wrap="square" lIns="0" tIns="0" rIns="0" bIns="0" rtlCol="0" anchor="ctr"/>
          <a:lstStyle/>
          <a:p>
            <a:pPr indent="0" marL="0">
              <a:buNone/>
            </a:pPr>
            <a:r>
              <a:rPr lang="en-US" sz="1500" b="1" dirty="0">
                <a:solidFill>
                  <a:schemeClr val="bg1"/>
                </a:solidFill>
              </a:rPr>
              <a:t>Kept: the same target student and the same Job to Be Done. v1 is archived, not deleted.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03  ·  USER AND PROBLEM</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A student who can't show what they personally did</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Target user, Job to Be Done, the evidence for the problem, and the three critical personas</a:t>
            </a:r>
            <a:endParaRPr lang="en-US" sz="1800" dirty="0"/>
          </a:p>
        </p:txBody>
      </p:sp>
      <p:sp>
        <p:nvSpPr>
          <p:cNvPr id="5" name="badge-122"/>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123"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Our user: a tech student with mostly coursework</a:t>
            </a:r>
            <a:endParaRPr lang="en-US" sz="3200" dirty="0"/>
          </a:p>
        </p:txBody>
      </p:sp>
      <p:sp>
        <p:nvSpPr>
          <p:cNvPr id="4" name="card-124"/>
          <p:cNvSpPr/>
          <p:nvPr/>
        </p:nvSpPr>
        <p:spPr>
          <a:xfrm>
            <a:off x="548640" y="1417320"/>
            <a:ext cx="5120640" cy="4434840"/>
          </a:xfrm>
          <a:prstGeom prst="roundRect">
            <a:avLst>
              <a:gd name="adj" fmla="val 1649"/>
            </a:avLst>
          </a:prstGeom>
          <a:solidFill>
            <a:schemeClr val="bg2"/>
          </a:solidFill>
          <a:ln w="12700">
            <a:solidFill>
              <a:schemeClr val="bg2"/>
            </a:solidFill>
            <a:prstDash val="solid"/>
          </a:ln>
        </p:spPr>
      </p:sp>
      <p:sp>
        <p:nvSpPr>
          <p:cNvPr id="5" name="badge-125"/>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6" name="icon-126" descr="preencoded.png">    </p:cNvPr>
          <p:cNvPicPr>
            <a:picLocks noChangeAspect="1"/>
          </p:cNvPicPr>
          <p:nvPr/>
        </p:nvPicPr>
        <p:blipFill>
          <a:blip r:embed="rId1"/>
          <a:stretch>
            <a:fillRect/>
          </a:stretch>
        </p:blipFill>
        <p:spPr>
          <a:xfrm>
            <a:off x="1066190" y="1889150"/>
            <a:ext cx="427939" cy="427939"/>
          </a:xfrm>
          <a:prstGeom prst="rect">
            <a:avLst/>
          </a:prstGeom>
        </p:spPr>
      </p:pic>
      <p:sp>
        <p:nvSpPr>
          <p:cNvPr id="7" name="text-127"/>
          <p:cNvSpPr txBox="1"/>
          <p:nvPr/>
        </p:nvSpPr>
        <p:spPr>
          <a:xfrm>
            <a:off x="1874520" y="1874520"/>
            <a:ext cx="3474720" cy="457200"/>
          </a:xfrm>
          <a:prstGeom prst="rect">
            <a:avLst/>
          </a:prstGeom>
          <a:noFill/>
          <a:ln/>
        </p:spPr>
        <p:txBody>
          <a:bodyPr wrap="square" lIns="0" tIns="0" rIns="0" bIns="0" rtlCol="0" anchor="t"/>
          <a:lstStyle/>
          <a:p>
            <a:pPr indent="0" marL="0">
              <a:buNone/>
            </a:pPr>
            <a:r>
              <a:rPr lang="en-US" sz="2000" b="1" dirty="0">
                <a:solidFill>
                  <a:schemeClr val="tx2"/>
                </a:solidFill>
              </a:rPr>
              <a:t>Target user</a:t>
            </a:r>
            <a:endParaRPr lang="en-US" sz="2000" dirty="0"/>
          </a:p>
        </p:txBody>
      </p:sp>
      <p:sp>
        <p:nvSpPr>
          <p:cNvPr id="8" name="text-128"/>
          <p:cNvSpPr txBox="1"/>
          <p:nvPr/>
        </p:nvSpPr>
        <p:spPr>
          <a:xfrm>
            <a:off x="868680" y="2743200"/>
            <a:ext cx="4480560" cy="1005840"/>
          </a:xfrm>
          <a:prstGeom prst="rect">
            <a:avLst/>
          </a:prstGeom>
          <a:noFill/>
          <a:ln/>
        </p:spPr>
        <p:txBody>
          <a:bodyPr wrap="square" lIns="0" tIns="0" rIns="0" bIns="0" rtlCol="0" anchor="t"/>
          <a:lstStyle/>
          <a:p>
            <a:pPr indent="0" marL="0">
              <a:buNone/>
            </a:pPr>
            <a:r>
              <a:rPr lang="en-US" sz="1700" dirty="0">
                <a:solidFill>
                  <a:schemeClr val="tx1"/>
                </a:solidFill>
              </a:rPr>
              <a:t>A 2nd–4th-year software, web or data student whose experience is mainly coursework.</a:t>
            </a:r>
            <a:endParaRPr lang="en-US" sz="1700" dirty="0"/>
          </a:p>
        </p:txBody>
      </p:sp>
      <p:sp>
        <p:nvSpPr>
          <p:cNvPr id="9" name="text-129"/>
          <p:cNvSpPr txBox="1"/>
          <p:nvPr/>
        </p:nvSpPr>
        <p:spPr>
          <a:xfrm>
            <a:off x="868680" y="3794760"/>
            <a:ext cx="4480560" cy="365760"/>
          </a:xfrm>
          <a:prstGeom prst="rect">
            <a:avLst/>
          </a:prstGeom>
          <a:noFill/>
          <a:ln/>
        </p:spPr>
        <p:txBody>
          <a:bodyPr wrap="square" lIns="0" tIns="0" rIns="0" bIns="0" rtlCol="0" anchor="t"/>
          <a:lstStyle/>
          <a:p>
            <a:pPr indent="0" marL="0">
              <a:buNone/>
            </a:pPr>
            <a:r>
              <a:rPr lang="en-US" sz="1600" b="1" dirty="0">
                <a:solidFill>
                  <a:schemeClr val="accent1"/>
                </a:solidFill>
              </a:rPr>
              <a:t>Job to Be Done</a:t>
            </a:r>
            <a:endParaRPr lang="en-US" sz="1600" dirty="0"/>
          </a:p>
        </p:txBody>
      </p:sp>
      <p:sp>
        <p:nvSpPr>
          <p:cNvPr id="10" name="text-130"/>
          <p:cNvSpPr txBox="1"/>
          <p:nvPr/>
        </p:nvSpPr>
        <p:spPr>
          <a:xfrm>
            <a:off x="868680" y="4206240"/>
            <a:ext cx="4480560" cy="1463040"/>
          </a:xfrm>
          <a:prstGeom prst="rect">
            <a:avLst/>
          </a:prstGeom>
          <a:noFill/>
          <a:ln/>
        </p:spPr>
        <p:txBody>
          <a:bodyPr wrap="square" lIns="0" tIns="0" rIns="0" bIns="0" rtlCol="0" anchor="t"/>
          <a:lstStyle/>
          <a:p>
            <a:pPr indent="0" marL="0">
              <a:buNone/>
            </a:pPr>
            <a:r>
              <a:rPr lang="en-US" sz="1600" i="1" dirty="0">
                <a:solidFill>
                  <a:schemeClr val="tx1"/>
                </a:solidFill>
              </a:rPr>
              <a:t>When applying for internships and asked for project examples, have practical work I can demonstrate and explain to an employer.</a:t>
            </a:r>
            <a:endParaRPr lang="en-US" sz="1600" dirty="0"/>
          </a:p>
        </p:txBody>
      </p:sp>
      <p:sp>
        <p:nvSpPr>
          <p:cNvPr id="11" name="card-131"/>
          <p:cNvSpPr/>
          <p:nvPr/>
        </p:nvSpPr>
        <p:spPr>
          <a:xfrm>
            <a:off x="5943600" y="1417320"/>
            <a:ext cx="5669280" cy="4434840"/>
          </a:xfrm>
          <a:prstGeom prst="roundRect">
            <a:avLst>
              <a:gd name="adj" fmla="val 1649"/>
            </a:avLst>
          </a:prstGeom>
          <a:solidFill>
            <a:schemeClr val="tx2"/>
          </a:solidFill>
          <a:ln w="12700">
            <a:solidFill>
              <a:schemeClr val="tx2"/>
            </a:solidFill>
            <a:prstDash val="solid"/>
          </a:ln>
        </p:spPr>
      </p:sp>
      <p:sp>
        <p:nvSpPr>
          <p:cNvPr id="12" name="text-132"/>
          <p:cNvSpPr txBox="1"/>
          <p:nvPr/>
        </p:nvSpPr>
        <p:spPr>
          <a:xfrm>
            <a:off x="6263640" y="1463040"/>
            <a:ext cx="914400" cy="914400"/>
          </a:xfrm>
          <a:prstGeom prst="rect">
            <a:avLst/>
          </a:prstGeom>
          <a:noFill/>
          <a:ln/>
        </p:spPr>
        <p:txBody>
          <a:bodyPr wrap="square" lIns="0" tIns="0" rIns="0" bIns="0" rtlCol="0" anchor="t"/>
          <a:lstStyle/>
          <a:p>
            <a:pPr indent="0" marL="0">
              <a:buNone/>
            </a:pPr>
            <a:r>
              <a:rPr lang="en-US" sz="7200" b="1" dirty="0">
                <a:solidFill>
                  <a:schemeClr val="accent2"/>
                </a:solidFill>
                <a:latin typeface="Cambria" pitchFamily="34" charset="0"/>
                <a:ea typeface="Cambria" pitchFamily="34" charset="-122"/>
                <a:cs typeface="Cambria" pitchFamily="34" charset="-120"/>
              </a:rPr>
              <a:t>“</a:t>
            </a:r>
            <a:endParaRPr lang="en-US" sz="7200" dirty="0"/>
          </a:p>
        </p:txBody>
      </p:sp>
      <p:sp>
        <p:nvSpPr>
          <p:cNvPr id="13" name="text-133"/>
          <p:cNvSpPr txBox="1"/>
          <p:nvPr/>
        </p:nvSpPr>
        <p:spPr>
          <a:xfrm>
            <a:off x="6309360" y="2331720"/>
            <a:ext cx="5029200" cy="2103120"/>
          </a:xfrm>
          <a:prstGeom prst="rect">
            <a:avLst/>
          </a:prstGeom>
          <a:noFill/>
          <a:ln/>
        </p:spPr>
        <p:txBody>
          <a:bodyPr wrap="square" lIns="0" tIns="0" rIns="0" bIns="0" rtlCol="0" anchor="t"/>
          <a:lstStyle/>
          <a:p>
            <a:pPr indent="0" marL="0">
              <a:buNone/>
            </a:pPr>
            <a:r>
              <a:rPr lang="en-US" sz="2000" i="1" dirty="0">
                <a:solidFill>
                  <a:schemeClr val="bg1"/>
                </a:solidFill>
                <a:latin typeface="Cambria" pitchFamily="34" charset="0"/>
                <a:ea typeface="Cambria" pitchFamily="34" charset="-122"/>
                <a:cs typeface="Cambria" pitchFamily="34" charset="-120"/>
              </a:rPr>
              <a:t>In the first call he asked 'so which parts did you write?' and I kind of froze… I had nothing to show him that proved it was me.</a:t>
            </a:r>
            <a:endParaRPr lang="en-US" sz="2000" dirty="0"/>
          </a:p>
        </p:txBody>
      </p:sp>
      <p:sp>
        <p:nvSpPr>
          <p:cNvPr id="14" name="text-134"/>
          <p:cNvSpPr txBox="1"/>
          <p:nvPr/>
        </p:nvSpPr>
        <p:spPr>
          <a:xfrm>
            <a:off x="6309360" y="4937760"/>
            <a:ext cx="5029200" cy="457200"/>
          </a:xfrm>
          <a:prstGeom prst="rect">
            <a:avLst/>
          </a:prstGeom>
          <a:noFill/>
          <a:ln/>
        </p:spPr>
        <p:txBody>
          <a:bodyPr wrap="square" lIns="0" tIns="0" rIns="0" bIns="0" rtlCol="0" anchor="t"/>
          <a:lstStyle/>
          <a:p>
            <a:pPr indent="0" marL="0">
              <a:buNone/>
            </a:pPr>
            <a:r>
              <a:rPr lang="en-US" sz="1300" dirty="0">
                <a:solidFill>
                  <a:schemeClr val="accent5"/>
                </a:solidFill>
              </a:rPr>
              <a:t>V2-S01, IE CSAI student, interviewed 5 Oct 2026</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The pain is proving contribution, not finding paid work</a:t>
            </a:r>
            <a:endParaRPr lang="en-US" sz="3200" dirty="0"/>
          </a:p>
        </p:txBody>
      </p:sp>
      <p:graphicFrame>
        <p:nvGraphicFramePr>
          <p:cNvPr id="4" name="survey-chart" descr=""/>
          <p:cNvGraphicFramePr/>
          <p:nvPr/>
        </p:nvGraphicFramePr>
        <p:xfrm>
          <a:off x="548640" y="141732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5" name="card-135"/>
          <p:cNvSpPr/>
          <p:nvPr/>
        </p:nvSpPr>
        <p:spPr>
          <a:xfrm>
            <a:off x="8092440" y="1417320"/>
            <a:ext cx="3520440" cy="4480560"/>
          </a:xfrm>
          <a:prstGeom prst="roundRect">
            <a:avLst>
              <a:gd name="adj" fmla="val 2078"/>
            </a:avLst>
          </a:prstGeom>
          <a:solidFill>
            <a:schemeClr val="bg2"/>
          </a:solidFill>
          <a:ln w="12700">
            <a:solidFill>
              <a:schemeClr val="bg2"/>
            </a:solidFill>
            <a:prstDash val="solid"/>
          </a:ln>
        </p:spPr>
      </p:sp>
      <p:sp>
        <p:nvSpPr>
          <p:cNvPr id="6" name="text-136"/>
          <p:cNvSpPr txBox="1"/>
          <p:nvPr/>
        </p:nvSpPr>
        <p:spPr>
          <a:xfrm>
            <a:off x="8366760" y="1645920"/>
            <a:ext cx="3017520" cy="365760"/>
          </a:xfrm>
          <a:prstGeom prst="rect">
            <a:avLst/>
          </a:prstGeom>
          <a:noFill/>
          <a:ln/>
        </p:spPr>
        <p:txBody>
          <a:bodyPr wrap="square" lIns="0" tIns="0" rIns="0" bIns="0" rtlCol="0" anchor="t"/>
          <a:lstStyle/>
          <a:p>
            <a:pPr indent="0" marL="0">
              <a:buNone/>
            </a:pPr>
            <a:r>
              <a:rPr lang="en-US" sz="1800" b="1" dirty="0">
                <a:solidFill>
                  <a:schemeClr val="accent1"/>
                </a:solidFill>
              </a:rPr>
              <a:t>So what</a:t>
            </a:r>
            <a:endParaRPr lang="en-US" sz="1800" dirty="0"/>
          </a:p>
        </p:txBody>
      </p:sp>
      <p:sp>
        <p:nvSpPr>
          <p:cNvPr id="7" name="text-137"/>
          <p:cNvSpPr txBox="1"/>
          <p:nvPr/>
        </p:nvSpPr>
        <p:spPr>
          <a:xfrm>
            <a:off x="8366760" y="2103120"/>
            <a:ext cx="301752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Build the product around a verified individual-contribution record</a:t>
            </a:r>
            <a:endParaRPr lang="en-US" sz="1500" dirty="0"/>
          </a:p>
          <a:p>
            <a:pPr marL="342900" indent="-342900">
              <a:spcAft>
                <a:spcPts val="800"/>
              </a:spcAft>
              <a:buSzPct val="100000"/>
              <a:buChar char="•"/>
            </a:pPr>
            <a:r>
              <a:rPr lang="en-US" sz="1500" dirty="0">
                <a:solidFill>
                  <a:schemeClr val="tx1"/>
                </a:solidFill>
              </a:rPr>
              <a:t>Drop paid client work: the reward is proof of skill</a:t>
            </a:r>
            <a:endParaRPr lang="en-US" sz="1500" dirty="0"/>
          </a:p>
          <a:p>
            <a:pPr marL="342900" indent="-342900">
              <a:spcAft>
                <a:spcPts val="800"/>
              </a:spcAft>
              <a:buSzPct val="100000"/>
              <a:buChar char="•"/>
            </a:pPr>
            <a:r>
              <a:rPr lang="en-US" sz="1500" dirty="0">
                <a:solidFill>
                  <a:schemeClr val="tx1"/>
                </a:solidFill>
              </a:rPr>
              <a:t>Keep challenges short: 12/17 have 4 h a week or less</a:t>
            </a:r>
            <a:endParaRPr lang="en-US" sz="1500" dirty="0"/>
          </a:p>
        </p:txBody>
      </p:sp>
      <p:sp>
        <p:nvSpPr>
          <p:cNvPr id="8" name="text-138"/>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validation/survey-summary-2026-10-12.md. Unscreened sample; overlap with the pilot (n = 11) unknown, so samples are never added.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Three critical personas, and why each one matters</a:t>
            </a:r>
            <a:endParaRPr lang="en-US" sz="3200" dirty="0"/>
          </a:p>
        </p:txBody>
      </p:sp>
      <p:sp>
        <p:nvSpPr>
          <p:cNvPr id="4" name="card-139"/>
          <p:cNvSpPr/>
          <p:nvPr/>
        </p:nvSpPr>
        <p:spPr>
          <a:xfrm>
            <a:off x="548640" y="1463040"/>
            <a:ext cx="3520440" cy="4343400"/>
          </a:xfrm>
          <a:prstGeom prst="roundRect">
            <a:avLst>
              <a:gd name="adj" fmla="val 2078"/>
            </a:avLst>
          </a:prstGeom>
          <a:solidFill>
            <a:schemeClr val="bg2"/>
          </a:solidFill>
          <a:ln w="12700">
            <a:solidFill>
              <a:schemeClr val="bg2"/>
            </a:solidFill>
            <a:prstDash val="solid"/>
          </a:ln>
        </p:spPr>
      </p:sp>
      <p:sp>
        <p:nvSpPr>
          <p:cNvPr id="5" name="badge-140"/>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6" name="icon-141" descr="preencoded.png">    </p:cNvPr>
          <p:cNvPicPr>
            <a:picLocks noChangeAspect="1"/>
          </p:cNvPicPr>
          <p:nvPr/>
        </p:nvPicPr>
        <p:blipFill>
          <a:blip r:embed="rId1"/>
          <a:stretch>
            <a:fillRect/>
          </a:stretch>
        </p:blipFill>
        <p:spPr>
          <a:xfrm>
            <a:off x="1020470" y="1934870"/>
            <a:ext cx="427939" cy="427939"/>
          </a:xfrm>
          <a:prstGeom prst="rect">
            <a:avLst/>
          </a:prstGeom>
        </p:spPr>
      </p:pic>
      <p:sp>
        <p:nvSpPr>
          <p:cNvPr id="7" name="text-142"/>
          <p:cNvSpPr txBox="1"/>
          <p:nvPr/>
        </p:nvSpPr>
        <p:spPr>
          <a:xfrm>
            <a:off x="822960" y="2697480"/>
            <a:ext cx="3017520" cy="457200"/>
          </a:xfrm>
          <a:prstGeom prst="rect">
            <a:avLst/>
          </a:prstGeom>
          <a:noFill/>
          <a:ln/>
        </p:spPr>
        <p:txBody>
          <a:bodyPr wrap="square" lIns="0" tIns="0" rIns="0" bIns="0" rtlCol="0" anchor="t"/>
          <a:lstStyle/>
          <a:p>
            <a:pPr indent="0" marL="0">
              <a:buNone/>
            </a:pPr>
            <a:r>
              <a:rPr lang="en-US" sz="2000" b="1" dirty="0">
                <a:solidFill>
                  <a:schemeClr val="tx2"/>
                </a:solidFill>
              </a:rPr>
              <a:t>The Tinkerer</a:t>
            </a:r>
            <a:endParaRPr lang="en-US" sz="2000" dirty="0"/>
          </a:p>
        </p:txBody>
      </p:sp>
      <p:sp>
        <p:nvSpPr>
          <p:cNvPr id="8" name="text-143"/>
          <p:cNvSpPr txBox="1"/>
          <p:nvPr/>
        </p:nvSpPr>
        <p:spPr>
          <a:xfrm>
            <a:off x="822960" y="3200400"/>
            <a:ext cx="3017520" cy="914400"/>
          </a:xfrm>
          <a:prstGeom prst="rect">
            <a:avLst/>
          </a:prstGeom>
          <a:noFill/>
          <a:ln/>
        </p:spPr>
        <p:txBody>
          <a:bodyPr wrap="square" lIns="0" tIns="0" rIns="0" bIns="0" rtlCol="0" anchor="t"/>
          <a:lstStyle/>
          <a:p>
            <a:pPr indent="0" marL="0">
              <a:buNone/>
            </a:pPr>
            <a:r>
              <a:rPr lang="en-US" sz="1500" dirty="0">
                <a:solidFill>
                  <a:schemeClr val="tx1"/>
                </a:solidFill>
              </a:rPr>
              <a:t>Core student user: builds side projects nobody outside reviews.</a:t>
            </a:r>
            <a:endParaRPr lang="en-US" sz="1500" dirty="0"/>
          </a:p>
        </p:txBody>
      </p:sp>
      <p:sp>
        <p:nvSpPr>
          <p:cNvPr id="9" name="text-144"/>
          <p:cNvSpPr txBox="1"/>
          <p:nvPr/>
        </p:nvSpPr>
        <p:spPr>
          <a:xfrm>
            <a:off x="822960" y="4114800"/>
            <a:ext cx="3017520" cy="914400"/>
          </a:xfrm>
          <a:prstGeom prst="rect">
            <a:avLst/>
          </a:prstGeom>
          <a:noFill/>
          <a:ln/>
        </p:spPr>
        <p:txBody>
          <a:bodyPr wrap="square" lIns="0" tIns="0" rIns="0" bIns="0" rtlCol="0" anchor="t"/>
          <a:lstStyle/>
          <a:p>
            <a:pPr indent="0" marL="0">
              <a:buNone/>
            </a:pPr>
            <a:r>
              <a:rPr lang="en-US" sz="1400" dirty="0">
                <a:solidFill>
                  <a:schemeClr val="accent3"/>
                </a:solidFill>
              </a:rPr>
              <a:t>Tests whether a student finishes a 2–7 h challenge without a prize.</a:t>
            </a:r>
            <a:endParaRPr lang="en-US" sz="1400" dirty="0"/>
          </a:p>
        </p:txBody>
      </p:sp>
      <p:sp>
        <p:nvSpPr>
          <p:cNvPr id="10" name="text-145"/>
          <p:cNvSpPr txBox="1"/>
          <p:nvPr/>
        </p:nvSpPr>
        <p:spPr>
          <a:xfrm>
            <a:off x="822960" y="5166360"/>
            <a:ext cx="3017520" cy="365760"/>
          </a:xfrm>
          <a:prstGeom prst="rect">
            <a:avLst/>
          </a:prstGeom>
          <a:noFill/>
          <a:ln/>
        </p:spPr>
        <p:txBody>
          <a:bodyPr wrap="square" lIns="0" tIns="0" rIns="0" bIns="0" rtlCol="0" anchor="t"/>
          <a:lstStyle/>
          <a:p>
            <a:pPr indent="0" marL="0">
              <a:buNone/>
            </a:pPr>
            <a:r>
              <a:rPr lang="en-US" sz="1200" b="1" dirty="0">
                <a:solidFill>
                  <a:schemeClr val="accent1"/>
                </a:solidFill>
              </a:rPr>
              <a:t>A1.2 completion · A1.3 paying</a:t>
            </a:r>
            <a:endParaRPr lang="en-US" sz="1200" dirty="0"/>
          </a:p>
        </p:txBody>
      </p:sp>
      <p:sp>
        <p:nvSpPr>
          <p:cNvPr id="11" name="card-146"/>
          <p:cNvSpPr/>
          <p:nvPr/>
        </p:nvSpPr>
        <p:spPr>
          <a:xfrm>
            <a:off x="4297680" y="1463040"/>
            <a:ext cx="3520440" cy="4343400"/>
          </a:xfrm>
          <a:prstGeom prst="roundRect">
            <a:avLst>
              <a:gd name="adj" fmla="val 2078"/>
            </a:avLst>
          </a:prstGeom>
          <a:solidFill>
            <a:schemeClr val="bg2"/>
          </a:solidFill>
          <a:ln w="12700">
            <a:solidFill>
              <a:schemeClr val="bg2"/>
            </a:solidFill>
            <a:prstDash val="solid"/>
          </a:ln>
        </p:spPr>
      </p:sp>
      <p:sp>
        <p:nvSpPr>
          <p:cNvPr id="12" name="badge-147"/>
          <p:cNvSpPr/>
          <p:nvPr/>
        </p:nvSpPr>
        <p:spPr>
          <a:xfrm>
            <a:off x="4572000" y="1737360"/>
            <a:ext cx="822960" cy="822960"/>
          </a:xfrm>
          <a:prstGeom prst="ellipse">
            <a:avLst/>
          </a:prstGeom>
          <a:solidFill>
            <a:schemeClr val="accent1"/>
          </a:solidFill>
          <a:ln w="12700">
            <a:solidFill>
              <a:schemeClr val="accent1"/>
            </a:solidFill>
            <a:prstDash val="solid"/>
          </a:ln>
        </p:spPr>
      </p:sp>
      <p:pic>
        <p:nvPicPr>
          <p:cNvPr id="13" name="icon-148" descr="preencoded.png">    </p:cNvPr>
          <p:cNvPicPr>
            <a:picLocks noChangeAspect="1"/>
          </p:cNvPicPr>
          <p:nvPr/>
        </p:nvPicPr>
        <p:blipFill>
          <a:blip r:embed="rId2"/>
          <a:stretch>
            <a:fillRect/>
          </a:stretch>
        </p:blipFill>
        <p:spPr>
          <a:xfrm>
            <a:off x="4769510" y="1934870"/>
            <a:ext cx="427939" cy="427939"/>
          </a:xfrm>
          <a:prstGeom prst="rect">
            <a:avLst/>
          </a:prstGeom>
        </p:spPr>
      </p:pic>
      <p:sp>
        <p:nvSpPr>
          <p:cNvPr id="14" name="text-149"/>
          <p:cNvSpPr txBox="1"/>
          <p:nvPr/>
        </p:nvSpPr>
        <p:spPr>
          <a:xfrm>
            <a:off x="4572000" y="2697480"/>
            <a:ext cx="3017520" cy="457200"/>
          </a:xfrm>
          <a:prstGeom prst="rect">
            <a:avLst/>
          </a:prstGeom>
          <a:noFill/>
          <a:ln/>
        </p:spPr>
        <p:txBody>
          <a:bodyPr wrap="square" lIns="0" tIns="0" rIns="0" bIns="0" rtlCol="0" anchor="t"/>
          <a:lstStyle/>
          <a:p>
            <a:pPr indent="0" marL="0">
              <a:buNone/>
            </a:pPr>
            <a:r>
              <a:rPr lang="en-US" sz="2000" b="1" dirty="0">
                <a:solidFill>
                  <a:schemeClr val="tx2"/>
                </a:solidFill>
              </a:rPr>
              <a:t>The Late Sprinter</a:t>
            </a:r>
            <a:endParaRPr lang="en-US" sz="2000" dirty="0"/>
          </a:p>
        </p:txBody>
      </p:sp>
      <p:sp>
        <p:nvSpPr>
          <p:cNvPr id="15" name="text-150"/>
          <p:cNvSpPr txBox="1"/>
          <p:nvPr/>
        </p:nvSpPr>
        <p:spPr>
          <a:xfrm>
            <a:off x="4572000" y="3200400"/>
            <a:ext cx="3017520" cy="914400"/>
          </a:xfrm>
          <a:prstGeom prst="rect">
            <a:avLst/>
          </a:prstGeom>
          <a:noFill/>
          <a:ln/>
        </p:spPr>
        <p:txBody>
          <a:bodyPr wrap="square" lIns="0" tIns="0" rIns="0" bIns="0" rtlCol="0" anchor="t"/>
          <a:lstStyle/>
          <a:p>
            <a:pPr indent="0" marL="0">
              <a:buNone/>
            </a:pPr>
            <a:r>
              <a:rPr lang="en-US" sz="1500" dirty="0">
                <a:solidFill>
                  <a:schemeClr val="tx1"/>
                </a:solidFill>
              </a:rPr>
              <a:t>Most likely payer: a deadline makes a fast, credible signal worth money.</a:t>
            </a:r>
            <a:endParaRPr lang="en-US" sz="1500" dirty="0"/>
          </a:p>
        </p:txBody>
      </p:sp>
      <p:sp>
        <p:nvSpPr>
          <p:cNvPr id="16" name="text-151"/>
          <p:cNvSpPr txBox="1"/>
          <p:nvPr/>
        </p:nvSpPr>
        <p:spPr>
          <a:xfrm>
            <a:off x="4572000" y="4114800"/>
            <a:ext cx="3017520" cy="914400"/>
          </a:xfrm>
          <a:prstGeom prst="rect">
            <a:avLst/>
          </a:prstGeom>
          <a:noFill/>
          <a:ln/>
        </p:spPr>
        <p:txBody>
          <a:bodyPr wrap="square" lIns="0" tIns="0" rIns="0" bIns="0" rtlCol="0" anchor="t"/>
          <a:lstStyle/>
          <a:p>
            <a:pPr indent="0" marL="0">
              <a:buNone/>
            </a:pPr>
            <a:r>
              <a:rPr lang="en-US" sz="1400" dirty="0">
                <a:solidFill>
                  <a:schemeClr val="accent3"/>
                </a:solidFill>
              </a:rPr>
              <a:t>Counter-case: may churn after one certificate.</a:t>
            </a:r>
            <a:endParaRPr lang="en-US" sz="1400" dirty="0"/>
          </a:p>
        </p:txBody>
      </p:sp>
      <p:sp>
        <p:nvSpPr>
          <p:cNvPr id="17" name="text-152"/>
          <p:cNvSpPr txBox="1"/>
          <p:nvPr/>
        </p:nvSpPr>
        <p:spPr>
          <a:xfrm>
            <a:off x="4572000" y="5166360"/>
            <a:ext cx="3017520" cy="365760"/>
          </a:xfrm>
          <a:prstGeom prst="rect">
            <a:avLst/>
          </a:prstGeom>
          <a:noFill/>
          <a:ln/>
        </p:spPr>
        <p:txBody>
          <a:bodyPr wrap="square" lIns="0" tIns="0" rIns="0" bIns="0" rtlCol="0" anchor="t"/>
          <a:lstStyle/>
          <a:p>
            <a:pPr indent="0" marL="0">
              <a:buNone/>
            </a:pPr>
            <a:r>
              <a:rPr lang="en-US" sz="1200" b="1" dirty="0">
                <a:solidFill>
                  <a:schemeClr val="accent1"/>
                </a:solidFill>
              </a:rPr>
              <a:t>A1.3 paying · A3.1 trust</a:t>
            </a:r>
            <a:endParaRPr lang="en-US" sz="1200" dirty="0"/>
          </a:p>
        </p:txBody>
      </p:sp>
      <p:sp>
        <p:nvSpPr>
          <p:cNvPr id="18" name="card-153"/>
          <p:cNvSpPr/>
          <p:nvPr/>
        </p:nvSpPr>
        <p:spPr>
          <a:xfrm>
            <a:off x="8046720" y="1463040"/>
            <a:ext cx="3520440" cy="4343400"/>
          </a:xfrm>
          <a:prstGeom prst="roundRect">
            <a:avLst>
              <a:gd name="adj" fmla="val 2078"/>
            </a:avLst>
          </a:prstGeom>
          <a:solidFill>
            <a:schemeClr val="accent5"/>
          </a:solidFill>
          <a:ln w="12700">
            <a:solidFill>
              <a:schemeClr val="accent5"/>
            </a:solidFill>
            <a:prstDash val="solid"/>
          </a:ln>
        </p:spPr>
      </p:sp>
      <p:sp>
        <p:nvSpPr>
          <p:cNvPr id="19" name="badge-154"/>
          <p:cNvSpPr/>
          <p:nvPr/>
        </p:nvSpPr>
        <p:spPr>
          <a:xfrm>
            <a:off x="8321040" y="1737360"/>
            <a:ext cx="822960" cy="822960"/>
          </a:xfrm>
          <a:prstGeom prst="ellipse">
            <a:avLst/>
          </a:prstGeom>
          <a:solidFill>
            <a:schemeClr val="tx2"/>
          </a:solidFill>
          <a:ln w="12700">
            <a:solidFill>
              <a:schemeClr val="tx2"/>
            </a:solidFill>
            <a:prstDash val="solid"/>
          </a:ln>
        </p:spPr>
      </p:sp>
      <p:pic>
        <p:nvPicPr>
          <p:cNvPr id="20" name="icon-155" descr="preencoded.png">    </p:cNvPr>
          <p:cNvPicPr>
            <a:picLocks noChangeAspect="1"/>
          </p:cNvPicPr>
          <p:nvPr/>
        </p:nvPicPr>
        <p:blipFill>
          <a:blip r:embed="rId3"/>
          <a:stretch>
            <a:fillRect/>
          </a:stretch>
        </p:blipFill>
        <p:spPr>
          <a:xfrm>
            <a:off x="8518550" y="1934870"/>
            <a:ext cx="427939" cy="427939"/>
          </a:xfrm>
          <a:prstGeom prst="rect">
            <a:avLst/>
          </a:prstGeom>
        </p:spPr>
      </p:pic>
      <p:sp>
        <p:nvSpPr>
          <p:cNvPr id="21" name="text-156"/>
          <p:cNvSpPr txBox="1"/>
          <p:nvPr/>
        </p:nvSpPr>
        <p:spPr>
          <a:xfrm>
            <a:off x="8321040" y="2697480"/>
            <a:ext cx="3017520" cy="457200"/>
          </a:xfrm>
          <a:prstGeom prst="rect">
            <a:avLst/>
          </a:prstGeom>
          <a:noFill/>
          <a:ln/>
        </p:spPr>
        <p:txBody>
          <a:bodyPr wrap="square" lIns="0" tIns="0" rIns="0" bIns="0" rtlCol="0" anchor="t"/>
          <a:lstStyle/>
          <a:p>
            <a:pPr indent="0" marL="0">
              <a:buNone/>
            </a:pPr>
            <a:r>
              <a:rPr lang="en-US" sz="2000" b="1" dirty="0">
                <a:solidFill>
                  <a:schemeClr val="tx2"/>
                </a:solidFill>
              </a:rPr>
              <a:t>The Skeptical Verifier</a:t>
            </a:r>
            <a:endParaRPr lang="en-US" sz="2000" dirty="0"/>
          </a:p>
        </p:txBody>
      </p:sp>
      <p:sp>
        <p:nvSpPr>
          <p:cNvPr id="22" name="text-157"/>
          <p:cNvSpPr txBox="1"/>
          <p:nvPr/>
        </p:nvSpPr>
        <p:spPr>
          <a:xfrm>
            <a:off x="8321040" y="3200400"/>
            <a:ext cx="3017520" cy="914400"/>
          </a:xfrm>
          <a:prstGeom prst="rect">
            <a:avLst/>
          </a:prstGeom>
          <a:noFill/>
          <a:ln/>
        </p:spPr>
        <p:txBody>
          <a:bodyPr wrap="square" lIns="0" tIns="0" rIns="0" bIns="0" rtlCol="0" anchor="t"/>
          <a:lstStyle/>
          <a:p>
            <a:pPr indent="0" marL="0">
              <a:buNone/>
            </a:pPr>
            <a:r>
              <a:rPr lang="en-US" sz="1500" dirty="0">
                <a:solidFill>
                  <a:schemeClr val="tx1"/>
                </a:solidFill>
              </a:rPr>
              <a:t>The recruiter who decides whether the certificate is worth anything.</a:t>
            </a:r>
            <a:endParaRPr lang="en-US" sz="1500" dirty="0"/>
          </a:p>
        </p:txBody>
      </p:sp>
      <p:sp>
        <p:nvSpPr>
          <p:cNvPr id="23" name="text-158"/>
          <p:cNvSpPr txBox="1"/>
          <p:nvPr/>
        </p:nvSpPr>
        <p:spPr>
          <a:xfrm>
            <a:off x="8321040" y="4114800"/>
            <a:ext cx="3017520" cy="914400"/>
          </a:xfrm>
          <a:prstGeom prst="rect">
            <a:avLst/>
          </a:prstGeom>
          <a:noFill/>
          <a:ln/>
        </p:spPr>
        <p:txBody>
          <a:bodyPr wrap="square" lIns="0" tIns="0" rIns="0" bIns="0" rtlCol="0" anchor="t"/>
          <a:lstStyle/>
          <a:p>
            <a:pPr indent="0" marL="0">
              <a:buNone/>
            </a:pPr>
            <a:r>
              <a:rPr lang="en-US" sz="1400" dirty="0">
                <a:solidFill>
                  <a:schemeClr val="accent3"/>
                </a:solidFill>
              </a:rPr>
              <a:t>Replaced the Once-Bitten Owner: small businesses are no longer the customer.</a:t>
            </a:r>
            <a:endParaRPr lang="en-US" sz="1400" dirty="0"/>
          </a:p>
        </p:txBody>
      </p:sp>
      <p:sp>
        <p:nvSpPr>
          <p:cNvPr id="24" name="text-159"/>
          <p:cNvSpPr txBox="1"/>
          <p:nvPr/>
        </p:nvSpPr>
        <p:spPr>
          <a:xfrm>
            <a:off x="8321040" y="5166360"/>
            <a:ext cx="3017520" cy="365760"/>
          </a:xfrm>
          <a:prstGeom prst="rect">
            <a:avLst/>
          </a:prstGeom>
          <a:noFill/>
          <a:ln/>
        </p:spPr>
        <p:txBody>
          <a:bodyPr wrap="square" lIns="0" tIns="0" rIns="0" bIns="0" rtlCol="0" anchor="t"/>
          <a:lstStyle/>
          <a:p>
            <a:pPr indent="0" marL="0">
              <a:buNone/>
            </a:pPr>
            <a:r>
              <a:rPr lang="en-US" sz="1200" b="1" dirty="0">
                <a:solidFill>
                  <a:schemeClr val="accent1"/>
                </a:solidFill>
              </a:rPr>
              <a:t>A3.1 trust · A3.3 replaces take-home</a:t>
            </a:r>
            <a:endParaRPr lang="en-US" sz="1200" dirty="0"/>
          </a:p>
        </p:txBody>
      </p:sp>
      <p:sp>
        <p:nvSpPr>
          <p:cNvPr id="25" name="text-16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evidence-log/personas/README.md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04  ·  MARKET EVIDENCE</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Has this been done already?</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The professor's Challenge I question. What students use instead, where we differ, and how big the market is</a:t>
            </a:r>
            <a:endParaRPr lang="en-US" sz="1800" dirty="0"/>
          </a:p>
        </p:txBody>
      </p:sp>
      <p:sp>
        <p:nvSpPr>
          <p:cNvPr id="5" name="badge-161"/>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162"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Alternatives are free, but none proves who did what</a:t>
            </a:r>
            <a:endParaRPr lang="en-US" sz="3200" dirty="0"/>
          </a:p>
        </p:txBody>
      </p:sp>
      <p:sp>
        <p:nvSpPr>
          <p:cNvPr id="4" name="card-163"/>
          <p:cNvSpPr/>
          <p:nvPr/>
        </p:nvSpPr>
        <p:spPr>
          <a:xfrm>
            <a:off x="548640" y="1417320"/>
            <a:ext cx="5440680" cy="1737360"/>
          </a:xfrm>
          <a:prstGeom prst="roundRect">
            <a:avLst>
              <a:gd name="adj" fmla="val 4211"/>
            </a:avLst>
          </a:prstGeom>
          <a:solidFill>
            <a:schemeClr val="bg2"/>
          </a:solidFill>
          <a:ln w="12700">
            <a:solidFill>
              <a:schemeClr val="bg2"/>
            </a:solidFill>
            <a:prstDash val="solid"/>
          </a:ln>
        </p:spPr>
      </p:sp>
      <p:sp>
        <p:nvSpPr>
          <p:cNvPr id="5" name="badge-164"/>
          <p:cNvSpPr/>
          <p:nvPr/>
        </p:nvSpPr>
        <p:spPr>
          <a:xfrm>
            <a:off x="777240" y="1691640"/>
            <a:ext cx="685800" cy="685800"/>
          </a:xfrm>
          <a:prstGeom prst="ellipse">
            <a:avLst/>
          </a:prstGeom>
          <a:solidFill>
            <a:schemeClr val="accent1"/>
          </a:solidFill>
          <a:ln w="12700">
            <a:solidFill>
              <a:schemeClr val="accent1"/>
            </a:solidFill>
            <a:prstDash val="solid"/>
          </a:ln>
        </p:spPr>
      </p:sp>
      <p:pic>
        <p:nvPicPr>
          <p:cNvPr id="6" name="icon-165" descr="preencoded.png">    </p:cNvPr>
          <p:cNvPicPr>
            <a:picLocks noChangeAspect="1"/>
          </p:cNvPicPr>
          <p:nvPr/>
        </p:nvPicPr>
        <p:blipFill>
          <a:blip r:embed="rId1"/>
          <a:stretch>
            <a:fillRect/>
          </a:stretch>
        </p:blipFill>
        <p:spPr>
          <a:xfrm>
            <a:off x="941832" y="1856232"/>
            <a:ext cx="356616" cy="356616"/>
          </a:xfrm>
          <a:prstGeom prst="rect">
            <a:avLst/>
          </a:prstGeom>
        </p:spPr>
      </p:pic>
      <p:sp>
        <p:nvSpPr>
          <p:cNvPr id="7" name="text-166"/>
          <p:cNvSpPr txBox="1"/>
          <p:nvPr/>
        </p:nvSpPr>
        <p:spPr>
          <a:xfrm>
            <a:off x="1645920" y="1618488"/>
            <a:ext cx="4114800" cy="365760"/>
          </a:xfrm>
          <a:prstGeom prst="rect">
            <a:avLst/>
          </a:prstGeom>
          <a:noFill/>
          <a:ln/>
        </p:spPr>
        <p:txBody>
          <a:bodyPr wrap="square" lIns="0" tIns="0" rIns="0" bIns="0" rtlCol="0" anchor="t"/>
          <a:lstStyle/>
          <a:p>
            <a:pPr indent="0" marL="0">
              <a:buNone/>
            </a:pPr>
            <a:r>
              <a:rPr lang="en-US" sz="1700" b="1" dirty="0">
                <a:solidFill>
                  <a:schemeClr val="tx2"/>
                </a:solidFill>
              </a:rPr>
              <a:t>Direct competitors</a:t>
            </a:r>
            <a:endParaRPr lang="en-US" sz="1700" dirty="0"/>
          </a:p>
        </p:txBody>
      </p:sp>
      <p:sp>
        <p:nvSpPr>
          <p:cNvPr id="8" name="text-167"/>
          <p:cNvSpPr txBox="1"/>
          <p:nvPr/>
        </p:nvSpPr>
        <p:spPr>
          <a:xfrm>
            <a:off x="1645920" y="1984248"/>
            <a:ext cx="4114800" cy="411480"/>
          </a:xfrm>
          <a:prstGeom prst="rect">
            <a:avLst/>
          </a:prstGeom>
          <a:noFill/>
          <a:ln/>
        </p:spPr>
        <p:txBody>
          <a:bodyPr wrap="square" lIns="0" tIns="0" rIns="0" bIns="0" rtlCol="0" anchor="t"/>
          <a:lstStyle/>
          <a:p>
            <a:pPr indent="0" marL="0">
              <a:buNone/>
            </a:pPr>
            <a:r>
              <a:rPr lang="en-US" sz="1400" b="1" dirty="0">
                <a:solidFill>
                  <a:schemeClr val="accent1"/>
                </a:solidFill>
              </a:rPr>
              <a:t>NUWE, Forage, Riipen</a:t>
            </a:r>
            <a:endParaRPr lang="en-US" sz="1400" dirty="0"/>
          </a:p>
        </p:txBody>
      </p:sp>
      <p:sp>
        <p:nvSpPr>
          <p:cNvPr id="9" name="text-168"/>
          <p:cNvSpPr txBox="1"/>
          <p:nvPr/>
        </p:nvSpPr>
        <p:spPr>
          <a:xfrm>
            <a:off x="1645920" y="2395728"/>
            <a:ext cx="4160520" cy="685800"/>
          </a:xfrm>
          <a:prstGeom prst="rect">
            <a:avLst/>
          </a:prstGeom>
          <a:noFill/>
          <a:ln/>
        </p:spPr>
        <p:txBody>
          <a:bodyPr wrap="square" lIns="0" tIns="0" rIns="0" bIns="0" rtlCol="0" anchor="t"/>
          <a:lstStyle/>
          <a:p>
            <a:pPr indent="0" marL="0">
              <a:buNone/>
            </a:pPr>
            <a:r>
              <a:rPr lang="en-US" sz="1400" dirty="0">
                <a:solidFill>
                  <a:schemeClr val="tx1"/>
                </a:solidFill>
              </a:rPr>
              <a:t>All free to students; none records individual contribution in a team</a:t>
            </a:r>
            <a:endParaRPr lang="en-US" sz="1400" dirty="0"/>
          </a:p>
        </p:txBody>
      </p:sp>
      <p:sp>
        <p:nvSpPr>
          <p:cNvPr id="10" name="card-169"/>
          <p:cNvSpPr/>
          <p:nvPr/>
        </p:nvSpPr>
        <p:spPr>
          <a:xfrm>
            <a:off x="6172200" y="1417320"/>
            <a:ext cx="5440680" cy="1737360"/>
          </a:xfrm>
          <a:prstGeom prst="roundRect">
            <a:avLst>
              <a:gd name="adj" fmla="val 4211"/>
            </a:avLst>
          </a:prstGeom>
          <a:solidFill>
            <a:schemeClr val="bg2"/>
          </a:solidFill>
          <a:ln w="12700">
            <a:solidFill>
              <a:schemeClr val="bg2"/>
            </a:solidFill>
            <a:prstDash val="solid"/>
          </a:ln>
        </p:spPr>
      </p:sp>
      <p:sp>
        <p:nvSpPr>
          <p:cNvPr id="11" name="badge-170"/>
          <p:cNvSpPr/>
          <p:nvPr/>
        </p:nvSpPr>
        <p:spPr>
          <a:xfrm>
            <a:off x="6400800" y="1691640"/>
            <a:ext cx="685800" cy="685800"/>
          </a:xfrm>
          <a:prstGeom prst="ellipse">
            <a:avLst/>
          </a:prstGeom>
          <a:solidFill>
            <a:schemeClr val="accent1"/>
          </a:solidFill>
          <a:ln w="12700">
            <a:solidFill>
              <a:schemeClr val="accent1"/>
            </a:solidFill>
            <a:prstDash val="solid"/>
          </a:ln>
        </p:spPr>
      </p:sp>
      <p:pic>
        <p:nvPicPr>
          <p:cNvPr id="12" name="icon-171" descr="preencoded.png">    </p:cNvPr>
          <p:cNvPicPr>
            <a:picLocks noChangeAspect="1"/>
          </p:cNvPicPr>
          <p:nvPr/>
        </p:nvPicPr>
        <p:blipFill>
          <a:blip r:embed="rId2"/>
          <a:stretch>
            <a:fillRect/>
          </a:stretch>
        </p:blipFill>
        <p:spPr>
          <a:xfrm>
            <a:off x="6565392" y="1856232"/>
            <a:ext cx="356616" cy="356616"/>
          </a:xfrm>
          <a:prstGeom prst="rect">
            <a:avLst/>
          </a:prstGeom>
        </p:spPr>
      </p:pic>
      <p:sp>
        <p:nvSpPr>
          <p:cNvPr id="13" name="text-172"/>
          <p:cNvSpPr txBox="1"/>
          <p:nvPr/>
        </p:nvSpPr>
        <p:spPr>
          <a:xfrm>
            <a:off x="7269480" y="1618488"/>
            <a:ext cx="4114800" cy="365760"/>
          </a:xfrm>
          <a:prstGeom prst="rect">
            <a:avLst/>
          </a:prstGeom>
          <a:noFill/>
          <a:ln/>
        </p:spPr>
        <p:txBody>
          <a:bodyPr wrap="square" lIns="0" tIns="0" rIns="0" bIns="0" rtlCol="0" anchor="t"/>
          <a:lstStyle/>
          <a:p>
            <a:pPr indent="0" marL="0">
              <a:buNone/>
            </a:pPr>
            <a:r>
              <a:rPr lang="en-US" sz="1700" b="1" dirty="0">
                <a:solidFill>
                  <a:schemeClr val="tx2"/>
                </a:solidFill>
              </a:rPr>
              <a:t>Indirect substitutes</a:t>
            </a:r>
            <a:endParaRPr lang="en-US" sz="1700" dirty="0"/>
          </a:p>
        </p:txBody>
      </p:sp>
      <p:sp>
        <p:nvSpPr>
          <p:cNvPr id="14" name="text-173"/>
          <p:cNvSpPr txBox="1"/>
          <p:nvPr/>
        </p:nvSpPr>
        <p:spPr>
          <a:xfrm>
            <a:off x="7269480" y="1984248"/>
            <a:ext cx="4114800" cy="411480"/>
          </a:xfrm>
          <a:prstGeom prst="rect">
            <a:avLst/>
          </a:prstGeom>
          <a:noFill/>
          <a:ln/>
        </p:spPr>
        <p:txBody>
          <a:bodyPr wrap="square" lIns="0" tIns="0" rIns="0" bIns="0" rtlCol="0" anchor="t"/>
          <a:lstStyle/>
          <a:p>
            <a:pPr indent="0" marL="0">
              <a:buNone/>
            </a:pPr>
            <a:r>
              <a:rPr lang="en-US" sz="1400" b="1" dirty="0">
                <a:solidFill>
                  <a:schemeClr val="accent1"/>
                </a:solidFill>
              </a:rPr>
              <a:t>HackerRank, Kaggle, Devpost, Coursera certificates</a:t>
            </a:r>
            <a:endParaRPr lang="en-US" sz="1400" dirty="0"/>
          </a:p>
        </p:txBody>
      </p:sp>
      <p:sp>
        <p:nvSpPr>
          <p:cNvPr id="15" name="text-174"/>
          <p:cNvSpPr txBox="1"/>
          <p:nvPr/>
        </p:nvSpPr>
        <p:spPr>
          <a:xfrm>
            <a:off x="7269480" y="2395728"/>
            <a:ext cx="4160520" cy="685800"/>
          </a:xfrm>
          <a:prstGeom prst="rect">
            <a:avLst/>
          </a:prstGeom>
          <a:noFill/>
          <a:ln/>
        </p:spPr>
        <p:txBody>
          <a:bodyPr wrap="square" lIns="0" tIns="0" rIns="0" bIns="0" rtlCol="0" anchor="t"/>
          <a:lstStyle/>
          <a:p>
            <a:pPr indent="0" marL="0">
              <a:buNone/>
            </a:pPr>
            <a:r>
              <a:rPr lang="en-US" sz="1400" dirty="0">
                <a:solidFill>
                  <a:schemeClr val="tx1"/>
                </a:solidFill>
              </a:rPr>
              <a:t>Free scores and badges exist; ours must be worth more to a recruiter</a:t>
            </a:r>
            <a:endParaRPr lang="en-US" sz="1400" dirty="0"/>
          </a:p>
        </p:txBody>
      </p:sp>
      <p:sp>
        <p:nvSpPr>
          <p:cNvPr id="16" name="card-175"/>
          <p:cNvSpPr/>
          <p:nvPr/>
        </p:nvSpPr>
        <p:spPr>
          <a:xfrm>
            <a:off x="548640" y="3337560"/>
            <a:ext cx="5440680" cy="1737360"/>
          </a:xfrm>
          <a:prstGeom prst="roundRect">
            <a:avLst>
              <a:gd name="adj" fmla="val 4211"/>
            </a:avLst>
          </a:prstGeom>
          <a:solidFill>
            <a:schemeClr val="bg2"/>
          </a:solidFill>
          <a:ln w="12700">
            <a:solidFill>
              <a:schemeClr val="bg2"/>
            </a:solidFill>
            <a:prstDash val="solid"/>
          </a:ln>
        </p:spPr>
      </p:sp>
      <p:sp>
        <p:nvSpPr>
          <p:cNvPr id="17" name="badge-176"/>
          <p:cNvSpPr/>
          <p:nvPr/>
        </p:nvSpPr>
        <p:spPr>
          <a:xfrm>
            <a:off x="777240" y="3611880"/>
            <a:ext cx="685800" cy="685800"/>
          </a:xfrm>
          <a:prstGeom prst="ellipse">
            <a:avLst/>
          </a:prstGeom>
          <a:solidFill>
            <a:schemeClr val="accent1"/>
          </a:solidFill>
          <a:ln w="12700">
            <a:solidFill>
              <a:schemeClr val="accent1"/>
            </a:solidFill>
            <a:prstDash val="solid"/>
          </a:ln>
        </p:spPr>
      </p:sp>
      <p:pic>
        <p:nvPicPr>
          <p:cNvPr id="18" name="icon-177" descr="preencoded.png">    </p:cNvPr>
          <p:cNvPicPr>
            <a:picLocks noChangeAspect="1"/>
          </p:cNvPicPr>
          <p:nvPr/>
        </p:nvPicPr>
        <p:blipFill>
          <a:blip r:embed="rId3"/>
          <a:stretch>
            <a:fillRect/>
          </a:stretch>
        </p:blipFill>
        <p:spPr>
          <a:xfrm>
            <a:off x="941832" y="3776472"/>
            <a:ext cx="356616" cy="356616"/>
          </a:xfrm>
          <a:prstGeom prst="rect">
            <a:avLst/>
          </a:prstGeom>
        </p:spPr>
      </p:pic>
      <p:sp>
        <p:nvSpPr>
          <p:cNvPr id="19" name="text-178"/>
          <p:cNvSpPr txBox="1"/>
          <p:nvPr/>
        </p:nvSpPr>
        <p:spPr>
          <a:xfrm>
            <a:off x="1645920" y="3538728"/>
            <a:ext cx="4114800" cy="365760"/>
          </a:xfrm>
          <a:prstGeom prst="rect">
            <a:avLst/>
          </a:prstGeom>
          <a:noFill/>
          <a:ln/>
        </p:spPr>
        <p:txBody>
          <a:bodyPr wrap="square" lIns="0" tIns="0" rIns="0" bIns="0" rtlCol="0" anchor="t"/>
          <a:lstStyle/>
          <a:p>
            <a:pPr indent="0" marL="0">
              <a:buNone/>
            </a:pPr>
            <a:r>
              <a:rPr lang="en-US" sz="1700" b="1" dirty="0">
                <a:solidFill>
                  <a:schemeClr val="tx2"/>
                </a:solidFill>
              </a:rPr>
              <a:t>Manual workarounds</a:t>
            </a:r>
            <a:endParaRPr lang="en-US" sz="1700" dirty="0"/>
          </a:p>
        </p:txBody>
      </p:sp>
      <p:sp>
        <p:nvSpPr>
          <p:cNvPr id="20" name="text-179"/>
          <p:cNvSpPr txBox="1"/>
          <p:nvPr/>
        </p:nvSpPr>
        <p:spPr>
          <a:xfrm>
            <a:off x="1645920" y="3904488"/>
            <a:ext cx="4114800" cy="411480"/>
          </a:xfrm>
          <a:prstGeom prst="rect">
            <a:avLst/>
          </a:prstGeom>
          <a:noFill/>
          <a:ln/>
        </p:spPr>
        <p:txBody>
          <a:bodyPr wrap="square" lIns="0" tIns="0" rIns="0" bIns="0" rtlCol="0" anchor="t"/>
          <a:lstStyle/>
          <a:p>
            <a:pPr indent="0" marL="0">
              <a:buNone/>
            </a:pPr>
            <a:r>
              <a:rPr lang="en-US" sz="1400" b="1" dirty="0">
                <a:solidFill>
                  <a:schemeClr val="accent1"/>
                </a:solidFill>
              </a:rPr>
              <a:t>Coursework, personal GitHub, portfolio</a:t>
            </a:r>
            <a:endParaRPr lang="en-US" sz="1400" dirty="0"/>
          </a:p>
        </p:txBody>
      </p:sp>
      <p:sp>
        <p:nvSpPr>
          <p:cNvPr id="21" name="text-180"/>
          <p:cNvSpPr txBox="1"/>
          <p:nvPr/>
        </p:nvSpPr>
        <p:spPr>
          <a:xfrm>
            <a:off x="1645920" y="4315968"/>
            <a:ext cx="4160520" cy="685800"/>
          </a:xfrm>
          <a:prstGeom prst="rect">
            <a:avLst/>
          </a:prstGeom>
          <a:noFill/>
          <a:ln/>
        </p:spPr>
        <p:txBody>
          <a:bodyPr wrap="square" lIns="0" tIns="0" rIns="0" bIns="0" rtlCol="0" anchor="t"/>
          <a:lstStyle/>
          <a:p>
            <a:pPr indent="0" marL="0">
              <a:buNone/>
            </a:pPr>
            <a:r>
              <a:rPr lang="en-US" sz="1400" dirty="0">
                <a:solidFill>
                  <a:schemeClr val="tx1"/>
                </a:solidFill>
              </a:rPr>
              <a:t>Most common today; 9/17 latest project reviewed only in class</a:t>
            </a:r>
            <a:endParaRPr lang="en-US" sz="1400" dirty="0"/>
          </a:p>
        </p:txBody>
      </p:sp>
      <p:sp>
        <p:nvSpPr>
          <p:cNvPr id="22" name="card-181"/>
          <p:cNvSpPr/>
          <p:nvPr/>
        </p:nvSpPr>
        <p:spPr>
          <a:xfrm>
            <a:off x="6172200" y="3337560"/>
            <a:ext cx="5440680" cy="1737360"/>
          </a:xfrm>
          <a:prstGeom prst="roundRect">
            <a:avLst>
              <a:gd name="adj" fmla="val 4211"/>
            </a:avLst>
          </a:prstGeom>
          <a:solidFill>
            <a:schemeClr val="bg2"/>
          </a:solidFill>
          <a:ln w="12700">
            <a:solidFill>
              <a:schemeClr val="bg2"/>
            </a:solidFill>
            <a:prstDash val="solid"/>
          </a:ln>
        </p:spPr>
      </p:sp>
      <p:sp>
        <p:nvSpPr>
          <p:cNvPr id="23" name="badge-182"/>
          <p:cNvSpPr/>
          <p:nvPr/>
        </p:nvSpPr>
        <p:spPr>
          <a:xfrm>
            <a:off x="6400800" y="3611880"/>
            <a:ext cx="685800" cy="685800"/>
          </a:xfrm>
          <a:prstGeom prst="ellipse">
            <a:avLst/>
          </a:prstGeom>
          <a:solidFill>
            <a:schemeClr val="accent1"/>
          </a:solidFill>
          <a:ln w="12700">
            <a:solidFill>
              <a:schemeClr val="accent1"/>
            </a:solidFill>
            <a:prstDash val="solid"/>
          </a:ln>
        </p:spPr>
      </p:sp>
      <p:pic>
        <p:nvPicPr>
          <p:cNvPr id="24" name="icon-183" descr="preencoded.png">    </p:cNvPr>
          <p:cNvPicPr>
            <a:picLocks noChangeAspect="1"/>
          </p:cNvPicPr>
          <p:nvPr/>
        </p:nvPicPr>
        <p:blipFill>
          <a:blip r:embed="rId4"/>
          <a:stretch>
            <a:fillRect/>
          </a:stretch>
        </p:blipFill>
        <p:spPr>
          <a:xfrm>
            <a:off x="6565392" y="3776472"/>
            <a:ext cx="356616" cy="356616"/>
          </a:xfrm>
          <a:prstGeom prst="rect">
            <a:avLst/>
          </a:prstGeom>
        </p:spPr>
      </p:pic>
      <p:sp>
        <p:nvSpPr>
          <p:cNvPr id="25" name="text-184"/>
          <p:cNvSpPr txBox="1"/>
          <p:nvPr/>
        </p:nvSpPr>
        <p:spPr>
          <a:xfrm>
            <a:off x="7269480" y="3538728"/>
            <a:ext cx="4114800" cy="365760"/>
          </a:xfrm>
          <a:prstGeom prst="rect">
            <a:avLst/>
          </a:prstGeom>
          <a:noFill/>
          <a:ln/>
        </p:spPr>
        <p:txBody>
          <a:bodyPr wrap="square" lIns="0" tIns="0" rIns="0" bIns="0" rtlCol="0" anchor="t"/>
          <a:lstStyle/>
          <a:p>
            <a:pPr indent="0" marL="0">
              <a:buNone/>
            </a:pPr>
            <a:r>
              <a:rPr lang="en-US" sz="1700" b="1" dirty="0">
                <a:solidFill>
                  <a:schemeClr val="tx2"/>
                </a:solidFill>
              </a:rPr>
              <a:t>Doing nothing</a:t>
            </a:r>
            <a:endParaRPr lang="en-US" sz="1700" dirty="0"/>
          </a:p>
        </p:txBody>
      </p:sp>
      <p:sp>
        <p:nvSpPr>
          <p:cNvPr id="26" name="text-185"/>
          <p:cNvSpPr txBox="1"/>
          <p:nvPr/>
        </p:nvSpPr>
        <p:spPr>
          <a:xfrm>
            <a:off x="7269480" y="3904488"/>
            <a:ext cx="4114800" cy="411480"/>
          </a:xfrm>
          <a:prstGeom prst="rect">
            <a:avLst/>
          </a:prstGeom>
          <a:noFill/>
          <a:ln/>
        </p:spPr>
        <p:txBody>
          <a:bodyPr wrap="square" lIns="0" tIns="0" rIns="0" bIns="0" rtlCol="0" anchor="t"/>
          <a:lstStyle/>
          <a:p>
            <a:pPr indent="0" marL="0">
              <a:buNone/>
            </a:pPr>
            <a:r>
              <a:rPr lang="en-US" sz="1400" b="1" dirty="0">
                <a:solidFill>
                  <a:schemeClr val="accent1"/>
                </a:solidFill>
              </a:rPr>
              <a:t>Apply with a CV only</a:t>
            </a:r>
            <a:endParaRPr lang="en-US" sz="1400" dirty="0"/>
          </a:p>
        </p:txBody>
      </p:sp>
      <p:sp>
        <p:nvSpPr>
          <p:cNvPr id="27" name="text-186"/>
          <p:cNvSpPr txBox="1"/>
          <p:nvPr/>
        </p:nvSpPr>
        <p:spPr>
          <a:xfrm>
            <a:off x="7269480" y="4315968"/>
            <a:ext cx="4160520" cy="685800"/>
          </a:xfrm>
          <a:prstGeom prst="rect">
            <a:avLst/>
          </a:prstGeom>
          <a:noFill/>
          <a:ln/>
        </p:spPr>
        <p:txBody>
          <a:bodyPr wrap="square" lIns="0" tIns="0" rIns="0" bIns="0" rtlCol="0" anchor="t"/>
          <a:lstStyle/>
          <a:p>
            <a:pPr indent="0" marL="0">
              <a:buNone/>
            </a:pPr>
            <a:r>
              <a:rPr lang="en-US" sz="1400" dirty="0">
                <a:solidFill>
                  <a:schemeClr val="tx1"/>
                </a:solidFill>
              </a:rPr>
              <a:t>6/17 applied and got no interview; pain peaks in application season</a:t>
            </a:r>
            <a:endParaRPr lang="en-US" sz="1400" dirty="0"/>
          </a:p>
        </p:txBody>
      </p:sp>
      <p:sp>
        <p:nvSpPr>
          <p:cNvPr id="28" name="card-187"/>
          <p:cNvSpPr/>
          <p:nvPr/>
        </p:nvSpPr>
        <p:spPr>
          <a:xfrm>
            <a:off x="548640" y="5303520"/>
            <a:ext cx="11064240" cy="594360"/>
          </a:xfrm>
          <a:prstGeom prst="roundRect">
            <a:avLst>
              <a:gd name="adj" fmla="val 12308"/>
            </a:avLst>
          </a:prstGeom>
          <a:solidFill>
            <a:schemeClr val="tx2"/>
          </a:solidFill>
          <a:ln w="12700">
            <a:solidFill>
              <a:schemeClr val="tx2"/>
            </a:solidFill>
            <a:prstDash val="solid"/>
          </a:ln>
        </p:spPr>
      </p:sp>
      <p:sp>
        <p:nvSpPr>
          <p:cNvPr id="29" name="text-188"/>
          <p:cNvSpPr txBox="1"/>
          <p:nvPr/>
        </p:nvSpPr>
        <p:spPr>
          <a:xfrm>
            <a:off x="822960" y="5303520"/>
            <a:ext cx="10607040" cy="594360"/>
          </a:xfrm>
          <a:prstGeom prst="rect">
            <a:avLst/>
          </a:prstGeom>
          <a:noFill/>
          <a:ln/>
        </p:spPr>
        <p:txBody>
          <a:bodyPr wrap="square" lIns="0" tIns="0" rIns="0" bIns="0" rtlCol="0" anchor="ctr"/>
          <a:lstStyle/>
          <a:p>
            <a:pPr indent="0" marL="0">
              <a:buNone/>
            </a:pPr>
            <a:r>
              <a:rPr lang="en-US" sz="1400" b="1" dirty="0">
                <a:solidFill>
                  <a:schemeClr val="bg1"/>
                </a:solidFill>
              </a:rPr>
              <a:t>Our axis: a scored, company-calibrated result on a real brief, with each member's contribution verified. Not found for Forage, HackerRank, Devpost or Kaggle; NUWE unverified.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Value curve: we diverge where every alternative is weak</a:t>
            </a:r>
            <a:endParaRPr lang="en-US" sz="3200" dirty="0"/>
          </a:p>
        </p:txBody>
      </p:sp>
      <p:graphicFrame>
        <p:nvGraphicFramePr>
          <p:cNvPr id="4" name="value-curve" descr=""/>
          <p:cNvGraphicFramePr/>
          <p:nvPr/>
        </p:nvGraphicFramePr>
        <p:xfrm>
          <a:off x="548640" y="137160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5" name="card-189"/>
          <p:cNvSpPr/>
          <p:nvPr/>
        </p:nvSpPr>
        <p:spPr>
          <a:xfrm>
            <a:off x="8686800" y="1417320"/>
            <a:ext cx="2926080" cy="4480560"/>
          </a:xfrm>
          <a:prstGeom prst="roundRect">
            <a:avLst>
              <a:gd name="adj" fmla="val 2500"/>
            </a:avLst>
          </a:prstGeom>
          <a:solidFill>
            <a:schemeClr val="bg2"/>
          </a:solidFill>
          <a:ln w="12700">
            <a:solidFill>
              <a:schemeClr val="bg2"/>
            </a:solidFill>
            <a:prstDash val="solid"/>
          </a:ln>
        </p:spPr>
      </p:sp>
      <p:sp>
        <p:nvSpPr>
          <p:cNvPr id="6" name="text-190"/>
          <p:cNvSpPr txBox="1"/>
          <p:nvPr/>
        </p:nvSpPr>
        <p:spPr>
          <a:xfrm>
            <a:off x="8915400" y="1645920"/>
            <a:ext cx="2560320" cy="365760"/>
          </a:xfrm>
          <a:prstGeom prst="rect">
            <a:avLst/>
          </a:prstGeom>
          <a:noFill/>
          <a:ln/>
        </p:spPr>
        <p:txBody>
          <a:bodyPr wrap="square" lIns="0" tIns="0" rIns="0" bIns="0" rtlCol="0" anchor="t"/>
          <a:lstStyle/>
          <a:p>
            <a:pPr indent="0" marL="0">
              <a:buNone/>
            </a:pPr>
            <a:r>
              <a:rPr lang="en-US" sz="1800" b="1" dirty="0">
                <a:solidFill>
                  <a:schemeClr val="accent1"/>
                </a:solidFill>
              </a:rPr>
              <a:t>Reading it</a:t>
            </a:r>
            <a:endParaRPr lang="en-US" sz="1800" dirty="0"/>
          </a:p>
        </p:txBody>
      </p:sp>
      <p:sp>
        <p:nvSpPr>
          <p:cNvPr id="7" name="text-191"/>
          <p:cNvSpPr txBox="1"/>
          <p:nvPr/>
        </p:nvSpPr>
        <p:spPr>
          <a:xfrm>
            <a:off x="8915400" y="2103120"/>
            <a:ext cx="25146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Eliminated: prizes and events</a:t>
            </a:r>
            <a:endParaRPr lang="en-US" sz="1500" dirty="0"/>
          </a:p>
          <a:p>
            <a:pPr marL="342900" indent="-342900">
              <a:spcAft>
                <a:spcPts val="800"/>
              </a:spcAft>
              <a:buSzPct val="100000"/>
              <a:buChar char="•"/>
            </a:pPr>
            <a:r>
              <a:rPr lang="en-US" sz="1500" dirty="0">
                <a:solidFill>
                  <a:schemeClr val="tx1"/>
                </a:solidFill>
              </a:rPr>
              <a:t>Created: contribution proof (5) and employer calibration (4)</a:t>
            </a:r>
            <a:endParaRPr lang="en-US" sz="1500" dirty="0"/>
          </a:p>
          <a:p>
            <a:pPr marL="342900" indent="-342900">
              <a:spcAft>
                <a:spcPts val="800"/>
              </a:spcAft>
              <a:buSzPct val="100000"/>
              <a:buChar char="•"/>
            </a:pPr>
            <a:r>
              <a:rPr lang="en-US" sz="1500" dirty="0">
                <a:solidFill>
                  <a:schemeClr val="tx1"/>
                </a:solidFill>
              </a:rPr>
              <a:t>Weak spot: price. Everyone else is free</a:t>
            </a:r>
            <a:endParaRPr lang="en-US" sz="1500" dirty="0"/>
          </a:p>
        </p:txBody>
      </p:sp>
      <p:sp>
        <p:nvSpPr>
          <p:cNvPr id="8" name="text-192"/>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market-research/value-curve.md. Kaggle and NUWE discussed in the file, left off the chart for readability.</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 2,000 Madrid students a year would finish one</a:t>
            </a:r>
            <a:endParaRPr lang="en-US" sz="3200" dirty="0"/>
          </a:p>
        </p:txBody>
      </p:sp>
      <p:sp>
        <p:nvSpPr>
          <p:cNvPr id="4" name="funnel-193"/>
          <p:cNvSpPr/>
          <p:nvPr/>
        </p:nvSpPr>
        <p:spPr>
          <a:xfrm>
            <a:off x="548640" y="1417320"/>
            <a:ext cx="6583680" cy="731520"/>
          </a:xfrm>
          <a:prstGeom prst="roundRect">
            <a:avLst>
              <a:gd name="adj" fmla="val 10000"/>
            </a:avLst>
          </a:prstGeom>
          <a:solidFill>
            <a:schemeClr val="bg2"/>
          </a:solidFill>
          <a:ln w="12700">
            <a:solidFill>
              <a:schemeClr val="bg2"/>
            </a:solidFill>
            <a:prstDash val="solid"/>
          </a:ln>
        </p:spPr>
      </p:sp>
      <p:sp>
        <p:nvSpPr>
          <p:cNvPr id="5" name="text-194"/>
          <p:cNvSpPr txBox="1"/>
          <p:nvPr/>
        </p:nvSpPr>
        <p:spPr>
          <a:xfrm>
            <a:off x="685800" y="1417320"/>
            <a:ext cx="6309360" cy="731520"/>
          </a:xfrm>
          <a:prstGeom prst="rect">
            <a:avLst/>
          </a:prstGeom>
          <a:noFill/>
          <a:ln/>
        </p:spPr>
        <p:txBody>
          <a:bodyPr wrap="square" lIns="0" tIns="0" rIns="0" bIns="0" rtlCol="0" anchor="ctr"/>
          <a:lstStyle/>
          <a:p>
            <a:pPr algn="ctr" indent="0" marL="0">
              <a:buNone/>
            </a:pPr>
            <a:r>
              <a:rPr lang="en-US" sz="1800" b="1" dirty="0">
                <a:solidFill>
                  <a:schemeClr val="tx1"/>
                </a:solidFill>
              </a:rPr>
              <a:t>260,000  </a:t>
            </a:r>
            <a:pPr algn="ctr" indent="0" marL="0">
              <a:buNone/>
            </a:pPr>
            <a:r>
              <a:rPr lang="en-US" sz="1300" dirty="0">
                <a:solidFill>
                  <a:schemeClr val="tx1"/>
                </a:solidFill>
              </a:rPr>
              <a:t>Madrid undergraduates (known, 2024/25)</a:t>
            </a:r>
            <a:endParaRPr lang="en-US" sz="1500" dirty="0"/>
          </a:p>
        </p:txBody>
      </p:sp>
      <p:sp>
        <p:nvSpPr>
          <p:cNvPr id="6" name="funnel-195"/>
          <p:cNvSpPr/>
          <p:nvPr/>
        </p:nvSpPr>
        <p:spPr>
          <a:xfrm>
            <a:off x="960120" y="2286000"/>
            <a:ext cx="5760720" cy="731520"/>
          </a:xfrm>
          <a:prstGeom prst="roundRect">
            <a:avLst>
              <a:gd name="adj" fmla="val 10000"/>
            </a:avLst>
          </a:prstGeom>
          <a:solidFill>
            <a:schemeClr val="bg2"/>
          </a:solidFill>
          <a:ln w="12700">
            <a:solidFill>
              <a:schemeClr val="bg2"/>
            </a:solidFill>
            <a:prstDash val="solid"/>
          </a:ln>
        </p:spPr>
      </p:sp>
      <p:sp>
        <p:nvSpPr>
          <p:cNvPr id="7" name="text-196"/>
          <p:cNvSpPr txBox="1"/>
          <p:nvPr/>
        </p:nvSpPr>
        <p:spPr>
          <a:xfrm>
            <a:off x="1097280" y="2286000"/>
            <a:ext cx="5486400" cy="731520"/>
          </a:xfrm>
          <a:prstGeom prst="rect">
            <a:avLst/>
          </a:prstGeom>
          <a:noFill/>
          <a:ln/>
        </p:spPr>
        <p:txBody>
          <a:bodyPr wrap="square" lIns="0" tIns="0" rIns="0" bIns="0" rtlCol="0" anchor="ctr"/>
          <a:lstStyle/>
          <a:p>
            <a:pPr algn="ctr" indent="0" marL="0">
              <a:buNone/>
            </a:pPr>
            <a:r>
              <a:rPr lang="en-US" sz="1800" b="1" dirty="0">
                <a:solidFill>
                  <a:schemeClr val="tx1"/>
                </a:solidFill>
              </a:rPr>
              <a:t>26,000  </a:t>
            </a:r>
            <a:pPr algn="ctr" indent="0" marL="0">
              <a:buNone/>
            </a:pPr>
            <a:r>
              <a:rPr lang="en-US" sz="1300" dirty="0">
                <a:solidFill>
                  <a:schemeClr val="tx1"/>
                </a:solidFill>
              </a:rPr>
              <a:t>in tech studies (assume 10%)</a:t>
            </a:r>
            <a:endParaRPr lang="en-US" sz="1500" dirty="0"/>
          </a:p>
        </p:txBody>
      </p:sp>
      <p:sp>
        <p:nvSpPr>
          <p:cNvPr id="8" name="funnel-197"/>
          <p:cNvSpPr/>
          <p:nvPr/>
        </p:nvSpPr>
        <p:spPr>
          <a:xfrm>
            <a:off x="1371600" y="3154680"/>
            <a:ext cx="4937760" cy="731520"/>
          </a:xfrm>
          <a:prstGeom prst="roundRect">
            <a:avLst>
              <a:gd name="adj" fmla="val 10000"/>
            </a:avLst>
          </a:prstGeom>
          <a:solidFill>
            <a:schemeClr val="bg2"/>
          </a:solidFill>
          <a:ln w="12700">
            <a:solidFill>
              <a:schemeClr val="bg2"/>
            </a:solidFill>
            <a:prstDash val="solid"/>
          </a:ln>
        </p:spPr>
      </p:sp>
      <p:sp>
        <p:nvSpPr>
          <p:cNvPr id="9" name="text-198"/>
          <p:cNvSpPr txBox="1"/>
          <p:nvPr/>
        </p:nvSpPr>
        <p:spPr>
          <a:xfrm>
            <a:off x="1508760" y="3154680"/>
            <a:ext cx="4663440" cy="731520"/>
          </a:xfrm>
          <a:prstGeom prst="rect">
            <a:avLst/>
          </a:prstGeom>
          <a:noFill/>
          <a:ln/>
        </p:spPr>
        <p:txBody>
          <a:bodyPr wrap="square" lIns="0" tIns="0" rIns="0" bIns="0" rtlCol="0" anchor="ctr"/>
          <a:lstStyle/>
          <a:p>
            <a:pPr algn="ctr" indent="0" marL="0">
              <a:buNone/>
            </a:pPr>
            <a:r>
              <a:rPr lang="en-US" sz="1800" b="1" dirty="0">
                <a:solidFill>
                  <a:schemeClr val="tx1"/>
                </a:solidFill>
              </a:rPr>
              <a:t>19,500  </a:t>
            </a:r>
            <a:pPr algn="ctr" indent="0" marL="0">
              <a:buNone/>
            </a:pPr>
            <a:r>
              <a:rPr lang="en-US" sz="1300" dirty="0">
                <a:solidFill>
                  <a:schemeClr val="tx1"/>
                </a:solidFill>
              </a:rPr>
              <a:t>in years 2–4 (assume 75%)</a:t>
            </a:r>
            <a:endParaRPr lang="en-US" sz="1500" dirty="0"/>
          </a:p>
        </p:txBody>
      </p:sp>
      <p:sp>
        <p:nvSpPr>
          <p:cNvPr id="10" name="funnel-199"/>
          <p:cNvSpPr/>
          <p:nvPr/>
        </p:nvSpPr>
        <p:spPr>
          <a:xfrm>
            <a:off x="1783080" y="4023360"/>
            <a:ext cx="4114800" cy="731520"/>
          </a:xfrm>
          <a:prstGeom prst="roundRect">
            <a:avLst>
              <a:gd name="adj" fmla="val 10000"/>
            </a:avLst>
          </a:prstGeom>
          <a:solidFill>
            <a:schemeClr val="bg2"/>
          </a:solidFill>
          <a:ln w="12700">
            <a:solidFill>
              <a:schemeClr val="bg2"/>
            </a:solidFill>
            <a:prstDash val="solid"/>
          </a:ln>
        </p:spPr>
      </p:sp>
      <p:sp>
        <p:nvSpPr>
          <p:cNvPr id="11" name="text-200"/>
          <p:cNvSpPr txBox="1"/>
          <p:nvPr/>
        </p:nvSpPr>
        <p:spPr>
          <a:xfrm>
            <a:off x="1920240" y="4023360"/>
            <a:ext cx="3840480" cy="731520"/>
          </a:xfrm>
          <a:prstGeom prst="rect">
            <a:avLst/>
          </a:prstGeom>
          <a:noFill/>
          <a:ln/>
        </p:spPr>
        <p:txBody>
          <a:bodyPr wrap="square" lIns="0" tIns="0" rIns="0" bIns="0" rtlCol="0" anchor="ctr"/>
          <a:lstStyle/>
          <a:p>
            <a:pPr algn="ctr" indent="0" marL="0">
              <a:buNone/>
            </a:pPr>
            <a:r>
              <a:rPr lang="en-US" sz="1800" b="1" dirty="0">
                <a:solidFill>
                  <a:schemeClr val="tx1"/>
                </a:solidFill>
              </a:rPr>
              <a:t>9,750  </a:t>
            </a:r>
            <a:pPr algn="ctr" indent="0" marL="0">
              <a:buNone/>
            </a:pPr>
            <a:r>
              <a:rPr lang="en-US" sz="1300" dirty="0">
                <a:solidFill>
                  <a:schemeClr val="tx1"/>
                </a:solidFill>
              </a:rPr>
              <a:t>with an experience gap (assume 50%)</a:t>
            </a:r>
            <a:endParaRPr lang="en-US" sz="1500" dirty="0"/>
          </a:p>
        </p:txBody>
      </p:sp>
      <p:sp>
        <p:nvSpPr>
          <p:cNvPr id="12" name="funnel-201"/>
          <p:cNvSpPr/>
          <p:nvPr/>
        </p:nvSpPr>
        <p:spPr>
          <a:xfrm>
            <a:off x="2194560" y="4892040"/>
            <a:ext cx="3291840" cy="731520"/>
          </a:xfrm>
          <a:prstGeom prst="roundRect">
            <a:avLst>
              <a:gd name="adj" fmla="val 10000"/>
            </a:avLst>
          </a:prstGeom>
          <a:solidFill>
            <a:schemeClr val="accent1"/>
          </a:solidFill>
          <a:ln w="12700">
            <a:solidFill>
              <a:schemeClr val="accent1"/>
            </a:solidFill>
            <a:prstDash val="solid"/>
          </a:ln>
        </p:spPr>
      </p:sp>
      <p:sp>
        <p:nvSpPr>
          <p:cNvPr id="13" name="text-202"/>
          <p:cNvSpPr txBox="1"/>
          <p:nvPr/>
        </p:nvSpPr>
        <p:spPr>
          <a:xfrm>
            <a:off x="2331720" y="4892040"/>
            <a:ext cx="3017520" cy="731520"/>
          </a:xfrm>
          <a:prstGeom prst="rect">
            <a:avLst/>
          </a:prstGeom>
          <a:noFill/>
          <a:ln/>
        </p:spPr>
        <p:txBody>
          <a:bodyPr wrap="square" lIns="0" tIns="0" rIns="0" bIns="0" rtlCol="0" anchor="ctr"/>
          <a:lstStyle/>
          <a:p>
            <a:pPr algn="ctr" indent="0" marL="0">
              <a:buNone/>
            </a:pPr>
            <a:r>
              <a:rPr lang="en-US" sz="1800" b="1" dirty="0">
                <a:solidFill>
                  <a:schemeClr val="bg1"/>
                </a:solidFill>
              </a:rPr>
              <a:t>≈ 2,000  </a:t>
            </a:r>
            <a:pPr algn="ctr" indent="0" marL="0">
              <a:buNone/>
            </a:pPr>
            <a:r>
              <a:rPr lang="en-US" sz="1300" dirty="0">
                <a:solidFill>
                  <a:schemeClr val="bg1"/>
                </a:solidFill>
              </a:rPr>
              <a:t>complete a challenge this year (assume 20%)</a:t>
            </a:r>
            <a:endParaRPr lang="en-US" sz="1500" dirty="0"/>
          </a:p>
        </p:txBody>
      </p:sp>
      <p:sp>
        <p:nvSpPr>
          <p:cNvPr id="14" name="card-203"/>
          <p:cNvSpPr/>
          <p:nvPr/>
        </p:nvSpPr>
        <p:spPr>
          <a:xfrm>
            <a:off x="7498080" y="1417320"/>
            <a:ext cx="4114800" cy="4434840"/>
          </a:xfrm>
          <a:prstGeom prst="roundRect">
            <a:avLst>
              <a:gd name="adj" fmla="val 1778"/>
            </a:avLst>
          </a:prstGeom>
          <a:solidFill>
            <a:schemeClr val="tx2"/>
          </a:solidFill>
          <a:ln w="12700">
            <a:solidFill>
              <a:schemeClr val="tx2"/>
            </a:solidFill>
            <a:prstDash val="solid"/>
          </a:ln>
        </p:spPr>
      </p:sp>
      <p:sp>
        <p:nvSpPr>
          <p:cNvPr id="15" name="text-204"/>
          <p:cNvSpPr txBox="1"/>
          <p:nvPr/>
        </p:nvSpPr>
        <p:spPr>
          <a:xfrm>
            <a:off x="7772400" y="1645920"/>
            <a:ext cx="3657600" cy="365760"/>
          </a:xfrm>
          <a:prstGeom prst="rect">
            <a:avLst/>
          </a:prstGeom>
          <a:noFill/>
          <a:ln/>
        </p:spPr>
        <p:txBody>
          <a:bodyPr wrap="square" lIns="0" tIns="0" rIns="0" bIns="0" rtlCol="0" anchor="t"/>
          <a:lstStyle/>
          <a:p>
            <a:pPr indent="0" marL="0">
              <a:buNone/>
            </a:pPr>
            <a:r>
              <a:rPr lang="en-US" sz="1600" b="1" dirty="0">
                <a:solidFill>
                  <a:schemeClr val="accent2"/>
                </a:solidFill>
              </a:rPr>
              <a:t>If only students pay €15</a:t>
            </a:r>
            <a:endParaRPr lang="en-US" sz="1600" dirty="0"/>
          </a:p>
        </p:txBody>
      </p:sp>
      <p:sp>
        <p:nvSpPr>
          <p:cNvPr id="16" name="text-205"/>
          <p:cNvSpPr txBox="1"/>
          <p:nvPr/>
        </p:nvSpPr>
        <p:spPr>
          <a:xfrm>
            <a:off x="7772400" y="2148840"/>
            <a:ext cx="2103120" cy="548640"/>
          </a:xfrm>
          <a:prstGeom prst="rect">
            <a:avLst/>
          </a:prstGeom>
          <a:noFill/>
          <a:ln/>
        </p:spPr>
        <p:txBody>
          <a:bodyPr wrap="square" lIns="0" tIns="0" rIns="0" bIns="0" rtlCol="0" anchor="ctr"/>
          <a:lstStyle/>
          <a:p>
            <a:pPr indent="0" marL="0">
              <a:buNone/>
            </a:pPr>
            <a:r>
              <a:rPr lang="en-US" sz="1400" dirty="0">
                <a:solidFill>
                  <a:schemeClr val="accent5"/>
                </a:solidFill>
              </a:rPr>
              <a:t>5% pay</a:t>
            </a:r>
            <a:endParaRPr lang="en-US" sz="1400" dirty="0"/>
          </a:p>
        </p:txBody>
      </p:sp>
      <p:sp>
        <p:nvSpPr>
          <p:cNvPr id="17" name="text-206"/>
          <p:cNvSpPr txBox="1"/>
          <p:nvPr/>
        </p:nvSpPr>
        <p:spPr>
          <a:xfrm>
            <a:off x="9692640" y="2148840"/>
            <a:ext cx="1737360" cy="548640"/>
          </a:xfrm>
          <a:prstGeom prst="rect">
            <a:avLst/>
          </a:prstGeom>
          <a:noFill/>
          <a:ln/>
        </p:spPr>
        <p:txBody>
          <a:bodyPr wrap="square" lIns="0" tIns="0" rIns="0" bIns="0" rtlCol="0" anchor="ctr"/>
          <a:lstStyle/>
          <a:p>
            <a:pPr algn="r" indent="0" marL="0">
              <a:buNone/>
            </a:pPr>
            <a:r>
              <a:rPr lang="en-US" sz="1800" b="1" dirty="0">
                <a:solidFill>
                  <a:schemeClr val="bg1"/>
                </a:solidFill>
              </a:rPr>
              <a:t>€1,462 / yr</a:t>
            </a:r>
            <a:endParaRPr lang="en-US" sz="1800" dirty="0"/>
          </a:p>
        </p:txBody>
      </p:sp>
      <p:sp>
        <p:nvSpPr>
          <p:cNvPr id="18" name="text-207"/>
          <p:cNvSpPr txBox="1"/>
          <p:nvPr/>
        </p:nvSpPr>
        <p:spPr>
          <a:xfrm>
            <a:off x="7772400" y="2834640"/>
            <a:ext cx="2103120" cy="548640"/>
          </a:xfrm>
          <a:prstGeom prst="rect">
            <a:avLst/>
          </a:prstGeom>
          <a:noFill/>
          <a:ln/>
        </p:spPr>
        <p:txBody>
          <a:bodyPr wrap="square" lIns="0" tIns="0" rIns="0" bIns="0" rtlCol="0" anchor="ctr"/>
          <a:lstStyle/>
          <a:p>
            <a:pPr indent="0" marL="0">
              <a:buNone/>
            </a:pPr>
            <a:r>
              <a:rPr lang="en-US" sz="1400" dirty="0">
                <a:solidFill>
                  <a:schemeClr val="accent5"/>
                </a:solidFill>
              </a:rPr>
              <a:t>10% pay</a:t>
            </a:r>
            <a:endParaRPr lang="en-US" sz="1400" dirty="0"/>
          </a:p>
        </p:txBody>
      </p:sp>
      <p:sp>
        <p:nvSpPr>
          <p:cNvPr id="19" name="text-208"/>
          <p:cNvSpPr txBox="1"/>
          <p:nvPr/>
        </p:nvSpPr>
        <p:spPr>
          <a:xfrm>
            <a:off x="9692640" y="2834640"/>
            <a:ext cx="1737360" cy="548640"/>
          </a:xfrm>
          <a:prstGeom prst="rect">
            <a:avLst/>
          </a:prstGeom>
          <a:noFill/>
          <a:ln/>
        </p:spPr>
        <p:txBody>
          <a:bodyPr wrap="square" lIns="0" tIns="0" rIns="0" bIns="0" rtlCol="0" anchor="ctr"/>
          <a:lstStyle/>
          <a:p>
            <a:pPr algn="r" indent="0" marL="0">
              <a:buNone/>
            </a:pPr>
            <a:r>
              <a:rPr lang="en-US" sz="1800" b="1" dirty="0">
                <a:solidFill>
                  <a:schemeClr val="bg1"/>
                </a:solidFill>
              </a:rPr>
              <a:t>€2,925 / yr</a:t>
            </a:r>
            <a:endParaRPr lang="en-US" sz="1800" dirty="0"/>
          </a:p>
        </p:txBody>
      </p:sp>
      <p:sp>
        <p:nvSpPr>
          <p:cNvPr id="20" name="text-209"/>
          <p:cNvSpPr txBox="1"/>
          <p:nvPr/>
        </p:nvSpPr>
        <p:spPr>
          <a:xfrm>
            <a:off x="7772400" y="3520440"/>
            <a:ext cx="2103120" cy="548640"/>
          </a:xfrm>
          <a:prstGeom prst="rect">
            <a:avLst/>
          </a:prstGeom>
          <a:noFill/>
          <a:ln/>
        </p:spPr>
        <p:txBody>
          <a:bodyPr wrap="square" lIns="0" tIns="0" rIns="0" bIns="0" rtlCol="0" anchor="ctr"/>
          <a:lstStyle/>
          <a:p>
            <a:pPr indent="0" marL="0">
              <a:buNone/>
            </a:pPr>
            <a:r>
              <a:rPr lang="en-US" sz="1400" dirty="0">
                <a:solidFill>
                  <a:schemeClr val="accent5"/>
                </a:solidFill>
              </a:rPr>
              <a:t>30% pay (our threshold)</a:t>
            </a:r>
            <a:endParaRPr lang="en-US" sz="1400" dirty="0"/>
          </a:p>
        </p:txBody>
      </p:sp>
      <p:sp>
        <p:nvSpPr>
          <p:cNvPr id="21" name="text-210"/>
          <p:cNvSpPr txBox="1"/>
          <p:nvPr/>
        </p:nvSpPr>
        <p:spPr>
          <a:xfrm>
            <a:off x="9692640" y="3520440"/>
            <a:ext cx="1737360" cy="548640"/>
          </a:xfrm>
          <a:prstGeom prst="rect">
            <a:avLst/>
          </a:prstGeom>
          <a:noFill/>
          <a:ln/>
        </p:spPr>
        <p:txBody>
          <a:bodyPr wrap="square" lIns="0" tIns="0" rIns="0" bIns="0" rtlCol="0" anchor="ctr"/>
          <a:lstStyle/>
          <a:p>
            <a:pPr algn="r" indent="0" marL="0">
              <a:buNone/>
            </a:pPr>
            <a:r>
              <a:rPr lang="en-US" sz="1800" b="1" dirty="0">
                <a:solidFill>
                  <a:schemeClr val="bg1"/>
                </a:solidFill>
              </a:rPr>
              <a:t>€8,775 / yr</a:t>
            </a:r>
            <a:endParaRPr lang="en-US" sz="1800" dirty="0"/>
          </a:p>
        </p:txBody>
      </p:sp>
      <p:sp>
        <p:nvSpPr>
          <p:cNvPr id="22" name="text-211"/>
          <p:cNvSpPr txBox="1"/>
          <p:nvPr/>
        </p:nvSpPr>
        <p:spPr>
          <a:xfrm>
            <a:off x="7772400" y="4297680"/>
            <a:ext cx="3657600" cy="1463040"/>
          </a:xfrm>
          <a:prstGeom prst="rect">
            <a:avLst/>
          </a:prstGeom>
          <a:noFill/>
          <a:ln/>
        </p:spPr>
        <p:txBody>
          <a:bodyPr wrap="square" lIns="0" tIns="0" rIns="0" bIns="0" rtlCol="0" anchor="t"/>
          <a:lstStyle/>
          <a:p>
            <a:pPr indent="0" marL="0">
              <a:buNone/>
            </a:pPr>
            <a:r>
              <a:rPr lang="en-US" sz="1400" dirty="0">
                <a:solidFill>
                  <a:schemeClr val="bg1"/>
                </a:solidFill>
              </a:rPr>
              <a:t>So what: student fees alone can't fund engineer time or a platform. Companies must pay, which makes "which side pays first" the key open question.</a:t>
            </a:r>
            <a:endParaRPr lang="en-US" sz="1400" dirty="0"/>
          </a:p>
        </p:txBody>
      </p:sp>
      <p:sp>
        <p:nvSpPr>
          <p:cNvPr id="23" name="text-212"/>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market-research/README.md, v2 Fermi estimate. Range on the last step alone: 975–2,925.</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05  ·  STRATEGY AND BUSINESS MODEL</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Lower cost, higher value per result</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The ERRC grid, the value innovation hypothesis, how the product works and who pays</a:t>
            </a:r>
            <a:endParaRPr lang="en-US" sz="1800" dirty="0"/>
          </a:p>
        </p:txBody>
      </p:sp>
      <p:sp>
        <p:nvSpPr>
          <p:cNvPr id="5" name="badge-213"/>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214"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ERRC: four moves that change cost and value</a:t>
            </a:r>
            <a:endParaRPr lang="en-US" sz="3200" dirty="0"/>
          </a:p>
        </p:txBody>
      </p:sp>
      <p:sp>
        <p:nvSpPr>
          <p:cNvPr id="4" name="card-215"/>
          <p:cNvSpPr/>
          <p:nvPr/>
        </p:nvSpPr>
        <p:spPr>
          <a:xfrm>
            <a:off x="548640" y="1417320"/>
            <a:ext cx="2606040" cy="4434840"/>
          </a:xfrm>
          <a:prstGeom prst="roundRect">
            <a:avLst>
              <a:gd name="adj" fmla="val 2807"/>
            </a:avLst>
          </a:prstGeom>
          <a:solidFill>
            <a:schemeClr val="bg2"/>
          </a:solidFill>
          <a:ln w="12700">
            <a:solidFill>
              <a:schemeClr val="bg2"/>
            </a:solidFill>
            <a:prstDash val="solid"/>
          </a:ln>
        </p:spPr>
      </p:sp>
      <p:sp>
        <p:nvSpPr>
          <p:cNvPr id="5" name="badge-216"/>
          <p:cNvSpPr/>
          <p:nvPr/>
        </p:nvSpPr>
        <p:spPr>
          <a:xfrm>
            <a:off x="777240" y="1645920"/>
            <a:ext cx="685800" cy="685800"/>
          </a:xfrm>
          <a:prstGeom prst="ellipse">
            <a:avLst/>
          </a:prstGeom>
          <a:solidFill>
            <a:schemeClr val="accent4"/>
          </a:solidFill>
          <a:ln w="12700">
            <a:solidFill>
              <a:schemeClr val="accent4"/>
            </a:solidFill>
            <a:prstDash val="solid"/>
          </a:ln>
        </p:spPr>
      </p:sp>
      <p:pic>
        <p:nvPicPr>
          <p:cNvPr id="6" name="icon-217" descr="preencoded.png">    </p:cNvPr>
          <p:cNvPicPr>
            <a:picLocks noChangeAspect="1"/>
          </p:cNvPicPr>
          <p:nvPr/>
        </p:nvPicPr>
        <p:blipFill>
          <a:blip r:embed="rId1"/>
          <a:stretch>
            <a:fillRect/>
          </a:stretch>
        </p:blipFill>
        <p:spPr>
          <a:xfrm>
            <a:off x="941832" y="1810512"/>
            <a:ext cx="356616" cy="356616"/>
          </a:xfrm>
          <a:prstGeom prst="rect">
            <a:avLst/>
          </a:prstGeom>
        </p:spPr>
      </p:pic>
      <p:sp>
        <p:nvSpPr>
          <p:cNvPr id="7" name="text-218"/>
          <p:cNvSpPr txBox="1"/>
          <p:nvPr/>
        </p:nvSpPr>
        <p:spPr>
          <a:xfrm>
            <a:off x="1600200" y="1783080"/>
            <a:ext cx="1463040" cy="457200"/>
          </a:xfrm>
          <a:prstGeom prst="rect">
            <a:avLst/>
          </a:prstGeom>
          <a:noFill/>
          <a:ln/>
        </p:spPr>
        <p:txBody>
          <a:bodyPr wrap="square" lIns="0" tIns="0" rIns="0" bIns="0" rtlCol="0" anchor="t"/>
          <a:lstStyle/>
          <a:p>
            <a:pPr indent="0" marL="0">
              <a:buNone/>
            </a:pPr>
            <a:r>
              <a:rPr lang="en-US" sz="2000" b="1" dirty="0">
                <a:solidFill>
                  <a:schemeClr val="tx2"/>
                </a:solidFill>
              </a:rPr>
              <a:t>Eliminate</a:t>
            </a:r>
            <a:endParaRPr lang="en-US" sz="2000" dirty="0"/>
          </a:p>
        </p:txBody>
      </p:sp>
      <p:sp>
        <p:nvSpPr>
          <p:cNvPr id="8" name="text-219"/>
          <p:cNvSpPr txBox="1"/>
          <p:nvPr/>
        </p:nvSpPr>
        <p:spPr>
          <a:xfrm>
            <a:off x="777240" y="2514600"/>
            <a:ext cx="2194560" cy="1371600"/>
          </a:xfrm>
          <a:prstGeom prst="rect">
            <a:avLst/>
          </a:prstGeom>
          <a:noFill/>
          <a:ln/>
        </p:spPr>
        <p:txBody>
          <a:bodyPr wrap="square" lIns="0" tIns="0" rIns="0" bIns="0" rtlCol="0" anchor="t"/>
          <a:lstStyle/>
          <a:p>
            <a:pPr indent="0" marL="0">
              <a:buNone/>
            </a:pPr>
            <a:r>
              <a:rPr lang="en-US" sz="1400" b="1" dirty="0">
                <a:solidFill>
                  <a:schemeClr val="tx1"/>
                </a:solidFill>
              </a:rPr>
              <a:t>Prize pools and weekend-long hackathons</a:t>
            </a:r>
            <a:endParaRPr lang="en-US" sz="1400" dirty="0"/>
          </a:p>
        </p:txBody>
      </p:sp>
      <p:sp>
        <p:nvSpPr>
          <p:cNvPr id="9" name="text-220"/>
          <p:cNvSpPr txBox="1"/>
          <p:nvPr/>
        </p:nvSpPr>
        <p:spPr>
          <a:xfrm>
            <a:off x="777240" y="3931920"/>
            <a:ext cx="2194560" cy="868680"/>
          </a:xfrm>
          <a:prstGeom prst="rect">
            <a:avLst/>
          </a:prstGeom>
          <a:noFill/>
          <a:ln/>
        </p:spPr>
        <p:txBody>
          <a:bodyPr wrap="square" lIns="0" tIns="0" rIns="0" bIns="0" rtlCol="0" anchor="t"/>
          <a:lstStyle/>
          <a:p>
            <a:pPr indent="0" marL="0">
              <a:buNone/>
            </a:pPr>
            <a:r>
              <a:rPr lang="en-US" sz="1300" b="1" dirty="0">
                <a:solidFill>
                  <a:schemeClr val="accent3"/>
                </a:solidFill>
              </a:rPr>
              <a:t>Cost: </a:t>
            </a:r>
            <a:pPr indent="0" marL="0">
              <a:buNone/>
            </a:pPr>
            <a:r>
              <a:rPr lang="en-US" sz="1300" dirty="0">
                <a:solidFill>
                  <a:schemeClr val="tx1"/>
                </a:solidFill>
              </a:rPr>
              <a:t>No prize budget or event logistics</a:t>
            </a:r>
            <a:endParaRPr lang="en-US" sz="1300" dirty="0"/>
          </a:p>
        </p:txBody>
      </p:sp>
      <p:sp>
        <p:nvSpPr>
          <p:cNvPr id="10" name="text-221"/>
          <p:cNvSpPr txBox="1"/>
          <p:nvPr/>
        </p:nvSpPr>
        <p:spPr>
          <a:xfrm>
            <a:off x="777240" y="4800600"/>
            <a:ext cx="2194560" cy="868680"/>
          </a:xfrm>
          <a:prstGeom prst="rect">
            <a:avLst/>
          </a:prstGeom>
          <a:noFill/>
          <a:ln/>
        </p:spPr>
        <p:txBody>
          <a:bodyPr wrap="square" lIns="0" tIns="0" rIns="0" bIns="0" rtlCol="0" anchor="t"/>
          <a:lstStyle/>
          <a:p>
            <a:pPr indent="0" marL="0">
              <a:buNone/>
            </a:pPr>
            <a:r>
              <a:rPr lang="en-US" sz="1300" b="1" dirty="0">
                <a:solidFill>
                  <a:schemeClr val="accent1"/>
                </a:solidFill>
              </a:rPr>
              <a:t>Value: </a:t>
            </a:r>
            <a:pPr indent="0" marL="0">
              <a:buNone/>
            </a:pPr>
            <a:r>
              <a:rPr lang="en-US" sz="1300" dirty="0">
                <a:solidFill>
                  <a:schemeClr val="tx1"/>
                </a:solidFill>
              </a:rPr>
              <a:t>Students keep evenings and weekends</a:t>
            </a:r>
            <a:endParaRPr lang="en-US" sz="1300" dirty="0"/>
          </a:p>
        </p:txBody>
      </p:sp>
      <p:sp>
        <p:nvSpPr>
          <p:cNvPr id="11" name="card-222"/>
          <p:cNvSpPr/>
          <p:nvPr/>
        </p:nvSpPr>
        <p:spPr>
          <a:xfrm>
            <a:off x="3383280" y="1417320"/>
            <a:ext cx="2606040" cy="4434840"/>
          </a:xfrm>
          <a:prstGeom prst="roundRect">
            <a:avLst>
              <a:gd name="adj" fmla="val 2807"/>
            </a:avLst>
          </a:prstGeom>
          <a:solidFill>
            <a:schemeClr val="bg2"/>
          </a:solidFill>
          <a:ln w="12700">
            <a:solidFill>
              <a:schemeClr val="bg2"/>
            </a:solidFill>
            <a:prstDash val="solid"/>
          </a:ln>
        </p:spPr>
      </p:sp>
      <p:sp>
        <p:nvSpPr>
          <p:cNvPr id="12" name="badge-223"/>
          <p:cNvSpPr/>
          <p:nvPr/>
        </p:nvSpPr>
        <p:spPr>
          <a:xfrm>
            <a:off x="3611880" y="1645920"/>
            <a:ext cx="685800" cy="685800"/>
          </a:xfrm>
          <a:prstGeom prst="ellipse">
            <a:avLst/>
          </a:prstGeom>
          <a:solidFill>
            <a:schemeClr val="accent2"/>
          </a:solidFill>
          <a:ln w="12700">
            <a:solidFill>
              <a:schemeClr val="accent2"/>
            </a:solidFill>
            <a:prstDash val="solid"/>
          </a:ln>
        </p:spPr>
      </p:sp>
      <p:pic>
        <p:nvPicPr>
          <p:cNvPr id="13" name="icon-224" descr="preencoded.png">    </p:cNvPr>
          <p:cNvPicPr>
            <a:picLocks noChangeAspect="1"/>
          </p:cNvPicPr>
          <p:nvPr/>
        </p:nvPicPr>
        <p:blipFill>
          <a:blip r:embed="rId2"/>
          <a:stretch>
            <a:fillRect/>
          </a:stretch>
        </p:blipFill>
        <p:spPr>
          <a:xfrm>
            <a:off x="3776472" y="1810512"/>
            <a:ext cx="356616" cy="356616"/>
          </a:xfrm>
          <a:prstGeom prst="rect">
            <a:avLst/>
          </a:prstGeom>
        </p:spPr>
      </p:pic>
      <p:sp>
        <p:nvSpPr>
          <p:cNvPr id="14" name="text-225"/>
          <p:cNvSpPr txBox="1"/>
          <p:nvPr/>
        </p:nvSpPr>
        <p:spPr>
          <a:xfrm>
            <a:off x="4434840" y="1783080"/>
            <a:ext cx="1463040" cy="457200"/>
          </a:xfrm>
          <a:prstGeom prst="rect">
            <a:avLst/>
          </a:prstGeom>
          <a:noFill/>
          <a:ln/>
        </p:spPr>
        <p:txBody>
          <a:bodyPr wrap="square" lIns="0" tIns="0" rIns="0" bIns="0" rtlCol="0" anchor="t"/>
          <a:lstStyle/>
          <a:p>
            <a:pPr indent="0" marL="0">
              <a:buNone/>
            </a:pPr>
            <a:r>
              <a:rPr lang="en-US" sz="2000" b="1" dirty="0">
                <a:solidFill>
                  <a:schemeClr val="tx2"/>
                </a:solidFill>
              </a:rPr>
              <a:t>Reduce</a:t>
            </a:r>
            <a:endParaRPr lang="en-US" sz="2000" dirty="0"/>
          </a:p>
        </p:txBody>
      </p:sp>
      <p:sp>
        <p:nvSpPr>
          <p:cNvPr id="15" name="text-226"/>
          <p:cNvSpPr txBox="1"/>
          <p:nvPr/>
        </p:nvSpPr>
        <p:spPr>
          <a:xfrm>
            <a:off x="3611880" y="2514600"/>
            <a:ext cx="2194560" cy="1371600"/>
          </a:xfrm>
          <a:prstGeom prst="rect">
            <a:avLst/>
          </a:prstGeom>
          <a:noFill/>
          <a:ln/>
        </p:spPr>
        <p:txBody>
          <a:bodyPr wrap="square" lIns="0" tIns="0" rIns="0" bIns="0" rtlCol="0" anchor="t"/>
          <a:lstStyle/>
          <a:p>
            <a:pPr indent="0" marL="0">
              <a:buNone/>
            </a:pPr>
            <a:r>
              <a:rPr lang="en-US" sz="1400" b="1" dirty="0">
                <a:solidFill>
                  <a:schemeClr val="tx1"/>
                </a:solidFill>
              </a:rPr>
              <a:t>Time to 2–7 h; AI rubric + tests score every entry; engineer scores a sample</a:t>
            </a:r>
            <a:endParaRPr lang="en-US" sz="1400" dirty="0"/>
          </a:p>
        </p:txBody>
      </p:sp>
      <p:sp>
        <p:nvSpPr>
          <p:cNvPr id="16" name="text-227"/>
          <p:cNvSpPr txBox="1"/>
          <p:nvPr/>
        </p:nvSpPr>
        <p:spPr>
          <a:xfrm>
            <a:off x="3611880" y="3931920"/>
            <a:ext cx="2194560" cy="868680"/>
          </a:xfrm>
          <a:prstGeom prst="rect">
            <a:avLst/>
          </a:prstGeom>
          <a:noFill/>
          <a:ln/>
        </p:spPr>
        <p:txBody>
          <a:bodyPr wrap="square" lIns="0" tIns="0" rIns="0" bIns="0" rtlCol="0" anchor="t"/>
          <a:lstStyle/>
          <a:p>
            <a:pPr indent="0" marL="0">
              <a:buNone/>
            </a:pPr>
            <a:r>
              <a:rPr lang="en-US" sz="1300" b="1" dirty="0">
                <a:solidFill>
                  <a:schemeClr val="accent3"/>
                </a:solidFill>
              </a:rPr>
              <a:t>Cost: </a:t>
            </a:r>
            <a:pPr indent="0" marL="0">
              <a:buNone/>
            </a:pPr>
            <a:r>
              <a:rPr lang="en-US" sz="1300" dirty="0">
                <a:solidFill>
                  <a:schemeClr val="tx1"/>
                </a:solidFill>
              </a:rPr>
              <a:t>Fewer engineer hours per challenge</a:t>
            </a:r>
            <a:endParaRPr lang="en-US" sz="1300" dirty="0"/>
          </a:p>
        </p:txBody>
      </p:sp>
      <p:sp>
        <p:nvSpPr>
          <p:cNvPr id="17" name="text-228"/>
          <p:cNvSpPr txBox="1"/>
          <p:nvPr/>
        </p:nvSpPr>
        <p:spPr>
          <a:xfrm>
            <a:off x="3611880" y="4800600"/>
            <a:ext cx="2194560" cy="868680"/>
          </a:xfrm>
          <a:prstGeom prst="rect">
            <a:avLst/>
          </a:prstGeom>
          <a:noFill/>
          <a:ln/>
        </p:spPr>
        <p:txBody>
          <a:bodyPr wrap="square" lIns="0" tIns="0" rIns="0" bIns="0" rtlCol="0" anchor="t"/>
          <a:lstStyle/>
          <a:p>
            <a:pPr indent="0" marL="0">
              <a:buNone/>
            </a:pPr>
            <a:r>
              <a:rPr lang="en-US" sz="1300" b="1" dirty="0">
                <a:solidFill>
                  <a:schemeClr val="accent1"/>
                </a:solidFill>
              </a:rPr>
              <a:t>Value: </a:t>
            </a:r>
            <a:pPr indent="0" marL="0">
              <a:buNone/>
            </a:pPr>
            <a:r>
              <a:rPr lang="en-US" sz="1300" dirty="0">
                <a:solidFill>
                  <a:schemeClr val="tx1"/>
                </a:solidFill>
              </a:rPr>
              <a:t>Fits 12/17 students' ≤4 h a week</a:t>
            </a:r>
            <a:endParaRPr lang="en-US" sz="1300" dirty="0"/>
          </a:p>
        </p:txBody>
      </p:sp>
      <p:sp>
        <p:nvSpPr>
          <p:cNvPr id="18" name="card-229"/>
          <p:cNvSpPr/>
          <p:nvPr/>
        </p:nvSpPr>
        <p:spPr>
          <a:xfrm>
            <a:off x="6217920" y="1417320"/>
            <a:ext cx="2606040" cy="4434840"/>
          </a:xfrm>
          <a:prstGeom prst="roundRect">
            <a:avLst>
              <a:gd name="adj" fmla="val 2807"/>
            </a:avLst>
          </a:prstGeom>
          <a:solidFill>
            <a:schemeClr val="bg2"/>
          </a:solidFill>
          <a:ln w="12700">
            <a:solidFill>
              <a:schemeClr val="bg2"/>
            </a:solidFill>
            <a:prstDash val="solid"/>
          </a:ln>
        </p:spPr>
      </p:sp>
      <p:sp>
        <p:nvSpPr>
          <p:cNvPr id="19" name="badge-230"/>
          <p:cNvSpPr/>
          <p:nvPr/>
        </p:nvSpPr>
        <p:spPr>
          <a:xfrm>
            <a:off x="6446520" y="1645920"/>
            <a:ext cx="685800" cy="685800"/>
          </a:xfrm>
          <a:prstGeom prst="ellipse">
            <a:avLst/>
          </a:prstGeom>
          <a:solidFill>
            <a:schemeClr val="accent6"/>
          </a:solidFill>
          <a:ln w="12700">
            <a:solidFill>
              <a:schemeClr val="accent6"/>
            </a:solidFill>
            <a:prstDash val="solid"/>
          </a:ln>
        </p:spPr>
      </p:sp>
      <p:pic>
        <p:nvPicPr>
          <p:cNvPr id="20" name="icon-231" descr="preencoded.png">    </p:cNvPr>
          <p:cNvPicPr>
            <a:picLocks noChangeAspect="1"/>
          </p:cNvPicPr>
          <p:nvPr/>
        </p:nvPicPr>
        <p:blipFill>
          <a:blip r:embed="rId3"/>
          <a:stretch>
            <a:fillRect/>
          </a:stretch>
        </p:blipFill>
        <p:spPr>
          <a:xfrm>
            <a:off x="6611112" y="1810512"/>
            <a:ext cx="356616" cy="356616"/>
          </a:xfrm>
          <a:prstGeom prst="rect">
            <a:avLst/>
          </a:prstGeom>
        </p:spPr>
      </p:pic>
      <p:sp>
        <p:nvSpPr>
          <p:cNvPr id="21" name="text-232"/>
          <p:cNvSpPr txBox="1"/>
          <p:nvPr/>
        </p:nvSpPr>
        <p:spPr>
          <a:xfrm>
            <a:off x="7269480" y="1783080"/>
            <a:ext cx="1463040" cy="457200"/>
          </a:xfrm>
          <a:prstGeom prst="rect">
            <a:avLst/>
          </a:prstGeom>
          <a:noFill/>
          <a:ln/>
        </p:spPr>
        <p:txBody>
          <a:bodyPr wrap="square" lIns="0" tIns="0" rIns="0" bIns="0" rtlCol="0" anchor="t"/>
          <a:lstStyle/>
          <a:p>
            <a:pPr indent="0" marL="0">
              <a:buNone/>
            </a:pPr>
            <a:r>
              <a:rPr lang="en-US" sz="2000" b="1" dirty="0">
                <a:solidFill>
                  <a:schemeClr val="tx2"/>
                </a:solidFill>
              </a:rPr>
              <a:t>Raise</a:t>
            </a:r>
            <a:endParaRPr lang="en-US" sz="2000" dirty="0"/>
          </a:p>
        </p:txBody>
      </p:sp>
      <p:sp>
        <p:nvSpPr>
          <p:cNvPr id="22" name="text-233"/>
          <p:cNvSpPr txBox="1"/>
          <p:nvPr/>
        </p:nvSpPr>
        <p:spPr>
          <a:xfrm>
            <a:off x="6446520" y="2514600"/>
            <a:ext cx="2194560" cy="1371600"/>
          </a:xfrm>
          <a:prstGeom prst="rect">
            <a:avLst/>
          </a:prstGeom>
          <a:noFill/>
          <a:ln/>
        </p:spPr>
        <p:txBody>
          <a:bodyPr wrap="square" lIns="0" tIns="0" rIns="0" bIns="0" rtlCol="0" anchor="t"/>
          <a:lstStyle/>
          <a:p>
            <a:pPr indent="0" marL="0">
              <a:buNone/>
            </a:pPr>
            <a:r>
              <a:rPr lang="en-US" sz="1400" b="1" dirty="0">
                <a:solidFill>
                  <a:schemeClr val="tx1"/>
                </a:solidFill>
              </a:rPr>
              <a:t>Verifiability: commits + peer ratings, 10-min debrief, feedback on every certified result</a:t>
            </a:r>
            <a:endParaRPr lang="en-US" sz="1400" dirty="0"/>
          </a:p>
        </p:txBody>
      </p:sp>
      <p:sp>
        <p:nvSpPr>
          <p:cNvPr id="23" name="text-234"/>
          <p:cNvSpPr txBox="1"/>
          <p:nvPr/>
        </p:nvSpPr>
        <p:spPr>
          <a:xfrm>
            <a:off x="6446520" y="3931920"/>
            <a:ext cx="2194560" cy="868680"/>
          </a:xfrm>
          <a:prstGeom prst="rect">
            <a:avLst/>
          </a:prstGeom>
          <a:noFill/>
          <a:ln/>
        </p:spPr>
        <p:txBody>
          <a:bodyPr wrap="square" lIns="0" tIns="0" rIns="0" bIns="0" rtlCol="0" anchor="t"/>
          <a:lstStyle/>
          <a:p>
            <a:pPr indent="0" marL="0">
              <a:buNone/>
            </a:pPr>
            <a:r>
              <a:rPr lang="en-US" sz="1300" b="1" dirty="0">
                <a:solidFill>
                  <a:schemeClr val="accent3"/>
                </a:solidFill>
              </a:rPr>
              <a:t>Cost: </a:t>
            </a:r>
            <a:pPr indent="0" marL="0">
              <a:buNone/>
            </a:pPr>
            <a:r>
              <a:rPr lang="en-US" sz="1300" dirty="0">
                <a:solidFill>
                  <a:schemeClr val="tx1"/>
                </a:solidFill>
              </a:rPr>
              <a:t>More engineer time per certified result</a:t>
            </a:r>
            <a:endParaRPr lang="en-US" sz="1300" dirty="0"/>
          </a:p>
        </p:txBody>
      </p:sp>
      <p:sp>
        <p:nvSpPr>
          <p:cNvPr id="24" name="text-235"/>
          <p:cNvSpPr txBox="1"/>
          <p:nvPr/>
        </p:nvSpPr>
        <p:spPr>
          <a:xfrm>
            <a:off x="6446520" y="4800600"/>
            <a:ext cx="2194560" cy="868680"/>
          </a:xfrm>
          <a:prstGeom prst="rect">
            <a:avLst/>
          </a:prstGeom>
          <a:noFill/>
          <a:ln/>
        </p:spPr>
        <p:txBody>
          <a:bodyPr wrap="square" lIns="0" tIns="0" rIns="0" bIns="0" rtlCol="0" anchor="t"/>
          <a:lstStyle/>
          <a:p>
            <a:pPr indent="0" marL="0">
              <a:buNone/>
            </a:pPr>
            <a:r>
              <a:rPr lang="en-US" sz="1300" b="1" dirty="0">
                <a:solidFill>
                  <a:schemeClr val="accent1"/>
                </a:solidFill>
              </a:rPr>
              <a:t>Value: </a:t>
            </a:r>
            <a:pPr indent="0" marL="0">
              <a:buNone/>
            </a:pPr>
            <a:r>
              <a:rPr lang="en-US" sz="1300" dirty="0">
                <a:solidFill>
                  <a:schemeClr val="tx1"/>
                </a:solidFill>
              </a:rPr>
              <a:t>Answers "what did you do?" and the AI-cheating worry</a:t>
            </a:r>
            <a:endParaRPr lang="en-US" sz="1300" dirty="0"/>
          </a:p>
        </p:txBody>
      </p:sp>
      <p:sp>
        <p:nvSpPr>
          <p:cNvPr id="25" name="card-236"/>
          <p:cNvSpPr/>
          <p:nvPr/>
        </p:nvSpPr>
        <p:spPr>
          <a:xfrm>
            <a:off x="9052560" y="1417320"/>
            <a:ext cx="2606040" cy="4434840"/>
          </a:xfrm>
          <a:prstGeom prst="roundRect">
            <a:avLst>
              <a:gd name="adj" fmla="val 2807"/>
            </a:avLst>
          </a:prstGeom>
          <a:solidFill>
            <a:schemeClr val="bg2"/>
          </a:solidFill>
          <a:ln w="12700">
            <a:solidFill>
              <a:schemeClr val="bg2"/>
            </a:solidFill>
            <a:prstDash val="solid"/>
          </a:ln>
        </p:spPr>
      </p:sp>
      <p:sp>
        <p:nvSpPr>
          <p:cNvPr id="26" name="badge-237"/>
          <p:cNvSpPr/>
          <p:nvPr/>
        </p:nvSpPr>
        <p:spPr>
          <a:xfrm>
            <a:off x="9281160" y="1645920"/>
            <a:ext cx="685800" cy="685800"/>
          </a:xfrm>
          <a:prstGeom prst="ellipse">
            <a:avLst/>
          </a:prstGeom>
          <a:solidFill>
            <a:schemeClr val="accent1"/>
          </a:solidFill>
          <a:ln w="12700">
            <a:solidFill>
              <a:schemeClr val="accent1"/>
            </a:solidFill>
            <a:prstDash val="solid"/>
          </a:ln>
        </p:spPr>
      </p:sp>
      <p:pic>
        <p:nvPicPr>
          <p:cNvPr id="27" name="icon-238" descr="preencoded.png">    </p:cNvPr>
          <p:cNvPicPr>
            <a:picLocks noChangeAspect="1"/>
          </p:cNvPicPr>
          <p:nvPr/>
        </p:nvPicPr>
        <p:blipFill>
          <a:blip r:embed="rId4"/>
          <a:stretch>
            <a:fillRect/>
          </a:stretch>
        </p:blipFill>
        <p:spPr>
          <a:xfrm>
            <a:off x="9445752" y="1810512"/>
            <a:ext cx="356616" cy="356616"/>
          </a:xfrm>
          <a:prstGeom prst="rect">
            <a:avLst/>
          </a:prstGeom>
        </p:spPr>
      </p:pic>
      <p:sp>
        <p:nvSpPr>
          <p:cNvPr id="28" name="text-239"/>
          <p:cNvSpPr txBox="1"/>
          <p:nvPr/>
        </p:nvSpPr>
        <p:spPr>
          <a:xfrm>
            <a:off x="10104120" y="1783080"/>
            <a:ext cx="1463040" cy="457200"/>
          </a:xfrm>
          <a:prstGeom prst="rect">
            <a:avLst/>
          </a:prstGeom>
          <a:noFill/>
          <a:ln/>
        </p:spPr>
        <p:txBody>
          <a:bodyPr wrap="square" lIns="0" tIns="0" rIns="0" bIns="0" rtlCol="0" anchor="t"/>
          <a:lstStyle/>
          <a:p>
            <a:pPr indent="0" marL="0">
              <a:buNone/>
            </a:pPr>
            <a:r>
              <a:rPr lang="en-US" sz="2000" b="1" dirty="0">
                <a:solidFill>
                  <a:schemeClr val="tx2"/>
                </a:solidFill>
              </a:rPr>
              <a:t>Create</a:t>
            </a:r>
            <a:endParaRPr lang="en-US" sz="2000" dirty="0"/>
          </a:p>
        </p:txBody>
      </p:sp>
      <p:sp>
        <p:nvSpPr>
          <p:cNvPr id="29" name="text-240"/>
          <p:cNvSpPr txBox="1"/>
          <p:nvPr/>
        </p:nvSpPr>
        <p:spPr>
          <a:xfrm>
            <a:off x="9281160" y="2514600"/>
            <a:ext cx="2194560" cy="1371600"/>
          </a:xfrm>
          <a:prstGeom prst="rect">
            <a:avLst/>
          </a:prstGeom>
          <a:noFill/>
          <a:ln/>
        </p:spPr>
        <p:txBody>
          <a:bodyPr wrap="square" lIns="0" tIns="0" rIns="0" bIns="0" rtlCol="0" anchor="t"/>
          <a:lstStyle/>
          <a:p>
            <a:pPr indent="0" marL="0">
              <a:buNone/>
            </a:pPr>
            <a:r>
              <a:rPr lang="en-US" sz="1400" b="1" dirty="0">
                <a:solidFill>
                  <a:schemeClr val="tx1"/>
                </a:solidFill>
              </a:rPr>
              <a:t>Company-calibrated score with a verified individual-contribution record</a:t>
            </a:r>
            <a:endParaRPr lang="en-US" sz="1400" dirty="0"/>
          </a:p>
        </p:txBody>
      </p:sp>
      <p:sp>
        <p:nvSpPr>
          <p:cNvPr id="30" name="text-241"/>
          <p:cNvSpPr txBox="1"/>
          <p:nvPr/>
        </p:nvSpPr>
        <p:spPr>
          <a:xfrm>
            <a:off x="9281160" y="3931920"/>
            <a:ext cx="2194560" cy="868680"/>
          </a:xfrm>
          <a:prstGeom prst="rect">
            <a:avLst/>
          </a:prstGeom>
          <a:noFill/>
          <a:ln/>
        </p:spPr>
        <p:txBody>
          <a:bodyPr wrap="square" lIns="0" tIns="0" rIns="0" bIns="0" rtlCol="0" anchor="t"/>
          <a:lstStyle/>
          <a:p>
            <a:pPr indent="0" marL="0">
              <a:buNone/>
            </a:pPr>
            <a:r>
              <a:rPr lang="en-US" sz="1300" b="1" dirty="0">
                <a:solidFill>
                  <a:schemeClr val="accent3"/>
                </a:solidFill>
              </a:rPr>
              <a:t>Cost: </a:t>
            </a:r>
            <a:pPr indent="0" marL="0">
              <a:buNone/>
            </a:pPr>
            <a:r>
              <a:rPr lang="en-US" sz="1300" dirty="0">
                <a:solidFill>
                  <a:schemeClr val="tx1"/>
                </a:solidFill>
              </a:rPr>
              <a:t>Low marginal cost once the rubric exists</a:t>
            </a:r>
            <a:endParaRPr lang="en-US" sz="1300" dirty="0"/>
          </a:p>
        </p:txBody>
      </p:sp>
      <p:sp>
        <p:nvSpPr>
          <p:cNvPr id="31" name="text-242"/>
          <p:cNvSpPr txBox="1"/>
          <p:nvPr/>
        </p:nvSpPr>
        <p:spPr>
          <a:xfrm>
            <a:off x="9281160" y="4800600"/>
            <a:ext cx="2194560" cy="868680"/>
          </a:xfrm>
          <a:prstGeom prst="rect">
            <a:avLst/>
          </a:prstGeom>
          <a:noFill/>
          <a:ln/>
        </p:spPr>
        <p:txBody>
          <a:bodyPr wrap="square" lIns="0" tIns="0" rIns="0" bIns="0" rtlCol="0" anchor="t"/>
          <a:lstStyle/>
          <a:p>
            <a:pPr indent="0" marL="0">
              <a:buNone/>
            </a:pPr>
            <a:r>
              <a:rPr lang="en-US" sz="1300" b="1" dirty="0">
                <a:solidFill>
                  <a:schemeClr val="accent1"/>
                </a:solidFill>
              </a:rPr>
              <a:t>Value: </a:t>
            </a:r>
            <a:pPr indent="0" marL="0">
              <a:buNone/>
            </a:pPr>
            <a:r>
              <a:rPr lang="en-US" sz="1300" dirty="0">
                <a:solidFill>
                  <a:schemeClr val="tx1"/>
                </a:solidFill>
              </a:rPr>
              <a:t>A signal the market lacks</a:t>
            </a:r>
            <a:endParaRPr lang="en-US" sz="1300" dirty="0"/>
          </a:p>
        </p:txBody>
      </p:sp>
      <p:sp>
        <p:nvSpPr>
          <p:cNvPr id="32" name="text-243"/>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evidence-log/ERRC.md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Value innovation hypothesis, and exactly how it fails</a:t>
            </a:r>
            <a:endParaRPr lang="en-US" sz="3200" dirty="0"/>
          </a:p>
        </p:txBody>
      </p:sp>
      <p:sp>
        <p:nvSpPr>
          <p:cNvPr id="4" name="card-244"/>
          <p:cNvSpPr/>
          <p:nvPr/>
        </p:nvSpPr>
        <p:spPr>
          <a:xfrm>
            <a:off x="548640" y="1417320"/>
            <a:ext cx="11064240" cy="2011680"/>
          </a:xfrm>
          <a:prstGeom prst="roundRect">
            <a:avLst>
              <a:gd name="adj" fmla="val 3636"/>
            </a:avLst>
          </a:prstGeom>
          <a:solidFill>
            <a:schemeClr val="tx2"/>
          </a:solidFill>
          <a:ln w="12700">
            <a:solidFill>
              <a:schemeClr val="tx2"/>
            </a:solidFill>
            <a:prstDash val="solid"/>
          </a:ln>
        </p:spPr>
      </p:sp>
      <p:sp>
        <p:nvSpPr>
          <p:cNvPr id="5" name="text-245"/>
          <p:cNvSpPr txBox="1"/>
          <p:nvPr/>
        </p:nvSpPr>
        <p:spPr>
          <a:xfrm>
            <a:off x="868680" y="1417320"/>
            <a:ext cx="10424160" cy="2011680"/>
          </a:xfrm>
          <a:prstGeom prst="rect">
            <a:avLst/>
          </a:prstGeom>
          <a:noFill/>
          <a:ln/>
        </p:spPr>
        <p:txBody>
          <a:bodyPr wrap="square" lIns="0" tIns="0" rIns="0" bIns="0" rtlCol="0" anchor="ctr"/>
          <a:lstStyle/>
          <a:p>
            <a:pPr indent="0" marL="0">
              <a:buNone/>
            </a:pPr>
            <a:r>
              <a:rPr lang="en-US" sz="1800" i="1" dirty="0">
                <a:solidFill>
                  <a:schemeClr val="bg1"/>
                </a:solidFill>
                <a:latin typeface="Cambria" pitchFamily="34" charset="0"/>
                <a:ea typeface="Cambria" pitchFamily="34" charset="-122"/>
                <a:cs typeface="Cambria" pitchFamily="34" charset="-120"/>
              </a:rPr>
              <a:t>By dropping prizes and long events and letting automated tests and AI do first-pass scoring, SkillBridge cuts the cost of a challenge for companies and the time cost for students, while raising what the result is worth: a score calibrated to a real company's bar, with each student's contribution and an integrity check on record.</a:t>
            </a:r>
            <a:endParaRPr lang="en-US" sz="1800" dirty="0"/>
          </a:p>
        </p:txBody>
      </p:sp>
      <p:sp>
        <p:nvSpPr>
          <p:cNvPr id="6" name="text-246"/>
          <p:cNvSpPr txBox="1"/>
          <p:nvPr/>
        </p:nvSpPr>
        <p:spPr>
          <a:xfrm>
            <a:off x="548640" y="3657600"/>
            <a:ext cx="5486400" cy="411480"/>
          </a:xfrm>
          <a:prstGeom prst="rect">
            <a:avLst/>
          </a:prstGeom>
          <a:noFill/>
          <a:ln/>
        </p:spPr>
        <p:txBody>
          <a:bodyPr wrap="square" lIns="0" tIns="0" rIns="0" bIns="0" rtlCol="0" anchor="t"/>
          <a:lstStyle/>
          <a:p>
            <a:pPr indent="0" marL="0">
              <a:buNone/>
            </a:pPr>
            <a:r>
              <a:rPr lang="en-US" sz="1800" b="1" dirty="0">
                <a:solidFill>
                  <a:schemeClr val="accent4"/>
                </a:solidFill>
              </a:rPr>
              <a:t>It is falsified if…</a:t>
            </a:r>
            <a:endParaRPr lang="en-US" sz="1800" dirty="0"/>
          </a:p>
        </p:txBody>
      </p:sp>
      <p:sp>
        <p:nvSpPr>
          <p:cNvPr id="7" name="card-247"/>
          <p:cNvSpPr/>
          <p:nvPr/>
        </p:nvSpPr>
        <p:spPr>
          <a:xfrm>
            <a:off x="548640" y="4160520"/>
            <a:ext cx="5440680" cy="1691640"/>
          </a:xfrm>
          <a:prstGeom prst="roundRect">
            <a:avLst>
              <a:gd name="adj" fmla="val 4324"/>
            </a:avLst>
          </a:prstGeom>
          <a:solidFill>
            <a:schemeClr val="bg2"/>
          </a:solidFill>
          <a:ln w="12700">
            <a:solidFill>
              <a:schemeClr val="bg2"/>
            </a:solidFill>
            <a:prstDash val="solid"/>
          </a:ln>
        </p:spPr>
      </p:sp>
      <p:sp>
        <p:nvSpPr>
          <p:cNvPr id="8" name="badge-248"/>
          <p:cNvSpPr/>
          <p:nvPr/>
        </p:nvSpPr>
        <p:spPr>
          <a:xfrm>
            <a:off x="777240" y="4434840"/>
            <a:ext cx="731520" cy="731520"/>
          </a:xfrm>
          <a:prstGeom prst="ellipse">
            <a:avLst/>
          </a:prstGeom>
          <a:solidFill>
            <a:schemeClr val="accent4"/>
          </a:solidFill>
          <a:ln w="12700">
            <a:solidFill>
              <a:schemeClr val="accent4"/>
            </a:solidFill>
            <a:prstDash val="solid"/>
          </a:ln>
        </p:spPr>
      </p:sp>
      <p:pic>
        <p:nvPicPr>
          <p:cNvPr id="9" name="icon-249" descr="preencoded.png">    </p:cNvPr>
          <p:cNvPicPr>
            <a:picLocks noChangeAspect="1"/>
          </p:cNvPicPr>
          <p:nvPr/>
        </p:nvPicPr>
        <p:blipFill>
          <a:blip r:embed="rId1"/>
          <a:stretch>
            <a:fillRect/>
          </a:stretch>
        </p:blipFill>
        <p:spPr>
          <a:xfrm>
            <a:off x="952805" y="4610405"/>
            <a:ext cx="380390" cy="380390"/>
          </a:xfrm>
          <a:prstGeom prst="rect">
            <a:avLst/>
          </a:prstGeom>
        </p:spPr>
      </p:pic>
      <p:sp>
        <p:nvSpPr>
          <p:cNvPr id="10" name="text-250"/>
          <p:cNvSpPr txBox="1"/>
          <p:nvPr/>
        </p:nvSpPr>
        <p:spPr>
          <a:xfrm>
            <a:off x="1737360" y="4160520"/>
            <a:ext cx="4069080" cy="1691640"/>
          </a:xfrm>
          <a:prstGeom prst="rect">
            <a:avLst/>
          </a:prstGeom>
          <a:noFill/>
          <a:ln/>
        </p:spPr>
        <p:txBody>
          <a:bodyPr wrap="square" lIns="0" tIns="0" rIns="0" bIns="0" rtlCol="0" anchor="ctr"/>
          <a:lstStyle/>
          <a:p>
            <a:pPr indent="0" marL="0">
              <a:buNone/>
            </a:pPr>
            <a:r>
              <a:rPr lang="en-US" sz="1500" dirty="0">
                <a:solidFill>
                  <a:schemeClr val="tx1"/>
                </a:solidFill>
              </a:rPr>
              <a:t>Fewer than 30% of submitting students pay €15 for the certified result (with at least 10 submissions; fewer is inconclusive)</a:t>
            </a:r>
            <a:endParaRPr lang="en-US" sz="1500" dirty="0"/>
          </a:p>
        </p:txBody>
      </p:sp>
      <p:sp>
        <p:nvSpPr>
          <p:cNvPr id="11" name="card-251"/>
          <p:cNvSpPr/>
          <p:nvPr/>
        </p:nvSpPr>
        <p:spPr>
          <a:xfrm>
            <a:off x="6172200" y="4160520"/>
            <a:ext cx="5440680" cy="1691640"/>
          </a:xfrm>
          <a:prstGeom prst="roundRect">
            <a:avLst>
              <a:gd name="adj" fmla="val 4324"/>
            </a:avLst>
          </a:prstGeom>
          <a:solidFill>
            <a:schemeClr val="bg2"/>
          </a:solidFill>
          <a:ln w="12700">
            <a:solidFill>
              <a:schemeClr val="bg2"/>
            </a:solidFill>
            <a:prstDash val="solid"/>
          </a:ln>
        </p:spPr>
      </p:sp>
      <p:sp>
        <p:nvSpPr>
          <p:cNvPr id="12" name="badge-252"/>
          <p:cNvSpPr/>
          <p:nvPr/>
        </p:nvSpPr>
        <p:spPr>
          <a:xfrm>
            <a:off x="6400800" y="4434840"/>
            <a:ext cx="731520" cy="731520"/>
          </a:xfrm>
          <a:prstGeom prst="ellipse">
            <a:avLst/>
          </a:prstGeom>
          <a:solidFill>
            <a:schemeClr val="accent4"/>
          </a:solidFill>
          <a:ln w="12700">
            <a:solidFill>
              <a:schemeClr val="accent4"/>
            </a:solidFill>
            <a:prstDash val="solid"/>
          </a:ln>
        </p:spPr>
      </p:sp>
      <p:pic>
        <p:nvPicPr>
          <p:cNvPr id="13" name="icon-253" descr="preencoded.png">    </p:cNvPr>
          <p:cNvPicPr>
            <a:picLocks noChangeAspect="1"/>
          </p:cNvPicPr>
          <p:nvPr/>
        </p:nvPicPr>
        <p:blipFill>
          <a:blip r:embed="rId2"/>
          <a:stretch>
            <a:fillRect/>
          </a:stretch>
        </p:blipFill>
        <p:spPr>
          <a:xfrm>
            <a:off x="6576365" y="4610405"/>
            <a:ext cx="380390" cy="380390"/>
          </a:xfrm>
          <a:prstGeom prst="rect">
            <a:avLst/>
          </a:prstGeom>
        </p:spPr>
      </p:pic>
      <p:sp>
        <p:nvSpPr>
          <p:cNvPr id="14" name="text-254"/>
          <p:cNvSpPr txBox="1"/>
          <p:nvPr/>
        </p:nvSpPr>
        <p:spPr>
          <a:xfrm>
            <a:off x="7360920" y="4160520"/>
            <a:ext cx="4069080" cy="1691640"/>
          </a:xfrm>
          <a:prstGeom prst="rect">
            <a:avLst/>
          </a:prstGeom>
          <a:noFill/>
          <a:ln/>
        </p:spPr>
        <p:txBody>
          <a:bodyPr wrap="square" lIns="0" tIns="0" rIns="0" bIns="0" rtlCol="0" anchor="ctr"/>
          <a:lstStyle/>
          <a:p>
            <a:pPr indent="0" marL="0">
              <a:buNone/>
            </a:pPr>
            <a:r>
              <a:rPr lang="en-US" sz="1500" dirty="0">
                <a:solidFill>
                  <a:schemeClr val="tx1"/>
                </a:solidFill>
              </a:rPr>
              <a:t>Fewer than 3 of 5 recruiters say it would change or support a shortlisting decision</a:t>
            </a:r>
            <a:endParaRPr lang="en-US" sz="1500" dirty="0"/>
          </a:p>
        </p:txBody>
      </p:sp>
      <p:sp>
        <p:nvSpPr>
          <p:cNvPr id="15" name="text-255"/>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A hypothesis, not a validated blue ocean or business model. Source: ERRC.md, experiment-card.md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How it works: four steps from brief to certified result</a:t>
            </a:r>
            <a:endParaRPr lang="en-US" sz="3200" dirty="0"/>
          </a:p>
        </p:txBody>
      </p:sp>
      <p:sp>
        <p:nvSpPr>
          <p:cNvPr id="4" name="card-256"/>
          <p:cNvSpPr/>
          <p:nvPr/>
        </p:nvSpPr>
        <p:spPr>
          <a:xfrm>
            <a:off x="548640" y="1463040"/>
            <a:ext cx="2514600" cy="3383280"/>
          </a:xfrm>
          <a:prstGeom prst="roundRect">
            <a:avLst>
              <a:gd name="adj" fmla="val 2909"/>
            </a:avLst>
          </a:prstGeom>
          <a:solidFill>
            <a:schemeClr val="bg2"/>
          </a:solidFill>
          <a:ln w="12700">
            <a:solidFill>
              <a:schemeClr val="bg2"/>
            </a:solidFill>
            <a:prstDash val="solid"/>
          </a:ln>
        </p:spPr>
      </p:sp>
      <p:sp>
        <p:nvSpPr>
          <p:cNvPr id="5" name="badge-257"/>
          <p:cNvSpPr/>
          <p:nvPr/>
        </p:nvSpPr>
        <p:spPr>
          <a:xfrm>
            <a:off x="1417320" y="1691640"/>
            <a:ext cx="777240" cy="777240"/>
          </a:xfrm>
          <a:prstGeom prst="ellipse">
            <a:avLst/>
          </a:prstGeom>
          <a:solidFill>
            <a:schemeClr val="accent1"/>
          </a:solidFill>
          <a:ln w="12700">
            <a:solidFill>
              <a:schemeClr val="accent1"/>
            </a:solidFill>
            <a:prstDash val="solid"/>
          </a:ln>
        </p:spPr>
      </p:sp>
      <p:pic>
        <p:nvPicPr>
          <p:cNvPr id="6" name="icon-258" descr="preencoded.png">    </p:cNvPr>
          <p:cNvPicPr>
            <a:picLocks noChangeAspect="1"/>
          </p:cNvPicPr>
          <p:nvPr/>
        </p:nvPicPr>
        <p:blipFill>
          <a:blip r:embed="rId1"/>
          <a:stretch>
            <a:fillRect/>
          </a:stretch>
        </p:blipFill>
        <p:spPr>
          <a:xfrm>
            <a:off x="1603858" y="1878178"/>
            <a:ext cx="404165" cy="404165"/>
          </a:xfrm>
          <a:prstGeom prst="rect">
            <a:avLst/>
          </a:prstGeom>
        </p:spPr>
      </p:pic>
      <p:sp>
        <p:nvSpPr>
          <p:cNvPr id="7" name="text-259"/>
          <p:cNvSpPr txBox="1"/>
          <p:nvPr/>
        </p:nvSpPr>
        <p:spPr>
          <a:xfrm>
            <a:off x="731520" y="2651760"/>
            <a:ext cx="2148840" cy="457200"/>
          </a:xfrm>
          <a:prstGeom prst="rect">
            <a:avLst/>
          </a:prstGeom>
          <a:noFill/>
          <a:ln/>
        </p:spPr>
        <p:txBody>
          <a:bodyPr wrap="square" lIns="0" tIns="0" rIns="0" bIns="0" rtlCol="0" anchor="t"/>
          <a:lstStyle/>
          <a:p>
            <a:pPr algn="ctr" indent="0" marL="0">
              <a:buNone/>
            </a:pPr>
            <a:r>
              <a:rPr lang="en-US" sz="1800" b="1" dirty="0">
                <a:solidFill>
                  <a:schemeClr val="tx2"/>
                </a:solidFill>
              </a:rPr>
              <a:t>1  Company brief</a:t>
            </a:r>
            <a:endParaRPr lang="en-US" sz="1800" dirty="0"/>
          </a:p>
        </p:txBody>
      </p:sp>
      <p:sp>
        <p:nvSpPr>
          <p:cNvPr id="8" name="text-260"/>
          <p:cNvSpPr txBox="1"/>
          <p:nvPr/>
        </p:nvSpPr>
        <p:spPr>
          <a:xfrm>
            <a:off x="777240" y="3154680"/>
            <a:ext cx="2057400" cy="1600200"/>
          </a:xfrm>
          <a:prstGeom prst="rect">
            <a:avLst/>
          </a:prstGeom>
          <a:noFill/>
          <a:ln/>
        </p:spPr>
        <p:txBody>
          <a:bodyPr wrap="square" lIns="0" tIns="0" rIns="0" bIns="0" rtlCol="0" anchor="t"/>
          <a:lstStyle/>
          <a:p>
            <a:pPr indent="0" marL="0">
              <a:buNone/>
            </a:pPr>
            <a:r>
              <a:rPr lang="en-US" sz="1400" dirty="0">
                <a:solidFill>
                  <a:schemeClr val="tx1"/>
                </a:solidFill>
              </a:rPr>
              <a:t>A real 4-hour task; 4–6 rubric criteria signed off by the company's engineer</a:t>
            </a:r>
            <a:endParaRPr lang="en-US" sz="1400" dirty="0"/>
          </a:p>
        </p:txBody>
      </p:sp>
      <p:sp>
        <p:nvSpPr>
          <p:cNvPr id="9" name="dot-261"/>
          <p:cNvSpPr/>
          <p:nvPr/>
        </p:nvSpPr>
        <p:spPr>
          <a:xfrm>
            <a:off x="3090672" y="2971800"/>
            <a:ext cx="292608" cy="292608"/>
          </a:xfrm>
          <a:prstGeom prst="ellipse">
            <a:avLst/>
          </a:prstGeom>
          <a:solidFill>
            <a:schemeClr val="accent1"/>
          </a:solidFill>
          <a:ln w="12700">
            <a:solidFill>
              <a:schemeClr val="accent1"/>
            </a:solidFill>
            <a:prstDash val="solid"/>
          </a:ln>
        </p:spPr>
      </p:sp>
      <p:pic>
        <p:nvPicPr>
          <p:cNvPr id="10" name="arrow-262" descr="preencoded.png">    </p:cNvPr>
          <p:cNvPicPr>
            <a:picLocks noChangeAspect="1"/>
          </p:cNvPicPr>
          <p:nvPr/>
        </p:nvPicPr>
        <p:blipFill>
          <a:blip r:embed="rId2"/>
          <a:stretch>
            <a:fillRect/>
          </a:stretch>
        </p:blipFill>
        <p:spPr>
          <a:xfrm>
            <a:off x="3154680" y="3035808"/>
            <a:ext cx="164592" cy="164592"/>
          </a:xfrm>
          <a:prstGeom prst="rect">
            <a:avLst/>
          </a:prstGeom>
        </p:spPr>
      </p:pic>
      <p:sp>
        <p:nvSpPr>
          <p:cNvPr id="11" name="card-263"/>
          <p:cNvSpPr/>
          <p:nvPr/>
        </p:nvSpPr>
        <p:spPr>
          <a:xfrm>
            <a:off x="3383280" y="1463040"/>
            <a:ext cx="2514600" cy="3383280"/>
          </a:xfrm>
          <a:prstGeom prst="roundRect">
            <a:avLst>
              <a:gd name="adj" fmla="val 2909"/>
            </a:avLst>
          </a:prstGeom>
          <a:solidFill>
            <a:schemeClr val="bg2"/>
          </a:solidFill>
          <a:ln w="12700">
            <a:solidFill>
              <a:schemeClr val="bg2"/>
            </a:solidFill>
            <a:prstDash val="solid"/>
          </a:ln>
        </p:spPr>
      </p:sp>
      <p:sp>
        <p:nvSpPr>
          <p:cNvPr id="12" name="badge-264"/>
          <p:cNvSpPr/>
          <p:nvPr/>
        </p:nvSpPr>
        <p:spPr>
          <a:xfrm>
            <a:off x="4251960" y="1691640"/>
            <a:ext cx="777240" cy="777240"/>
          </a:xfrm>
          <a:prstGeom prst="ellipse">
            <a:avLst/>
          </a:prstGeom>
          <a:solidFill>
            <a:schemeClr val="accent1"/>
          </a:solidFill>
          <a:ln w="12700">
            <a:solidFill>
              <a:schemeClr val="accent1"/>
            </a:solidFill>
            <a:prstDash val="solid"/>
          </a:ln>
        </p:spPr>
      </p:sp>
      <p:pic>
        <p:nvPicPr>
          <p:cNvPr id="13" name="icon-265" descr="preencoded.png">    </p:cNvPr>
          <p:cNvPicPr>
            <a:picLocks noChangeAspect="1"/>
          </p:cNvPicPr>
          <p:nvPr/>
        </p:nvPicPr>
        <p:blipFill>
          <a:blip r:embed="rId3"/>
          <a:stretch>
            <a:fillRect/>
          </a:stretch>
        </p:blipFill>
        <p:spPr>
          <a:xfrm>
            <a:off x="4438498" y="1878178"/>
            <a:ext cx="404165" cy="404165"/>
          </a:xfrm>
          <a:prstGeom prst="rect">
            <a:avLst/>
          </a:prstGeom>
        </p:spPr>
      </p:pic>
      <p:sp>
        <p:nvSpPr>
          <p:cNvPr id="14" name="text-266"/>
          <p:cNvSpPr txBox="1"/>
          <p:nvPr/>
        </p:nvSpPr>
        <p:spPr>
          <a:xfrm>
            <a:off x="3566160" y="2651760"/>
            <a:ext cx="2148840" cy="457200"/>
          </a:xfrm>
          <a:prstGeom prst="rect">
            <a:avLst/>
          </a:prstGeom>
          <a:noFill/>
          <a:ln/>
        </p:spPr>
        <p:txBody>
          <a:bodyPr wrap="square" lIns="0" tIns="0" rIns="0" bIns="0" rtlCol="0" anchor="t"/>
          <a:lstStyle/>
          <a:p>
            <a:pPr algn="ctr" indent="0" marL="0">
              <a:buNone/>
            </a:pPr>
            <a:r>
              <a:rPr lang="en-US" sz="1800" b="1" dirty="0">
                <a:solidFill>
                  <a:schemeClr val="tx2"/>
                </a:solidFill>
              </a:rPr>
              <a:t>2  Students submit</a:t>
            </a:r>
            <a:endParaRPr lang="en-US" sz="1800" dirty="0"/>
          </a:p>
        </p:txBody>
      </p:sp>
      <p:sp>
        <p:nvSpPr>
          <p:cNvPr id="15" name="text-267"/>
          <p:cNvSpPr txBox="1"/>
          <p:nvPr/>
        </p:nvSpPr>
        <p:spPr>
          <a:xfrm>
            <a:off x="3611880" y="3154680"/>
            <a:ext cx="2057400" cy="1600200"/>
          </a:xfrm>
          <a:prstGeom prst="rect">
            <a:avLst/>
          </a:prstGeom>
          <a:noFill/>
          <a:ln/>
        </p:spPr>
        <p:txBody>
          <a:bodyPr wrap="square" lIns="0" tIns="0" rIns="0" bIns="0" rtlCol="0" anchor="t"/>
          <a:lstStyle/>
          <a:p>
            <a:pPr indent="0" marL="0">
              <a:buNone/>
            </a:pPr>
            <a:r>
              <a:rPr lang="en-US" sz="1400" dirty="0">
                <a:solidFill>
                  <a:schemeClr val="tx1"/>
                </a:solidFill>
              </a:rPr>
              <a:t>Solo or teams of up to 3; commits, task log and peer ratings record who did what</a:t>
            </a:r>
            <a:endParaRPr lang="en-US" sz="1400" dirty="0"/>
          </a:p>
        </p:txBody>
      </p:sp>
      <p:sp>
        <p:nvSpPr>
          <p:cNvPr id="16" name="dot-268"/>
          <p:cNvSpPr/>
          <p:nvPr/>
        </p:nvSpPr>
        <p:spPr>
          <a:xfrm>
            <a:off x="5925312" y="2971800"/>
            <a:ext cx="292608" cy="292608"/>
          </a:xfrm>
          <a:prstGeom prst="ellipse">
            <a:avLst/>
          </a:prstGeom>
          <a:solidFill>
            <a:schemeClr val="accent1"/>
          </a:solidFill>
          <a:ln w="12700">
            <a:solidFill>
              <a:schemeClr val="accent1"/>
            </a:solidFill>
            <a:prstDash val="solid"/>
          </a:ln>
        </p:spPr>
      </p:sp>
      <p:pic>
        <p:nvPicPr>
          <p:cNvPr id="17" name="arrow-269" descr="preencoded.png">    </p:cNvPr>
          <p:cNvPicPr>
            <a:picLocks noChangeAspect="1"/>
          </p:cNvPicPr>
          <p:nvPr/>
        </p:nvPicPr>
        <p:blipFill>
          <a:blip r:embed="rId4"/>
          <a:stretch>
            <a:fillRect/>
          </a:stretch>
        </p:blipFill>
        <p:spPr>
          <a:xfrm>
            <a:off x="5989320" y="3035808"/>
            <a:ext cx="164592" cy="164592"/>
          </a:xfrm>
          <a:prstGeom prst="rect">
            <a:avLst/>
          </a:prstGeom>
        </p:spPr>
      </p:pic>
      <p:sp>
        <p:nvSpPr>
          <p:cNvPr id="18" name="card-270"/>
          <p:cNvSpPr/>
          <p:nvPr/>
        </p:nvSpPr>
        <p:spPr>
          <a:xfrm>
            <a:off x="6217920" y="1463040"/>
            <a:ext cx="2514600" cy="3383280"/>
          </a:xfrm>
          <a:prstGeom prst="roundRect">
            <a:avLst>
              <a:gd name="adj" fmla="val 2909"/>
            </a:avLst>
          </a:prstGeom>
          <a:solidFill>
            <a:schemeClr val="bg2"/>
          </a:solidFill>
          <a:ln w="12700">
            <a:solidFill>
              <a:schemeClr val="bg2"/>
            </a:solidFill>
            <a:prstDash val="solid"/>
          </a:ln>
        </p:spPr>
      </p:sp>
      <p:sp>
        <p:nvSpPr>
          <p:cNvPr id="19" name="badge-271"/>
          <p:cNvSpPr/>
          <p:nvPr/>
        </p:nvSpPr>
        <p:spPr>
          <a:xfrm>
            <a:off x="7086600" y="1691640"/>
            <a:ext cx="777240" cy="777240"/>
          </a:xfrm>
          <a:prstGeom prst="ellipse">
            <a:avLst/>
          </a:prstGeom>
          <a:solidFill>
            <a:schemeClr val="accent1"/>
          </a:solidFill>
          <a:ln w="12700">
            <a:solidFill>
              <a:schemeClr val="accent1"/>
            </a:solidFill>
            <a:prstDash val="solid"/>
          </a:ln>
        </p:spPr>
      </p:sp>
      <p:pic>
        <p:nvPicPr>
          <p:cNvPr id="20" name="icon-272" descr="preencoded.png">    </p:cNvPr>
          <p:cNvPicPr>
            <a:picLocks noChangeAspect="1"/>
          </p:cNvPicPr>
          <p:nvPr/>
        </p:nvPicPr>
        <p:blipFill>
          <a:blip r:embed="rId5"/>
          <a:stretch>
            <a:fillRect/>
          </a:stretch>
        </p:blipFill>
        <p:spPr>
          <a:xfrm>
            <a:off x="7273138" y="1878178"/>
            <a:ext cx="404165" cy="404165"/>
          </a:xfrm>
          <a:prstGeom prst="rect">
            <a:avLst/>
          </a:prstGeom>
        </p:spPr>
      </p:pic>
      <p:sp>
        <p:nvSpPr>
          <p:cNvPr id="21" name="text-273"/>
          <p:cNvSpPr txBox="1"/>
          <p:nvPr/>
        </p:nvSpPr>
        <p:spPr>
          <a:xfrm>
            <a:off x="6400800" y="2651760"/>
            <a:ext cx="2148840" cy="457200"/>
          </a:xfrm>
          <a:prstGeom prst="rect">
            <a:avLst/>
          </a:prstGeom>
          <a:noFill/>
          <a:ln/>
        </p:spPr>
        <p:txBody>
          <a:bodyPr wrap="square" lIns="0" tIns="0" rIns="0" bIns="0" rtlCol="0" anchor="t"/>
          <a:lstStyle/>
          <a:p>
            <a:pPr algn="ctr" indent="0" marL="0">
              <a:buNone/>
            </a:pPr>
            <a:r>
              <a:rPr lang="en-US" sz="1800" b="1" dirty="0">
                <a:solidFill>
                  <a:schemeClr val="tx2"/>
                </a:solidFill>
              </a:rPr>
              <a:t>3  Score + feedback</a:t>
            </a:r>
            <a:endParaRPr lang="en-US" sz="1800" dirty="0"/>
          </a:p>
        </p:txBody>
      </p:sp>
      <p:sp>
        <p:nvSpPr>
          <p:cNvPr id="22" name="text-274"/>
          <p:cNvSpPr txBox="1"/>
          <p:nvPr/>
        </p:nvSpPr>
        <p:spPr>
          <a:xfrm>
            <a:off x="6446520" y="3154680"/>
            <a:ext cx="2057400" cy="1600200"/>
          </a:xfrm>
          <a:prstGeom prst="rect">
            <a:avLst/>
          </a:prstGeom>
          <a:noFill/>
          <a:ln/>
        </p:spPr>
        <p:txBody>
          <a:bodyPr wrap="square" lIns="0" tIns="0" rIns="0" bIns="0" rtlCol="0" anchor="t"/>
          <a:lstStyle/>
          <a:p>
            <a:pPr indent="0" marL="0">
              <a:buNone/>
            </a:pPr>
            <a:r>
              <a:rPr lang="en-US" sz="1400" dirty="0">
                <a:solidFill>
                  <a:schemeClr val="tx1"/>
                </a:solidFill>
              </a:rPr>
              <a:t>AI rubric and tests score every entry; engineer scores a sample incl. 2 from the lower half</a:t>
            </a:r>
            <a:endParaRPr lang="en-US" sz="1400" dirty="0"/>
          </a:p>
        </p:txBody>
      </p:sp>
      <p:sp>
        <p:nvSpPr>
          <p:cNvPr id="23" name="dot-275"/>
          <p:cNvSpPr/>
          <p:nvPr/>
        </p:nvSpPr>
        <p:spPr>
          <a:xfrm>
            <a:off x="8759952" y="2971800"/>
            <a:ext cx="292608" cy="292608"/>
          </a:xfrm>
          <a:prstGeom prst="ellipse">
            <a:avLst/>
          </a:prstGeom>
          <a:solidFill>
            <a:schemeClr val="accent1"/>
          </a:solidFill>
          <a:ln w="12700">
            <a:solidFill>
              <a:schemeClr val="accent1"/>
            </a:solidFill>
            <a:prstDash val="solid"/>
          </a:ln>
        </p:spPr>
      </p:sp>
      <p:pic>
        <p:nvPicPr>
          <p:cNvPr id="24" name="arrow-276" descr="preencoded.png">    </p:cNvPr>
          <p:cNvPicPr>
            <a:picLocks noChangeAspect="1"/>
          </p:cNvPicPr>
          <p:nvPr/>
        </p:nvPicPr>
        <p:blipFill>
          <a:blip r:embed="rId6"/>
          <a:stretch>
            <a:fillRect/>
          </a:stretch>
        </p:blipFill>
        <p:spPr>
          <a:xfrm>
            <a:off x="8823960" y="3035808"/>
            <a:ext cx="164592" cy="164592"/>
          </a:xfrm>
          <a:prstGeom prst="rect">
            <a:avLst/>
          </a:prstGeom>
        </p:spPr>
      </p:pic>
      <p:sp>
        <p:nvSpPr>
          <p:cNvPr id="25" name="card-277"/>
          <p:cNvSpPr/>
          <p:nvPr/>
        </p:nvSpPr>
        <p:spPr>
          <a:xfrm>
            <a:off x="9052560" y="1463040"/>
            <a:ext cx="2514600" cy="3383280"/>
          </a:xfrm>
          <a:prstGeom prst="roundRect">
            <a:avLst>
              <a:gd name="adj" fmla="val 2909"/>
            </a:avLst>
          </a:prstGeom>
          <a:solidFill>
            <a:schemeClr val="bg2"/>
          </a:solidFill>
          <a:ln w="12700">
            <a:solidFill>
              <a:schemeClr val="bg2"/>
            </a:solidFill>
            <a:prstDash val="solid"/>
          </a:ln>
        </p:spPr>
      </p:sp>
      <p:sp>
        <p:nvSpPr>
          <p:cNvPr id="26" name="badge-278"/>
          <p:cNvSpPr/>
          <p:nvPr/>
        </p:nvSpPr>
        <p:spPr>
          <a:xfrm>
            <a:off x="9921240" y="1691640"/>
            <a:ext cx="777240" cy="777240"/>
          </a:xfrm>
          <a:prstGeom prst="ellipse">
            <a:avLst/>
          </a:prstGeom>
          <a:solidFill>
            <a:schemeClr val="accent1"/>
          </a:solidFill>
          <a:ln w="12700">
            <a:solidFill>
              <a:schemeClr val="accent1"/>
            </a:solidFill>
            <a:prstDash val="solid"/>
          </a:ln>
        </p:spPr>
      </p:sp>
      <p:pic>
        <p:nvPicPr>
          <p:cNvPr id="27" name="icon-279" descr="preencoded.png">    </p:cNvPr>
          <p:cNvPicPr>
            <a:picLocks noChangeAspect="1"/>
          </p:cNvPicPr>
          <p:nvPr/>
        </p:nvPicPr>
        <p:blipFill>
          <a:blip r:embed="rId7"/>
          <a:stretch>
            <a:fillRect/>
          </a:stretch>
        </p:blipFill>
        <p:spPr>
          <a:xfrm>
            <a:off x="10107778" y="1878178"/>
            <a:ext cx="404165" cy="404165"/>
          </a:xfrm>
          <a:prstGeom prst="rect">
            <a:avLst/>
          </a:prstGeom>
        </p:spPr>
      </p:pic>
      <p:sp>
        <p:nvSpPr>
          <p:cNvPr id="28" name="text-280"/>
          <p:cNvSpPr txBox="1"/>
          <p:nvPr/>
        </p:nvSpPr>
        <p:spPr>
          <a:xfrm>
            <a:off x="9235440" y="2651760"/>
            <a:ext cx="2148840" cy="457200"/>
          </a:xfrm>
          <a:prstGeom prst="rect">
            <a:avLst/>
          </a:prstGeom>
          <a:noFill/>
          <a:ln/>
        </p:spPr>
        <p:txBody>
          <a:bodyPr wrap="square" lIns="0" tIns="0" rIns="0" bIns="0" rtlCol="0" anchor="t"/>
          <a:lstStyle/>
          <a:p>
            <a:pPr algn="ctr" indent="0" marL="0">
              <a:buNone/>
            </a:pPr>
            <a:r>
              <a:rPr lang="en-US" sz="1800" b="1" dirty="0">
                <a:solidFill>
                  <a:schemeClr val="tx2"/>
                </a:solidFill>
              </a:rPr>
              <a:t>4  Certify for €15</a:t>
            </a:r>
            <a:endParaRPr lang="en-US" sz="1800" dirty="0"/>
          </a:p>
        </p:txBody>
      </p:sp>
      <p:sp>
        <p:nvSpPr>
          <p:cNvPr id="29" name="text-281"/>
          <p:cNvSpPr txBox="1"/>
          <p:nvPr/>
        </p:nvSpPr>
        <p:spPr>
          <a:xfrm>
            <a:off x="9281160" y="3154680"/>
            <a:ext cx="2057400" cy="1600200"/>
          </a:xfrm>
          <a:prstGeom prst="rect">
            <a:avLst/>
          </a:prstGeom>
          <a:noFill/>
          <a:ln/>
        </p:spPr>
        <p:txBody>
          <a:bodyPr wrap="square" lIns="0" tIns="0" rIns="0" bIns="0" rtlCol="0" anchor="t"/>
          <a:lstStyle/>
          <a:p>
            <a:pPr indent="0" marL="0">
              <a:buNone/>
            </a:pPr>
            <a:r>
              <a:rPr lang="en-US" sz="1400" dirty="0">
                <a:solidFill>
                  <a:schemeClr val="tx1"/>
                </a:solidFill>
              </a:rPr>
              <a:t>Engineer-written feedback; private by default; the true score always shows</a:t>
            </a:r>
            <a:endParaRPr lang="en-US" sz="1400" dirty="0"/>
          </a:p>
        </p:txBody>
      </p:sp>
      <p:sp>
        <p:nvSpPr>
          <p:cNvPr id="30" name="card-282"/>
          <p:cNvSpPr/>
          <p:nvPr/>
        </p:nvSpPr>
        <p:spPr>
          <a:xfrm>
            <a:off x="548640" y="5074920"/>
            <a:ext cx="11064240" cy="777240"/>
          </a:xfrm>
          <a:prstGeom prst="roundRect">
            <a:avLst>
              <a:gd name="adj" fmla="val 9412"/>
            </a:avLst>
          </a:prstGeom>
          <a:solidFill>
            <a:schemeClr val="accent5"/>
          </a:solidFill>
          <a:ln w="12700">
            <a:solidFill>
              <a:schemeClr val="accent5"/>
            </a:solidFill>
            <a:prstDash val="solid"/>
          </a:ln>
        </p:spPr>
      </p:sp>
      <p:sp>
        <p:nvSpPr>
          <p:cNvPr id="31" name="text-283"/>
          <p:cNvSpPr txBox="1"/>
          <p:nvPr/>
        </p:nvSpPr>
        <p:spPr>
          <a:xfrm>
            <a:off x="822960" y="5074920"/>
            <a:ext cx="10607040" cy="777240"/>
          </a:xfrm>
          <a:prstGeom prst="rect">
            <a:avLst/>
          </a:prstGeom>
          <a:noFill/>
          <a:ln/>
        </p:spPr>
        <p:txBody>
          <a:bodyPr wrap="square" lIns="0" tIns="0" rIns="0" bIns="0" rtlCol="0" anchor="ctr"/>
          <a:lstStyle/>
          <a:p>
            <a:pPr indent="0" marL="0">
              <a:buNone/>
            </a:pPr>
            <a:r>
              <a:rPr lang="en-US" sz="1600" b="1" dirty="0">
                <a:solidFill>
                  <a:schemeClr val="tx2"/>
                </a:solidFill>
              </a:rPr>
              <a:t>Entry is free and students see their score for free. </a:t>
            </a:r>
            <a:pPr indent="0" marL="0">
              <a:buNone/>
            </a:pPr>
            <a:r>
              <a:rPr lang="en-US" sz="1600" dirty="0">
                <a:solidFill>
                  <a:schemeClr val="tx2"/>
                </a:solidFill>
              </a:rPr>
              <a:t>They pay only to certify, and a certified result can't be bought: you can fail it.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Rough test: prototype v1 shows the full flow</a:t>
            </a:r>
            <a:endParaRPr lang="en-US" sz="3200" dirty="0"/>
          </a:p>
        </p:txBody>
      </p:sp>
      <p:sp>
        <p:nvSpPr>
          <p:cNvPr id="4" name="card-284"/>
          <p:cNvSpPr/>
          <p:nvPr/>
        </p:nvSpPr>
        <p:spPr>
          <a:xfrm>
            <a:off x="548640" y="1417320"/>
            <a:ext cx="5440680" cy="4160520"/>
          </a:xfrm>
          <a:prstGeom prst="roundRect">
            <a:avLst>
              <a:gd name="adj" fmla="val 1758"/>
            </a:avLst>
          </a:prstGeom>
          <a:solidFill>
            <a:schemeClr val="bg2"/>
          </a:solidFill>
          <a:ln w="12700">
            <a:solidFill>
              <a:schemeClr val="bg2"/>
            </a:solidFill>
            <a:prstDash val="solid"/>
          </a:ln>
        </p:spPr>
      </p:sp>
      <p:pic>
        <p:nvPicPr>
          <p:cNvPr id="5" name="shot-285" descr="preencoded.png">    </p:cNvPr>
          <p:cNvPicPr>
            <a:picLocks noChangeAspect="1"/>
          </p:cNvPicPr>
          <p:nvPr/>
        </p:nvPicPr>
        <p:blipFill>
          <a:blip r:embed="rId1"/>
          <a:srcRect l="0" r="0" t="0" b="0"/>
          <a:stretch/>
        </p:blipFill>
        <p:spPr>
          <a:xfrm>
            <a:off x="777240" y="1600200"/>
            <a:ext cx="4983480" cy="3474720"/>
          </a:xfrm>
          <a:prstGeom prst="rect">
            <a:avLst/>
          </a:prstGeom>
        </p:spPr>
      </p:pic>
      <p:sp>
        <p:nvSpPr>
          <p:cNvPr id="6" name="text-286"/>
          <p:cNvSpPr txBox="1"/>
          <p:nvPr/>
        </p:nvSpPr>
        <p:spPr>
          <a:xfrm>
            <a:off x="777240" y="5120640"/>
            <a:ext cx="4983480" cy="365760"/>
          </a:xfrm>
          <a:prstGeom prst="rect">
            <a:avLst/>
          </a:prstGeom>
          <a:noFill/>
          <a:ln/>
        </p:spPr>
        <p:txBody>
          <a:bodyPr wrap="square" lIns="0" tIns="0" rIns="0" bIns="0" rtlCol="0" anchor="t"/>
          <a:lstStyle/>
          <a:p>
            <a:pPr indent="0" marL="0">
              <a:buNone/>
            </a:pPr>
            <a:r>
              <a:rPr lang="en-US" sz="1400" b="1" dirty="0">
                <a:solidFill>
                  <a:schemeClr val="tx2"/>
                </a:solidFill>
              </a:rPr>
              <a:t>Step 2: every member's contribution is on the record</a:t>
            </a:r>
            <a:endParaRPr lang="en-US" sz="1400" dirty="0"/>
          </a:p>
        </p:txBody>
      </p:sp>
      <p:sp>
        <p:nvSpPr>
          <p:cNvPr id="7" name="card-287"/>
          <p:cNvSpPr/>
          <p:nvPr/>
        </p:nvSpPr>
        <p:spPr>
          <a:xfrm>
            <a:off x="6172200" y="1417320"/>
            <a:ext cx="5440680" cy="4160520"/>
          </a:xfrm>
          <a:prstGeom prst="roundRect">
            <a:avLst>
              <a:gd name="adj" fmla="val 1758"/>
            </a:avLst>
          </a:prstGeom>
          <a:solidFill>
            <a:schemeClr val="bg2"/>
          </a:solidFill>
          <a:ln w="12700">
            <a:solidFill>
              <a:schemeClr val="bg2"/>
            </a:solidFill>
            <a:prstDash val="solid"/>
          </a:ln>
        </p:spPr>
      </p:sp>
      <p:pic>
        <p:nvPicPr>
          <p:cNvPr id="8" name="shot-288" descr="preencoded.png">    </p:cNvPr>
          <p:cNvPicPr>
            <a:picLocks noChangeAspect="1"/>
          </p:cNvPicPr>
          <p:nvPr/>
        </p:nvPicPr>
        <p:blipFill>
          <a:blip r:embed="rId2"/>
          <a:srcRect l="0" r="0" t="0" b="0"/>
          <a:stretch/>
        </p:blipFill>
        <p:spPr>
          <a:xfrm>
            <a:off x="6400800" y="1600200"/>
            <a:ext cx="4983480" cy="3474720"/>
          </a:xfrm>
          <a:prstGeom prst="rect">
            <a:avLst/>
          </a:prstGeom>
        </p:spPr>
      </p:pic>
      <p:sp>
        <p:nvSpPr>
          <p:cNvPr id="9" name="text-289"/>
          <p:cNvSpPr txBox="1"/>
          <p:nvPr/>
        </p:nvSpPr>
        <p:spPr>
          <a:xfrm>
            <a:off x="6400800" y="5120640"/>
            <a:ext cx="4983480" cy="365760"/>
          </a:xfrm>
          <a:prstGeom prst="rect">
            <a:avLst/>
          </a:prstGeom>
          <a:noFill/>
          <a:ln/>
        </p:spPr>
        <p:txBody>
          <a:bodyPr wrap="square" lIns="0" tIns="0" rIns="0" bIns="0" rtlCol="0" anchor="t"/>
          <a:lstStyle/>
          <a:p>
            <a:pPr indent="0" marL="0">
              <a:buNone/>
            </a:pPr>
            <a:r>
              <a:rPr lang="en-US" sz="1400" b="1" dirty="0">
                <a:solidFill>
                  <a:schemeClr val="tx2"/>
                </a:solidFill>
              </a:rPr>
              <a:t>Step 3: AI and engineer scores side by side, then certify</a:t>
            </a:r>
            <a:endParaRPr lang="en-US" sz="1400" dirty="0"/>
          </a:p>
        </p:txBody>
      </p:sp>
      <p:sp>
        <p:nvSpPr>
          <p:cNvPr id="10" name="text-29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prototype/prototype-v1.html (offline), PDF and PNG backups. All companies, students and scores shown are invented.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Business model: three ways money can come in</a:t>
            </a:r>
            <a:endParaRPr lang="en-US" sz="3200" dirty="0"/>
          </a:p>
        </p:txBody>
      </p:sp>
      <p:sp>
        <p:nvSpPr>
          <p:cNvPr id="4" name="card-291"/>
          <p:cNvSpPr/>
          <p:nvPr/>
        </p:nvSpPr>
        <p:spPr>
          <a:xfrm>
            <a:off x="548640" y="1417320"/>
            <a:ext cx="3520440" cy="4434840"/>
          </a:xfrm>
          <a:prstGeom prst="roundRect">
            <a:avLst>
              <a:gd name="adj" fmla="val 2078"/>
            </a:avLst>
          </a:prstGeom>
          <a:solidFill>
            <a:schemeClr val="bg2"/>
          </a:solidFill>
          <a:ln w="12700">
            <a:solidFill>
              <a:schemeClr val="bg2"/>
            </a:solidFill>
            <a:prstDash val="solid"/>
          </a:ln>
        </p:spPr>
      </p:sp>
      <p:sp>
        <p:nvSpPr>
          <p:cNvPr id="5" name="badge-292"/>
          <p:cNvSpPr/>
          <p:nvPr/>
        </p:nvSpPr>
        <p:spPr>
          <a:xfrm>
            <a:off x="822960" y="1645920"/>
            <a:ext cx="777240" cy="777240"/>
          </a:xfrm>
          <a:prstGeom prst="ellipse">
            <a:avLst/>
          </a:prstGeom>
          <a:solidFill>
            <a:schemeClr val="accent2"/>
          </a:solidFill>
          <a:ln w="12700">
            <a:solidFill>
              <a:schemeClr val="accent2"/>
            </a:solidFill>
            <a:prstDash val="solid"/>
          </a:ln>
        </p:spPr>
      </p:sp>
      <p:pic>
        <p:nvPicPr>
          <p:cNvPr id="6" name="icon-293" descr="preencoded.png">    </p:cNvPr>
          <p:cNvPicPr>
            <a:picLocks noChangeAspect="1"/>
          </p:cNvPicPr>
          <p:nvPr/>
        </p:nvPicPr>
        <p:blipFill>
          <a:blip r:embed="rId1"/>
          <a:stretch>
            <a:fillRect/>
          </a:stretch>
        </p:blipFill>
        <p:spPr>
          <a:xfrm>
            <a:off x="1009498" y="1832458"/>
            <a:ext cx="404165" cy="404165"/>
          </a:xfrm>
          <a:prstGeom prst="rect">
            <a:avLst/>
          </a:prstGeom>
        </p:spPr>
      </p:pic>
      <p:sp>
        <p:nvSpPr>
          <p:cNvPr id="7" name="text-294"/>
          <p:cNvSpPr txBox="1"/>
          <p:nvPr/>
        </p:nvSpPr>
        <p:spPr>
          <a:xfrm>
            <a:off x="1783080" y="1737360"/>
            <a:ext cx="2103120" cy="320040"/>
          </a:xfrm>
          <a:prstGeom prst="rect">
            <a:avLst/>
          </a:prstGeom>
          <a:noFill/>
          <a:ln/>
        </p:spPr>
        <p:txBody>
          <a:bodyPr wrap="square" lIns="0" tIns="0" rIns="0" bIns="0" rtlCol="0" anchor="t"/>
          <a:lstStyle/>
          <a:p>
            <a:pPr indent="0" marL="0">
              <a:buNone/>
            </a:pPr>
            <a:r>
              <a:rPr lang="en-US" sz="1200" b="1" dirty="0">
                <a:solidFill>
                  <a:schemeClr val="accent3"/>
                </a:solidFill>
              </a:rPr>
              <a:t>Hypothesis 1</a:t>
            </a:r>
            <a:endParaRPr lang="en-US" sz="1200" dirty="0"/>
          </a:p>
        </p:txBody>
      </p:sp>
      <p:sp>
        <p:nvSpPr>
          <p:cNvPr id="8" name="text-295"/>
          <p:cNvSpPr txBox="1"/>
          <p:nvPr/>
        </p:nvSpPr>
        <p:spPr>
          <a:xfrm>
            <a:off x="1783080" y="2011680"/>
            <a:ext cx="2148840" cy="685800"/>
          </a:xfrm>
          <a:prstGeom prst="rect">
            <a:avLst/>
          </a:prstGeom>
          <a:noFill/>
          <a:ln/>
        </p:spPr>
        <p:txBody>
          <a:bodyPr wrap="square" lIns="0" tIns="0" rIns="0" bIns="0" rtlCol="0" anchor="t"/>
          <a:lstStyle/>
          <a:p>
            <a:pPr indent="0" marL="0">
              <a:buNone/>
            </a:pPr>
            <a:r>
              <a:rPr lang="en-US" sz="1700" b="1" dirty="0">
                <a:solidFill>
                  <a:schemeClr val="tx2"/>
                </a:solidFill>
              </a:rPr>
              <a:t>Students pay to certify</a:t>
            </a:r>
            <a:endParaRPr lang="en-US" sz="1700" dirty="0"/>
          </a:p>
        </p:txBody>
      </p:sp>
      <p:sp>
        <p:nvSpPr>
          <p:cNvPr id="9" name="text-296"/>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500" dirty="0">
                <a:solidFill>
                  <a:schemeClr val="tx1"/>
                </a:solidFill>
              </a:rPr>
              <a:t>€15 per certified result. Score is free.</a:t>
            </a:r>
            <a:endParaRPr lang="en-US" sz="1500" dirty="0"/>
          </a:p>
        </p:txBody>
      </p:sp>
      <p:sp>
        <p:nvSpPr>
          <p:cNvPr id="10" name="text-297"/>
          <p:cNvSpPr txBox="1"/>
          <p:nvPr/>
        </p:nvSpPr>
        <p:spPr>
          <a:xfrm>
            <a:off x="822960" y="3886200"/>
            <a:ext cx="3017520" cy="1737360"/>
          </a:xfrm>
          <a:prstGeom prst="rect">
            <a:avLst/>
          </a:prstGeom>
          <a:noFill/>
          <a:ln/>
        </p:spPr>
        <p:txBody>
          <a:bodyPr wrap="square" lIns="0" tIns="0" rIns="0" bIns="0" rtlCol="0" anchor="t"/>
          <a:lstStyle/>
          <a:p>
            <a:pPr indent="0" marL="0">
              <a:buNone/>
            </a:pPr>
            <a:r>
              <a:rPr lang="en-US" sz="1300" dirty="0">
                <a:solidFill>
                  <a:schemeClr val="accent3"/>
                </a:solidFill>
              </a:rPr>
              <a:t>Our first test. But every alternative is free, and fees alone stay under €9k a year in Madrid.</a:t>
            </a:r>
            <a:endParaRPr lang="en-US" sz="1300" dirty="0"/>
          </a:p>
        </p:txBody>
      </p:sp>
      <p:sp>
        <p:nvSpPr>
          <p:cNvPr id="11" name="card-298"/>
          <p:cNvSpPr/>
          <p:nvPr/>
        </p:nvSpPr>
        <p:spPr>
          <a:xfrm>
            <a:off x="4297680" y="1417320"/>
            <a:ext cx="3520440" cy="4434840"/>
          </a:xfrm>
          <a:prstGeom prst="roundRect">
            <a:avLst>
              <a:gd name="adj" fmla="val 2078"/>
            </a:avLst>
          </a:prstGeom>
          <a:solidFill>
            <a:schemeClr val="bg2"/>
          </a:solidFill>
          <a:ln w="12700">
            <a:solidFill>
              <a:schemeClr val="bg2"/>
            </a:solidFill>
            <a:prstDash val="solid"/>
          </a:ln>
        </p:spPr>
      </p:sp>
      <p:sp>
        <p:nvSpPr>
          <p:cNvPr id="12" name="badge-299"/>
          <p:cNvSpPr/>
          <p:nvPr/>
        </p:nvSpPr>
        <p:spPr>
          <a:xfrm>
            <a:off x="4572000" y="1645920"/>
            <a:ext cx="777240" cy="777240"/>
          </a:xfrm>
          <a:prstGeom prst="ellipse">
            <a:avLst/>
          </a:prstGeom>
          <a:solidFill>
            <a:schemeClr val="accent1"/>
          </a:solidFill>
          <a:ln w="12700">
            <a:solidFill>
              <a:schemeClr val="accent1"/>
            </a:solidFill>
            <a:prstDash val="solid"/>
          </a:ln>
        </p:spPr>
      </p:sp>
      <p:pic>
        <p:nvPicPr>
          <p:cNvPr id="13" name="icon-300" descr="preencoded.png">    </p:cNvPr>
          <p:cNvPicPr>
            <a:picLocks noChangeAspect="1"/>
          </p:cNvPicPr>
          <p:nvPr/>
        </p:nvPicPr>
        <p:blipFill>
          <a:blip r:embed="rId2"/>
          <a:stretch>
            <a:fillRect/>
          </a:stretch>
        </p:blipFill>
        <p:spPr>
          <a:xfrm>
            <a:off x="4758538" y="1832458"/>
            <a:ext cx="404165" cy="404165"/>
          </a:xfrm>
          <a:prstGeom prst="rect">
            <a:avLst/>
          </a:prstGeom>
        </p:spPr>
      </p:pic>
      <p:sp>
        <p:nvSpPr>
          <p:cNvPr id="14" name="text-301"/>
          <p:cNvSpPr txBox="1"/>
          <p:nvPr/>
        </p:nvSpPr>
        <p:spPr>
          <a:xfrm>
            <a:off x="5532120" y="1737360"/>
            <a:ext cx="2103120" cy="320040"/>
          </a:xfrm>
          <a:prstGeom prst="rect">
            <a:avLst/>
          </a:prstGeom>
          <a:noFill/>
          <a:ln/>
        </p:spPr>
        <p:txBody>
          <a:bodyPr wrap="square" lIns="0" tIns="0" rIns="0" bIns="0" rtlCol="0" anchor="t"/>
          <a:lstStyle/>
          <a:p>
            <a:pPr indent="0" marL="0">
              <a:buNone/>
            </a:pPr>
            <a:r>
              <a:rPr lang="en-US" sz="1200" b="1" dirty="0">
                <a:solidFill>
                  <a:schemeClr val="accent3"/>
                </a:solidFill>
              </a:rPr>
              <a:t>Hypothesis 2</a:t>
            </a:r>
            <a:endParaRPr lang="en-US" sz="1200" dirty="0"/>
          </a:p>
        </p:txBody>
      </p:sp>
      <p:sp>
        <p:nvSpPr>
          <p:cNvPr id="15" name="text-302"/>
          <p:cNvSpPr txBox="1"/>
          <p:nvPr/>
        </p:nvSpPr>
        <p:spPr>
          <a:xfrm>
            <a:off x="5532120" y="2011680"/>
            <a:ext cx="2148840" cy="685800"/>
          </a:xfrm>
          <a:prstGeom prst="rect">
            <a:avLst/>
          </a:prstGeom>
          <a:noFill/>
          <a:ln/>
        </p:spPr>
        <p:txBody>
          <a:bodyPr wrap="square" lIns="0" tIns="0" rIns="0" bIns="0" rtlCol="0" anchor="t"/>
          <a:lstStyle/>
          <a:p>
            <a:pPr indent="0" marL="0">
              <a:buNone/>
            </a:pPr>
            <a:r>
              <a:rPr lang="en-US" sz="1700" b="1" dirty="0">
                <a:solidFill>
                  <a:schemeClr val="tx2"/>
                </a:solidFill>
              </a:rPr>
              <a:t>Companies pay per challenge</a:t>
            </a:r>
            <a:endParaRPr lang="en-US" sz="1700" dirty="0"/>
          </a:p>
        </p:txBody>
      </p:sp>
      <p:sp>
        <p:nvSpPr>
          <p:cNvPr id="16" name="text-303"/>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500" dirty="0">
                <a:solidFill>
                  <a:schemeClr val="tx1"/>
                </a:solidFill>
              </a:rPr>
              <a:t>A cheaper first screen than reviewing every take-home.</a:t>
            </a:r>
            <a:endParaRPr lang="en-US" sz="1500" dirty="0"/>
          </a:p>
        </p:txBody>
      </p:sp>
      <p:sp>
        <p:nvSpPr>
          <p:cNvPr id="17" name="text-304"/>
          <p:cNvSpPr txBox="1"/>
          <p:nvPr/>
        </p:nvSpPr>
        <p:spPr>
          <a:xfrm>
            <a:off x="4572000" y="3886200"/>
            <a:ext cx="3017520" cy="1737360"/>
          </a:xfrm>
          <a:prstGeom prst="rect">
            <a:avLst/>
          </a:prstGeom>
          <a:noFill/>
          <a:ln/>
        </p:spPr>
        <p:txBody>
          <a:bodyPr wrap="square" lIns="0" tIns="0" rIns="0" bIns="0" rtlCol="0" anchor="t"/>
          <a:lstStyle/>
          <a:p>
            <a:pPr indent="0" marL="0">
              <a:buNone/>
            </a:pPr>
            <a:r>
              <a:rPr lang="en-US" sz="1300" dirty="0">
                <a:solidFill>
                  <a:schemeClr val="accent3"/>
                </a:solidFill>
              </a:rPr>
              <a:t>HackerRank from $79/month. DF-R01: "per hire or per challenge", compared with job boards.</a:t>
            </a:r>
            <a:endParaRPr lang="en-US" sz="1300" dirty="0"/>
          </a:p>
        </p:txBody>
      </p:sp>
      <p:sp>
        <p:nvSpPr>
          <p:cNvPr id="18" name="card-305"/>
          <p:cNvSpPr/>
          <p:nvPr/>
        </p:nvSpPr>
        <p:spPr>
          <a:xfrm>
            <a:off x="8046720" y="1417320"/>
            <a:ext cx="3520440" cy="4434840"/>
          </a:xfrm>
          <a:prstGeom prst="roundRect">
            <a:avLst>
              <a:gd name="adj" fmla="val 2078"/>
            </a:avLst>
          </a:prstGeom>
          <a:solidFill>
            <a:schemeClr val="bg2"/>
          </a:solidFill>
          <a:ln w="12700">
            <a:solidFill>
              <a:schemeClr val="bg2"/>
            </a:solidFill>
            <a:prstDash val="solid"/>
          </a:ln>
        </p:spPr>
      </p:sp>
      <p:sp>
        <p:nvSpPr>
          <p:cNvPr id="19" name="badge-306"/>
          <p:cNvSpPr/>
          <p:nvPr/>
        </p:nvSpPr>
        <p:spPr>
          <a:xfrm>
            <a:off x="8321040" y="1645920"/>
            <a:ext cx="777240" cy="777240"/>
          </a:xfrm>
          <a:prstGeom prst="ellipse">
            <a:avLst/>
          </a:prstGeom>
          <a:solidFill>
            <a:schemeClr val="accent6"/>
          </a:solidFill>
          <a:ln w="12700">
            <a:solidFill>
              <a:schemeClr val="accent6"/>
            </a:solidFill>
            <a:prstDash val="solid"/>
          </a:ln>
        </p:spPr>
      </p:sp>
      <p:pic>
        <p:nvPicPr>
          <p:cNvPr id="20" name="icon-307" descr="preencoded.png">    </p:cNvPr>
          <p:cNvPicPr>
            <a:picLocks noChangeAspect="1"/>
          </p:cNvPicPr>
          <p:nvPr/>
        </p:nvPicPr>
        <p:blipFill>
          <a:blip r:embed="rId3"/>
          <a:stretch>
            <a:fillRect/>
          </a:stretch>
        </p:blipFill>
        <p:spPr>
          <a:xfrm>
            <a:off x="8507578" y="1832458"/>
            <a:ext cx="404165" cy="404165"/>
          </a:xfrm>
          <a:prstGeom prst="rect">
            <a:avLst/>
          </a:prstGeom>
        </p:spPr>
      </p:pic>
      <p:sp>
        <p:nvSpPr>
          <p:cNvPr id="21" name="text-308"/>
          <p:cNvSpPr txBox="1"/>
          <p:nvPr/>
        </p:nvSpPr>
        <p:spPr>
          <a:xfrm>
            <a:off x="9281160" y="1737360"/>
            <a:ext cx="2103120" cy="320040"/>
          </a:xfrm>
          <a:prstGeom prst="rect">
            <a:avLst/>
          </a:prstGeom>
          <a:noFill/>
          <a:ln/>
        </p:spPr>
        <p:txBody>
          <a:bodyPr wrap="square" lIns="0" tIns="0" rIns="0" bIns="0" rtlCol="0" anchor="t"/>
          <a:lstStyle/>
          <a:p>
            <a:pPr indent="0" marL="0">
              <a:buNone/>
            </a:pPr>
            <a:r>
              <a:rPr lang="en-US" sz="1200" b="1" dirty="0">
                <a:solidFill>
                  <a:schemeClr val="accent3"/>
                </a:solidFill>
              </a:rPr>
              <a:t>Hypothesis 3</a:t>
            </a:r>
            <a:endParaRPr lang="en-US" sz="1200" dirty="0"/>
          </a:p>
        </p:txBody>
      </p:sp>
      <p:sp>
        <p:nvSpPr>
          <p:cNvPr id="22" name="text-309"/>
          <p:cNvSpPr txBox="1"/>
          <p:nvPr/>
        </p:nvSpPr>
        <p:spPr>
          <a:xfrm>
            <a:off x="9281160" y="2011680"/>
            <a:ext cx="2148840" cy="685800"/>
          </a:xfrm>
          <a:prstGeom prst="rect">
            <a:avLst/>
          </a:prstGeom>
          <a:noFill/>
          <a:ln/>
        </p:spPr>
        <p:txBody>
          <a:bodyPr wrap="square" lIns="0" tIns="0" rIns="0" bIns="0" rtlCol="0" anchor="t"/>
          <a:lstStyle/>
          <a:p>
            <a:pPr indent="0" marL="0">
              <a:buNone/>
            </a:pPr>
            <a:r>
              <a:rPr lang="en-US" sz="1700" b="1" dirty="0">
                <a:solidFill>
                  <a:schemeClr val="tx2"/>
                </a:solidFill>
              </a:rPr>
              <a:t>Companies sponsor challenges</a:t>
            </a:r>
            <a:endParaRPr lang="en-US" sz="1700" dirty="0"/>
          </a:p>
        </p:txBody>
      </p:sp>
      <p:sp>
        <p:nvSpPr>
          <p:cNvPr id="23" name="text-310"/>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500" dirty="0">
                <a:solidFill>
                  <a:schemeClr val="tx1"/>
                </a:solidFill>
              </a:rPr>
              <a:t>From the employer-branding budget instead of a hackathon.</a:t>
            </a:r>
            <a:endParaRPr lang="en-US" sz="1500" dirty="0"/>
          </a:p>
        </p:txBody>
      </p:sp>
      <p:sp>
        <p:nvSpPr>
          <p:cNvPr id="24" name="text-311"/>
          <p:cNvSpPr txBox="1"/>
          <p:nvPr/>
        </p:nvSpPr>
        <p:spPr>
          <a:xfrm>
            <a:off x="8321040" y="3886200"/>
            <a:ext cx="3017520" cy="1737360"/>
          </a:xfrm>
          <a:prstGeom prst="rect">
            <a:avLst/>
          </a:prstGeom>
          <a:noFill/>
          <a:ln/>
        </p:spPr>
        <p:txBody>
          <a:bodyPr wrap="square" lIns="0" tIns="0" rIns="0" bIns="0" rtlCol="0" anchor="t"/>
          <a:lstStyle/>
          <a:p>
            <a:pPr indent="0" marL="0">
              <a:buNone/>
            </a:pPr>
            <a:r>
              <a:rPr lang="en-US" sz="1300" dirty="0">
                <a:solidFill>
                  <a:schemeClr val="accent3"/>
                </a:solidFill>
              </a:rPr>
              <a:t>V2-R01: a hackathon of about 8,000 (currency not recorded) from the talent-brand budget. DF-R01: ~€5k datathon, no hires.</a:t>
            </a:r>
            <a:endParaRPr lang="en-US" sz="1300" dirty="0"/>
          </a:p>
        </p:txBody>
      </p:sp>
      <p:sp>
        <p:nvSpPr>
          <p:cNvPr id="25" name="text-312"/>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assumptions.md (revenue hypotheses), stakeholder-map.md, v2-interviews (V2-R01 Q10), company-interview-deem-finance.md (Q8, Q15–16)</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Each player gets and pays something different</a:t>
            </a:r>
            <a:endParaRPr lang="en-US" sz="3200" dirty="0"/>
          </a:p>
        </p:txBody>
      </p:sp>
      <p:sp>
        <p:nvSpPr>
          <p:cNvPr id="4" name="text-313"/>
          <p:cNvSpPr txBox="1"/>
          <p:nvPr/>
        </p:nvSpPr>
        <p:spPr>
          <a:xfrm>
            <a:off x="3749040" y="1371600"/>
            <a:ext cx="4572000" cy="320040"/>
          </a:xfrm>
          <a:prstGeom prst="rect">
            <a:avLst/>
          </a:prstGeom>
          <a:noFill/>
          <a:ln/>
        </p:spPr>
        <p:txBody>
          <a:bodyPr wrap="square" lIns="0" tIns="0" rIns="0" bIns="0" rtlCol="0" anchor="t"/>
          <a:lstStyle/>
          <a:p>
            <a:pPr indent="0" marL="0">
              <a:buNone/>
            </a:pPr>
            <a:r>
              <a:rPr lang="en-US" sz="1400" b="1" dirty="0">
                <a:solidFill>
                  <a:schemeClr val="accent1"/>
                </a:solidFill>
              </a:rPr>
              <a:t>Gets</a:t>
            </a:r>
            <a:endParaRPr lang="en-US" sz="1400" dirty="0"/>
          </a:p>
        </p:txBody>
      </p:sp>
      <p:sp>
        <p:nvSpPr>
          <p:cNvPr id="5" name="text-314"/>
          <p:cNvSpPr txBox="1"/>
          <p:nvPr/>
        </p:nvSpPr>
        <p:spPr>
          <a:xfrm>
            <a:off x="8503920" y="1371600"/>
            <a:ext cx="3108960" cy="320040"/>
          </a:xfrm>
          <a:prstGeom prst="rect">
            <a:avLst/>
          </a:prstGeom>
          <a:noFill/>
          <a:ln/>
        </p:spPr>
        <p:txBody>
          <a:bodyPr wrap="square" lIns="0" tIns="0" rIns="0" bIns="0" rtlCol="0" anchor="t"/>
          <a:lstStyle/>
          <a:p>
            <a:pPr indent="0" marL="0">
              <a:buNone/>
            </a:pPr>
            <a:r>
              <a:rPr lang="en-US" sz="1400" b="1" dirty="0">
                <a:solidFill>
                  <a:schemeClr val="accent3"/>
                </a:solidFill>
              </a:rPr>
              <a:t>Pays</a:t>
            </a:r>
            <a:endParaRPr lang="en-US" sz="1400" dirty="0"/>
          </a:p>
        </p:txBody>
      </p:sp>
      <p:sp>
        <p:nvSpPr>
          <p:cNvPr id="6" name="card-315"/>
          <p:cNvSpPr/>
          <p:nvPr/>
        </p:nvSpPr>
        <p:spPr>
          <a:xfrm>
            <a:off x="548640" y="1737360"/>
            <a:ext cx="11064240" cy="713232"/>
          </a:xfrm>
          <a:prstGeom prst="roundRect">
            <a:avLst>
              <a:gd name="adj" fmla="val 10256"/>
            </a:avLst>
          </a:prstGeom>
          <a:solidFill>
            <a:schemeClr val="bg2"/>
          </a:solidFill>
          <a:ln w="12700">
            <a:solidFill>
              <a:schemeClr val="bg2"/>
            </a:solidFill>
            <a:prstDash val="solid"/>
          </a:ln>
        </p:spPr>
      </p:sp>
      <p:sp>
        <p:nvSpPr>
          <p:cNvPr id="7" name="badge-316"/>
          <p:cNvSpPr/>
          <p:nvPr/>
        </p:nvSpPr>
        <p:spPr>
          <a:xfrm>
            <a:off x="685800" y="1837944"/>
            <a:ext cx="512064" cy="512064"/>
          </a:xfrm>
          <a:prstGeom prst="ellipse">
            <a:avLst/>
          </a:prstGeom>
          <a:solidFill>
            <a:schemeClr val="accent1"/>
          </a:solidFill>
          <a:ln w="12700">
            <a:solidFill>
              <a:schemeClr val="accent1"/>
            </a:solidFill>
            <a:prstDash val="solid"/>
          </a:ln>
        </p:spPr>
      </p:sp>
      <p:pic>
        <p:nvPicPr>
          <p:cNvPr id="8" name="icon-317" descr="preencoded.png">    </p:cNvPr>
          <p:cNvPicPr>
            <a:picLocks noChangeAspect="1"/>
          </p:cNvPicPr>
          <p:nvPr/>
        </p:nvPicPr>
        <p:blipFill>
          <a:blip r:embed="rId1"/>
          <a:stretch>
            <a:fillRect/>
          </a:stretch>
        </p:blipFill>
        <p:spPr>
          <a:xfrm>
            <a:off x="808695" y="1960839"/>
            <a:ext cx="266273" cy="266273"/>
          </a:xfrm>
          <a:prstGeom prst="rect">
            <a:avLst/>
          </a:prstGeom>
        </p:spPr>
      </p:pic>
      <p:sp>
        <p:nvSpPr>
          <p:cNvPr id="9" name="text-318"/>
          <p:cNvSpPr txBox="1"/>
          <p:nvPr/>
        </p:nvSpPr>
        <p:spPr>
          <a:xfrm>
            <a:off x="1371600" y="1737360"/>
            <a:ext cx="2286000" cy="713232"/>
          </a:xfrm>
          <a:prstGeom prst="rect">
            <a:avLst/>
          </a:prstGeom>
          <a:noFill/>
          <a:ln/>
        </p:spPr>
        <p:txBody>
          <a:bodyPr wrap="square" lIns="0" tIns="0" rIns="0" bIns="0" rtlCol="0" anchor="ctr"/>
          <a:lstStyle/>
          <a:p>
            <a:pPr indent="0" marL="0">
              <a:buNone/>
            </a:pPr>
            <a:r>
              <a:rPr lang="en-US" sz="1500" b="1" dirty="0">
                <a:solidFill>
                  <a:schemeClr val="tx2"/>
                </a:solidFill>
              </a:rPr>
              <a:t>Student</a:t>
            </a:r>
            <a:endParaRPr lang="en-US" sz="1500" dirty="0"/>
          </a:p>
        </p:txBody>
      </p:sp>
      <p:sp>
        <p:nvSpPr>
          <p:cNvPr id="10" name="text-319"/>
          <p:cNvSpPr txBox="1"/>
          <p:nvPr/>
        </p:nvSpPr>
        <p:spPr>
          <a:xfrm>
            <a:off x="3749040" y="1737360"/>
            <a:ext cx="4572000" cy="713232"/>
          </a:xfrm>
          <a:prstGeom prst="rect">
            <a:avLst/>
          </a:prstGeom>
          <a:noFill/>
          <a:ln/>
        </p:spPr>
        <p:txBody>
          <a:bodyPr wrap="square" lIns="0" tIns="0" rIns="0" bIns="0" rtlCol="0" anchor="ctr"/>
          <a:lstStyle/>
          <a:p>
            <a:pPr indent="0" marL="0">
              <a:buNone/>
            </a:pPr>
            <a:r>
              <a:rPr lang="en-US" sz="1400" dirty="0">
                <a:solidFill>
                  <a:schemeClr val="tx1"/>
                </a:solidFill>
              </a:rPr>
              <a:t>Proof of what they personally did, plus specific feedback</a:t>
            </a:r>
            <a:endParaRPr lang="en-US" sz="1400" dirty="0"/>
          </a:p>
        </p:txBody>
      </p:sp>
      <p:sp>
        <p:nvSpPr>
          <p:cNvPr id="11" name="text-320"/>
          <p:cNvSpPr txBox="1"/>
          <p:nvPr/>
        </p:nvSpPr>
        <p:spPr>
          <a:xfrm>
            <a:off x="8503920" y="1737360"/>
            <a:ext cx="3017520" cy="713232"/>
          </a:xfrm>
          <a:prstGeom prst="rect">
            <a:avLst/>
          </a:prstGeom>
          <a:noFill/>
          <a:ln/>
        </p:spPr>
        <p:txBody>
          <a:bodyPr wrap="square" lIns="0" tIns="0" rIns="0" bIns="0" rtlCol="0" anchor="ctr"/>
          <a:lstStyle/>
          <a:p>
            <a:pPr indent="0" marL="0">
              <a:buNone/>
            </a:pPr>
            <a:r>
              <a:rPr lang="en-US" sz="1400" dirty="0">
                <a:solidFill>
                  <a:schemeClr val="accent3"/>
                </a:solidFill>
              </a:rPr>
              <a:t>2–7 h; €15 if they certify</a:t>
            </a:r>
            <a:endParaRPr lang="en-US" sz="1400" dirty="0"/>
          </a:p>
        </p:txBody>
      </p:sp>
      <p:sp>
        <p:nvSpPr>
          <p:cNvPr id="12" name="card-321"/>
          <p:cNvSpPr/>
          <p:nvPr/>
        </p:nvSpPr>
        <p:spPr>
          <a:xfrm>
            <a:off x="548640" y="2560320"/>
            <a:ext cx="11064240" cy="713232"/>
          </a:xfrm>
          <a:prstGeom prst="roundRect">
            <a:avLst>
              <a:gd name="adj" fmla="val 10256"/>
            </a:avLst>
          </a:prstGeom>
          <a:solidFill>
            <a:schemeClr val="bg1"/>
          </a:solidFill>
          <a:ln w="12700">
            <a:solidFill>
              <a:schemeClr val="bg1"/>
            </a:solidFill>
            <a:prstDash val="solid"/>
          </a:ln>
        </p:spPr>
      </p:sp>
      <p:sp>
        <p:nvSpPr>
          <p:cNvPr id="13" name="badge-322"/>
          <p:cNvSpPr/>
          <p:nvPr/>
        </p:nvSpPr>
        <p:spPr>
          <a:xfrm>
            <a:off x="685800" y="2660904"/>
            <a:ext cx="512064" cy="512064"/>
          </a:xfrm>
          <a:prstGeom prst="ellipse">
            <a:avLst/>
          </a:prstGeom>
          <a:solidFill>
            <a:schemeClr val="accent1"/>
          </a:solidFill>
          <a:ln w="12700">
            <a:solidFill>
              <a:schemeClr val="accent1"/>
            </a:solidFill>
            <a:prstDash val="solid"/>
          </a:ln>
        </p:spPr>
      </p:sp>
      <p:pic>
        <p:nvPicPr>
          <p:cNvPr id="14" name="icon-323" descr="preencoded.png">    </p:cNvPr>
          <p:cNvPicPr>
            <a:picLocks noChangeAspect="1"/>
          </p:cNvPicPr>
          <p:nvPr/>
        </p:nvPicPr>
        <p:blipFill>
          <a:blip r:embed="rId2"/>
          <a:stretch>
            <a:fillRect/>
          </a:stretch>
        </p:blipFill>
        <p:spPr>
          <a:xfrm>
            <a:off x="808695" y="2783799"/>
            <a:ext cx="266273" cy="266273"/>
          </a:xfrm>
          <a:prstGeom prst="rect">
            <a:avLst/>
          </a:prstGeom>
        </p:spPr>
      </p:pic>
      <p:sp>
        <p:nvSpPr>
          <p:cNvPr id="15" name="text-324"/>
          <p:cNvSpPr txBox="1"/>
          <p:nvPr/>
        </p:nvSpPr>
        <p:spPr>
          <a:xfrm>
            <a:off x="1371600" y="2560320"/>
            <a:ext cx="2286000" cy="713232"/>
          </a:xfrm>
          <a:prstGeom prst="rect">
            <a:avLst/>
          </a:prstGeom>
          <a:noFill/>
          <a:ln/>
        </p:spPr>
        <p:txBody>
          <a:bodyPr wrap="square" lIns="0" tIns="0" rIns="0" bIns="0" rtlCol="0" anchor="ctr"/>
          <a:lstStyle/>
          <a:p>
            <a:pPr indent="0" marL="0">
              <a:buNone/>
            </a:pPr>
            <a:r>
              <a:rPr lang="en-US" sz="1500" b="1" dirty="0">
                <a:solidFill>
                  <a:schemeClr val="tx2"/>
                </a:solidFill>
              </a:rPr>
              <a:t>Company engineer</a:t>
            </a:r>
            <a:endParaRPr lang="en-US" sz="1500" dirty="0"/>
          </a:p>
        </p:txBody>
      </p:sp>
      <p:sp>
        <p:nvSpPr>
          <p:cNvPr id="16" name="text-325"/>
          <p:cNvSpPr txBox="1"/>
          <p:nvPr/>
        </p:nvSpPr>
        <p:spPr>
          <a:xfrm>
            <a:off x="3749040" y="2560320"/>
            <a:ext cx="4572000" cy="713232"/>
          </a:xfrm>
          <a:prstGeom prst="rect">
            <a:avLst/>
          </a:prstGeom>
          <a:noFill/>
          <a:ln/>
        </p:spPr>
        <p:txBody>
          <a:bodyPr wrap="square" lIns="0" tIns="0" rIns="0" bIns="0" rtlCol="0" anchor="ctr"/>
          <a:lstStyle/>
          <a:p>
            <a:pPr indent="0" marL="0">
              <a:buNone/>
            </a:pPr>
            <a:r>
              <a:rPr lang="en-US" sz="1400" dirty="0">
                <a:solidFill>
                  <a:schemeClr val="tx1"/>
                </a:solidFill>
              </a:rPr>
              <a:t>A cheaper first screen than reviewing every take-home</a:t>
            </a:r>
            <a:endParaRPr lang="en-US" sz="1400" dirty="0"/>
          </a:p>
        </p:txBody>
      </p:sp>
      <p:sp>
        <p:nvSpPr>
          <p:cNvPr id="17" name="text-326"/>
          <p:cNvSpPr txBox="1"/>
          <p:nvPr/>
        </p:nvSpPr>
        <p:spPr>
          <a:xfrm>
            <a:off x="8503920" y="2560320"/>
            <a:ext cx="3017520" cy="713232"/>
          </a:xfrm>
          <a:prstGeom prst="rect">
            <a:avLst/>
          </a:prstGeom>
          <a:noFill/>
          <a:ln/>
        </p:spPr>
        <p:txBody>
          <a:bodyPr wrap="square" lIns="0" tIns="0" rIns="0" bIns="0" rtlCol="0" anchor="ctr"/>
          <a:lstStyle/>
          <a:p>
            <a:pPr indent="0" marL="0">
              <a:buNone/>
            </a:pPr>
            <a:r>
              <a:rPr lang="en-US" sz="1400" dirty="0">
                <a:solidFill>
                  <a:schemeClr val="accent3"/>
                </a:solidFill>
              </a:rPr>
              <a:t>One brief, one rubric, ~20 min per review</a:t>
            </a:r>
            <a:endParaRPr lang="en-US" sz="1400" dirty="0"/>
          </a:p>
        </p:txBody>
      </p:sp>
      <p:sp>
        <p:nvSpPr>
          <p:cNvPr id="18" name="card-327"/>
          <p:cNvSpPr/>
          <p:nvPr/>
        </p:nvSpPr>
        <p:spPr>
          <a:xfrm>
            <a:off x="548640" y="3383280"/>
            <a:ext cx="11064240" cy="713232"/>
          </a:xfrm>
          <a:prstGeom prst="roundRect">
            <a:avLst>
              <a:gd name="adj" fmla="val 10256"/>
            </a:avLst>
          </a:prstGeom>
          <a:solidFill>
            <a:schemeClr val="bg2"/>
          </a:solidFill>
          <a:ln w="12700">
            <a:solidFill>
              <a:schemeClr val="bg2"/>
            </a:solidFill>
            <a:prstDash val="solid"/>
          </a:ln>
        </p:spPr>
      </p:sp>
      <p:sp>
        <p:nvSpPr>
          <p:cNvPr id="19" name="badge-328"/>
          <p:cNvSpPr/>
          <p:nvPr/>
        </p:nvSpPr>
        <p:spPr>
          <a:xfrm>
            <a:off x="685800" y="3483864"/>
            <a:ext cx="512064" cy="512064"/>
          </a:xfrm>
          <a:prstGeom prst="ellipse">
            <a:avLst/>
          </a:prstGeom>
          <a:solidFill>
            <a:schemeClr val="accent1"/>
          </a:solidFill>
          <a:ln w="12700">
            <a:solidFill>
              <a:schemeClr val="accent1"/>
            </a:solidFill>
            <a:prstDash val="solid"/>
          </a:ln>
        </p:spPr>
      </p:sp>
      <p:pic>
        <p:nvPicPr>
          <p:cNvPr id="20" name="icon-329" descr="preencoded.png">    </p:cNvPr>
          <p:cNvPicPr>
            <a:picLocks noChangeAspect="1"/>
          </p:cNvPicPr>
          <p:nvPr/>
        </p:nvPicPr>
        <p:blipFill>
          <a:blip r:embed="rId3"/>
          <a:stretch>
            <a:fillRect/>
          </a:stretch>
        </p:blipFill>
        <p:spPr>
          <a:xfrm>
            <a:off x="808695" y="3606759"/>
            <a:ext cx="266273" cy="266273"/>
          </a:xfrm>
          <a:prstGeom prst="rect">
            <a:avLst/>
          </a:prstGeom>
        </p:spPr>
      </p:pic>
      <p:sp>
        <p:nvSpPr>
          <p:cNvPr id="21" name="text-330"/>
          <p:cNvSpPr txBox="1"/>
          <p:nvPr/>
        </p:nvSpPr>
        <p:spPr>
          <a:xfrm>
            <a:off x="1371600" y="3383280"/>
            <a:ext cx="2286000" cy="713232"/>
          </a:xfrm>
          <a:prstGeom prst="rect">
            <a:avLst/>
          </a:prstGeom>
          <a:noFill/>
          <a:ln/>
        </p:spPr>
        <p:txBody>
          <a:bodyPr wrap="square" lIns="0" tIns="0" rIns="0" bIns="0" rtlCol="0" anchor="ctr"/>
          <a:lstStyle/>
          <a:p>
            <a:pPr indent="0" marL="0">
              <a:buNone/>
            </a:pPr>
            <a:r>
              <a:rPr lang="en-US" sz="1500" b="1" dirty="0">
                <a:solidFill>
                  <a:schemeClr val="tx2"/>
                </a:solidFill>
              </a:rPr>
              <a:t>Recruiter</a:t>
            </a:r>
            <a:endParaRPr lang="en-US" sz="1500" dirty="0"/>
          </a:p>
        </p:txBody>
      </p:sp>
      <p:sp>
        <p:nvSpPr>
          <p:cNvPr id="22" name="text-331"/>
          <p:cNvSpPr txBox="1"/>
          <p:nvPr/>
        </p:nvSpPr>
        <p:spPr>
          <a:xfrm>
            <a:off x="3749040" y="3383280"/>
            <a:ext cx="4572000" cy="713232"/>
          </a:xfrm>
          <a:prstGeom prst="rect">
            <a:avLst/>
          </a:prstGeom>
          <a:noFill/>
          <a:ln/>
        </p:spPr>
        <p:txBody>
          <a:bodyPr wrap="square" lIns="0" tIns="0" rIns="0" bIns="0" rtlCol="0" anchor="ctr"/>
          <a:lstStyle/>
          <a:p>
            <a:pPr indent="0" marL="0">
              <a:buNone/>
            </a:pPr>
            <a:r>
              <a:rPr lang="en-US" sz="1400" dirty="0">
                <a:solidFill>
                  <a:schemeClr val="tx1"/>
                </a:solidFill>
              </a:rPr>
              <a:t>A shortlist signal they can inspect: work, rubric, note, contribution</a:t>
            </a:r>
            <a:endParaRPr lang="en-US" sz="1400" dirty="0"/>
          </a:p>
        </p:txBody>
      </p:sp>
      <p:sp>
        <p:nvSpPr>
          <p:cNvPr id="23" name="text-332"/>
          <p:cNvSpPr txBox="1"/>
          <p:nvPr/>
        </p:nvSpPr>
        <p:spPr>
          <a:xfrm>
            <a:off x="8503920" y="3383280"/>
            <a:ext cx="3017520" cy="713232"/>
          </a:xfrm>
          <a:prstGeom prst="rect">
            <a:avLst/>
          </a:prstGeom>
          <a:noFill/>
          <a:ln/>
        </p:spPr>
        <p:txBody>
          <a:bodyPr wrap="square" lIns="0" tIns="0" rIns="0" bIns="0" rtlCol="0" anchor="ctr"/>
          <a:lstStyle/>
          <a:p>
            <a:pPr indent="0" marL="0">
              <a:buNone/>
            </a:pPr>
            <a:r>
              <a:rPr lang="en-US" sz="1400" dirty="0">
                <a:solidFill>
                  <a:schemeClr val="accent3"/>
                </a:solidFill>
              </a:rPr>
              <a:t>Learning a new signal</a:t>
            </a:r>
            <a:endParaRPr lang="en-US" sz="1400" dirty="0"/>
          </a:p>
        </p:txBody>
      </p:sp>
      <p:sp>
        <p:nvSpPr>
          <p:cNvPr id="24" name="card-333"/>
          <p:cNvSpPr/>
          <p:nvPr/>
        </p:nvSpPr>
        <p:spPr>
          <a:xfrm>
            <a:off x="548640" y="4206240"/>
            <a:ext cx="11064240" cy="713232"/>
          </a:xfrm>
          <a:prstGeom prst="roundRect">
            <a:avLst>
              <a:gd name="adj" fmla="val 10256"/>
            </a:avLst>
          </a:prstGeom>
          <a:solidFill>
            <a:schemeClr val="bg1"/>
          </a:solidFill>
          <a:ln w="12700">
            <a:solidFill>
              <a:schemeClr val="bg1"/>
            </a:solidFill>
            <a:prstDash val="solid"/>
          </a:ln>
        </p:spPr>
      </p:sp>
      <p:sp>
        <p:nvSpPr>
          <p:cNvPr id="25" name="badge-334"/>
          <p:cNvSpPr/>
          <p:nvPr/>
        </p:nvSpPr>
        <p:spPr>
          <a:xfrm>
            <a:off x="685800" y="4306824"/>
            <a:ext cx="512064" cy="512064"/>
          </a:xfrm>
          <a:prstGeom prst="ellipse">
            <a:avLst/>
          </a:prstGeom>
          <a:solidFill>
            <a:schemeClr val="accent1"/>
          </a:solidFill>
          <a:ln w="12700">
            <a:solidFill>
              <a:schemeClr val="accent1"/>
            </a:solidFill>
            <a:prstDash val="solid"/>
          </a:ln>
        </p:spPr>
      </p:sp>
      <p:pic>
        <p:nvPicPr>
          <p:cNvPr id="26" name="icon-335" descr="preencoded.png">    </p:cNvPr>
          <p:cNvPicPr>
            <a:picLocks noChangeAspect="1"/>
          </p:cNvPicPr>
          <p:nvPr/>
        </p:nvPicPr>
        <p:blipFill>
          <a:blip r:embed="rId4"/>
          <a:stretch>
            <a:fillRect/>
          </a:stretch>
        </p:blipFill>
        <p:spPr>
          <a:xfrm>
            <a:off x="808695" y="4429719"/>
            <a:ext cx="266273" cy="266273"/>
          </a:xfrm>
          <a:prstGeom prst="rect">
            <a:avLst/>
          </a:prstGeom>
        </p:spPr>
      </p:pic>
      <p:sp>
        <p:nvSpPr>
          <p:cNvPr id="27" name="text-336"/>
          <p:cNvSpPr txBox="1"/>
          <p:nvPr/>
        </p:nvSpPr>
        <p:spPr>
          <a:xfrm>
            <a:off x="1371600" y="4206240"/>
            <a:ext cx="2286000" cy="713232"/>
          </a:xfrm>
          <a:prstGeom prst="rect">
            <a:avLst/>
          </a:prstGeom>
          <a:noFill/>
          <a:ln/>
        </p:spPr>
        <p:txBody>
          <a:bodyPr wrap="square" lIns="0" tIns="0" rIns="0" bIns="0" rtlCol="0" anchor="ctr"/>
          <a:lstStyle/>
          <a:p>
            <a:pPr indent="0" marL="0">
              <a:buNone/>
            </a:pPr>
            <a:r>
              <a:rPr lang="en-US" sz="1500" b="1" dirty="0">
                <a:solidFill>
                  <a:schemeClr val="tx2"/>
                </a:solidFill>
              </a:rPr>
              <a:t>Budget owner (HR / talent)</a:t>
            </a:r>
            <a:endParaRPr lang="en-US" sz="1500" dirty="0"/>
          </a:p>
        </p:txBody>
      </p:sp>
      <p:sp>
        <p:nvSpPr>
          <p:cNvPr id="28" name="text-337"/>
          <p:cNvSpPr txBox="1"/>
          <p:nvPr/>
        </p:nvSpPr>
        <p:spPr>
          <a:xfrm>
            <a:off x="3749040" y="4206240"/>
            <a:ext cx="4572000" cy="713232"/>
          </a:xfrm>
          <a:prstGeom prst="rect">
            <a:avLst/>
          </a:prstGeom>
          <a:noFill/>
          <a:ln/>
        </p:spPr>
        <p:txBody>
          <a:bodyPr wrap="square" lIns="0" tIns="0" rIns="0" bIns="0" rtlCol="0" anchor="ctr"/>
          <a:lstStyle/>
          <a:p>
            <a:pPr indent="0" marL="0">
              <a:buNone/>
            </a:pPr>
            <a:r>
              <a:rPr lang="en-US" sz="1400" dirty="0">
                <a:solidFill>
                  <a:schemeClr val="tx1"/>
                </a:solidFill>
              </a:rPr>
              <a:t>Less engineer time on take-homes; employer branding</a:t>
            </a:r>
            <a:endParaRPr lang="en-US" sz="1400" dirty="0"/>
          </a:p>
        </p:txBody>
      </p:sp>
      <p:sp>
        <p:nvSpPr>
          <p:cNvPr id="29" name="text-338"/>
          <p:cNvSpPr txBox="1"/>
          <p:nvPr/>
        </p:nvSpPr>
        <p:spPr>
          <a:xfrm>
            <a:off x="8503920" y="4206240"/>
            <a:ext cx="3017520" cy="713232"/>
          </a:xfrm>
          <a:prstGeom prst="rect">
            <a:avLst/>
          </a:prstGeom>
          <a:noFill/>
          <a:ln/>
        </p:spPr>
        <p:txBody>
          <a:bodyPr wrap="square" lIns="0" tIns="0" rIns="0" bIns="0" rtlCol="0" anchor="ctr"/>
          <a:lstStyle/>
          <a:p>
            <a:pPr indent="0" marL="0">
              <a:buNone/>
            </a:pPr>
            <a:r>
              <a:rPr lang="en-US" sz="1400" dirty="0">
                <a:solidFill>
                  <a:schemeClr val="accent3"/>
                </a:solidFill>
              </a:rPr>
              <a:t>Per-challenge or sponsorship fee</a:t>
            </a:r>
            <a:endParaRPr lang="en-US" sz="1400" dirty="0"/>
          </a:p>
        </p:txBody>
      </p:sp>
      <p:sp>
        <p:nvSpPr>
          <p:cNvPr id="30" name="card-339"/>
          <p:cNvSpPr/>
          <p:nvPr/>
        </p:nvSpPr>
        <p:spPr>
          <a:xfrm>
            <a:off x="548640" y="5029200"/>
            <a:ext cx="11064240" cy="713232"/>
          </a:xfrm>
          <a:prstGeom prst="roundRect">
            <a:avLst>
              <a:gd name="adj" fmla="val 10256"/>
            </a:avLst>
          </a:prstGeom>
          <a:solidFill>
            <a:schemeClr val="bg2"/>
          </a:solidFill>
          <a:ln w="12700">
            <a:solidFill>
              <a:schemeClr val="bg2"/>
            </a:solidFill>
            <a:prstDash val="solid"/>
          </a:ln>
        </p:spPr>
      </p:sp>
      <p:sp>
        <p:nvSpPr>
          <p:cNvPr id="31" name="badge-340"/>
          <p:cNvSpPr/>
          <p:nvPr/>
        </p:nvSpPr>
        <p:spPr>
          <a:xfrm>
            <a:off x="685800" y="5129784"/>
            <a:ext cx="512064" cy="512064"/>
          </a:xfrm>
          <a:prstGeom prst="ellipse">
            <a:avLst/>
          </a:prstGeom>
          <a:solidFill>
            <a:schemeClr val="accent1"/>
          </a:solidFill>
          <a:ln w="12700">
            <a:solidFill>
              <a:schemeClr val="accent1"/>
            </a:solidFill>
            <a:prstDash val="solid"/>
          </a:ln>
        </p:spPr>
      </p:sp>
      <p:pic>
        <p:nvPicPr>
          <p:cNvPr id="32" name="icon-341" descr="preencoded.png">    </p:cNvPr>
          <p:cNvPicPr>
            <a:picLocks noChangeAspect="1"/>
          </p:cNvPicPr>
          <p:nvPr/>
        </p:nvPicPr>
        <p:blipFill>
          <a:blip r:embed="rId5"/>
          <a:stretch>
            <a:fillRect/>
          </a:stretch>
        </p:blipFill>
        <p:spPr>
          <a:xfrm>
            <a:off x="808695" y="5252679"/>
            <a:ext cx="266273" cy="266273"/>
          </a:xfrm>
          <a:prstGeom prst="rect">
            <a:avLst/>
          </a:prstGeom>
        </p:spPr>
      </p:pic>
      <p:sp>
        <p:nvSpPr>
          <p:cNvPr id="33" name="text-342"/>
          <p:cNvSpPr txBox="1"/>
          <p:nvPr/>
        </p:nvSpPr>
        <p:spPr>
          <a:xfrm>
            <a:off x="1371600" y="5029200"/>
            <a:ext cx="2286000" cy="713232"/>
          </a:xfrm>
          <a:prstGeom prst="rect">
            <a:avLst/>
          </a:prstGeom>
          <a:noFill/>
          <a:ln/>
        </p:spPr>
        <p:txBody>
          <a:bodyPr wrap="square" lIns="0" tIns="0" rIns="0" bIns="0" rtlCol="0" anchor="ctr"/>
          <a:lstStyle/>
          <a:p>
            <a:pPr indent="0" marL="0">
              <a:buNone/>
            </a:pPr>
            <a:r>
              <a:rPr lang="en-US" sz="1500" b="1" dirty="0">
                <a:solidFill>
                  <a:schemeClr val="tx2"/>
                </a:solidFill>
              </a:rPr>
              <a:t>University careers office</a:t>
            </a:r>
            <a:endParaRPr lang="en-US" sz="1500" dirty="0"/>
          </a:p>
        </p:txBody>
      </p:sp>
      <p:sp>
        <p:nvSpPr>
          <p:cNvPr id="34" name="text-343"/>
          <p:cNvSpPr txBox="1"/>
          <p:nvPr/>
        </p:nvSpPr>
        <p:spPr>
          <a:xfrm>
            <a:off x="3749040" y="5029200"/>
            <a:ext cx="4572000" cy="713232"/>
          </a:xfrm>
          <a:prstGeom prst="rect">
            <a:avLst/>
          </a:prstGeom>
          <a:noFill/>
          <a:ln/>
        </p:spPr>
        <p:txBody>
          <a:bodyPr wrap="square" lIns="0" tIns="0" rIns="0" bIns="0" rtlCol="0" anchor="ctr"/>
          <a:lstStyle/>
          <a:p>
            <a:pPr indent="0" marL="0">
              <a:buNone/>
            </a:pPr>
            <a:r>
              <a:rPr lang="en-US" sz="1400" dirty="0">
                <a:solidFill>
                  <a:schemeClr val="tx1"/>
                </a:solidFill>
              </a:rPr>
              <a:t>Better student outcomes; a ready-made partner programme</a:t>
            </a:r>
            <a:endParaRPr lang="en-US" sz="1400" dirty="0"/>
          </a:p>
        </p:txBody>
      </p:sp>
      <p:sp>
        <p:nvSpPr>
          <p:cNvPr id="35" name="text-344"/>
          <p:cNvSpPr txBox="1"/>
          <p:nvPr/>
        </p:nvSpPr>
        <p:spPr>
          <a:xfrm>
            <a:off x="8503920" y="5029200"/>
            <a:ext cx="3017520" cy="713232"/>
          </a:xfrm>
          <a:prstGeom prst="rect">
            <a:avLst/>
          </a:prstGeom>
          <a:noFill/>
          <a:ln/>
        </p:spPr>
        <p:txBody>
          <a:bodyPr wrap="square" lIns="0" tIns="0" rIns="0" bIns="0" rtlCol="0" anchor="ctr"/>
          <a:lstStyle/>
          <a:p>
            <a:pPr indent="0" marL="0">
              <a:buNone/>
            </a:pPr>
            <a:r>
              <a:rPr lang="en-US" sz="1400" dirty="0">
                <a:solidFill>
                  <a:schemeClr val="accent3"/>
                </a:solidFill>
              </a:rPr>
              <a:t>Promotion, maybe a licence</a:t>
            </a:r>
            <a:endParaRPr lang="en-US" sz="1400" dirty="0"/>
          </a:p>
        </p:txBody>
      </p:sp>
      <p:sp>
        <p:nvSpPr>
          <p:cNvPr id="36" name="text-345"/>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evidence-log/stakeholder-map.md (also lists hurdles: no signed brief, free alternatives, engineer time, AI-only scores, payments licence, IP, NUWE)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Options, prioritised: do the cheap, high-value moves first</a:t>
            </a:r>
            <a:endParaRPr lang="en-US" sz="3200" dirty="0"/>
          </a:p>
        </p:txBody>
      </p:sp>
      <p:sp>
        <p:nvSpPr>
          <p:cNvPr id="4" name="card-346"/>
          <p:cNvSpPr/>
          <p:nvPr/>
        </p:nvSpPr>
        <p:spPr>
          <a:xfrm>
            <a:off x="548640" y="1417320"/>
            <a:ext cx="2606040" cy="4434840"/>
          </a:xfrm>
          <a:prstGeom prst="roundRect">
            <a:avLst>
              <a:gd name="adj" fmla="val 2807"/>
            </a:avLst>
          </a:prstGeom>
          <a:solidFill>
            <a:schemeClr val="bg2"/>
          </a:solidFill>
          <a:ln w="12700">
            <a:solidFill>
              <a:schemeClr val="bg2"/>
            </a:solidFill>
            <a:prstDash val="solid"/>
          </a:ln>
        </p:spPr>
      </p:sp>
      <p:sp>
        <p:nvSpPr>
          <p:cNvPr id="5" name="tag-347"/>
          <p:cNvSpPr/>
          <p:nvPr/>
        </p:nvSpPr>
        <p:spPr>
          <a:xfrm>
            <a:off x="777240" y="1645920"/>
            <a:ext cx="1371600" cy="457200"/>
          </a:xfrm>
          <a:prstGeom prst="roundRect">
            <a:avLst>
              <a:gd name="adj" fmla="val 16000"/>
            </a:avLst>
          </a:prstGeom>
          <a:solidFill>
            <a:schemeClr val="accent1"/>
          </a:solidFill>
          <a:ln w="12700">
            <a:solidFill>
              <a:schemeClr val="accent1"/>
            </a:solidFill>
            <a:prstDash val="solid"/>
          </a:ln>
        </p:spPr>
      </p:sp>
      <p:sp>
        <p:nvSpPr>
          <p:cNvPr id="6" name="text-348"/>
          <p:cNvSpPr txBox="1"/>
          <p:nvPr/>
        </p:nvSpPr>
        <p:spPr>
          <a:xfrm>
            <a:off x="777240" y="164592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Now</a:t>
            </a:r>
            <a:endParaRPr lang="en-US" sz="1600" dirty="0"/>
          </a:p>
        </p:txBody>
      </p:sp>
      <p:sp>
        <p:nvSpPr>
          <p:cNvPr id="7" name="text-349"/>
          <p:cNvSpPr txBox="1"/>
          <p:nvPr/>
        </p:nvSpPr>
        <p:spPr>
          <a:xfrm>
            <a:off x="777240" y="2331720"/>
            <a:ext cx="219456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One company, one signed brief</a:t>
            </a:r>
            <a:endParaRPr lang="en-US" sz="1400" dirty="0"/>
          </a:p>
          <a:p>
            <a:pPr marL="342900" indent="-342900">
              <a:spcAft>
                <a:spcPts val="800"/>
              </a:spcAft>
              <a:buSzPct val="100000"/>
              <a:buChar char="•"/>
            </a:pPr>
            <a:r>
              <a:rPr lang="en-US" sz="1400" dirty="0">
                <a:solidFill>
                  <a:schemeClr val="tx1"/>
                </a:solidFill>
              </a:rPr>
              <a:t>IE Talent &amp; Careers for recruiters and students</a:t>
            </a:r>
            <a:endParaRPr lang="en-US" sz="1400" dirty="0"/>
          </a:p>
          <a:p>
            <a:pPr marL="342900" indent="-342900">
              <a:spcAft>
                <a:spcPts val="800"/>
              </a:spcAft>
              <a:buSzPct val="100000"/>
              <a:buChar char="•"/>
            </a:pPr>
            <a:r>
              <a:rPr lang="en-US" sz="1400" dirty="0">
                <a:solidFill>
                  <a:schemeClr val="tx1"/>
                </a:solidFill>
              </a:rPr>
              <a:t>Student tech clubs for Arm A</a:t>
            </a:r>
            <a:endParaRPr lang="en-US" sz="1400" dirty="0"/>
          </a:p>
          <a:p>
            <a:pPr marL="342900" indent="-342900">
              <a:spcAft>
                <a:spcPts val="800"/>
              </a:spcAft>
              <a:buSzPct val="100000"/>
              <a:buChar char="•"/>
            </a:pPr>
            <a:r>
              <a:rPr lang="en-US" sz="1400" dirty="0">
                <a:solidFill>
                  <a:schemeClr val="tx1"/>
                </a:solidFill>
              </a:rPr>
              <a:t>Draft the company-pays offer</a:t>
            </a:r>
            <a:endParaRPr lang="en-US" sz="1400" dirty="0"/>
          </a:p>
        </p:txBody>
      </p:sp>
      <p:sp>
        <p:nvSpPr>
          <p:cNvPr id="8" name="card-350"/>
          <p:cNvSpPr/>
          <p:nvPr/>
        </p:nvSpPr>
        <p:spPr>
          <a:xfrm>
            <a:off x="3383280" y="1417320"/>
            <a:ext cx="2606040" cy="4434840"/>
          </a:xfrm>
          <a:prstGeom prst="roundRect">
            <a:avLst>
              <a:gd name="adj" fmla="val 2807"/>
            </a:avLst>
          </a:prstGeom>
          <a:solidFill>
            <a:schemeClr val="bg2"/>
          </a:solidFill>
          <a:ln w="12700">
            <a:solidFill>
              <a:schemeClr val="bg2"/>
            </a:solidFill>
            <a:prstDash val="solid"/>
          </a:ln>
        </p:spPr>
      </p:sp>
      <p:sp>
        <p:nvSpPr>
          <p:cNvPr id="9" name="tag-351"/>
          <p:cNvSpPr/>
          <p:nvPr/>
        </p:nvSpPr>
        <p:spPr>
          <a:xfrm>
            <a:off x="3611880" y="1645920"/>
            <a:ext cx="1371600" cy="457200"/>
          </a:xfrm>
          <a:prstGeom prst="roundRect">
            <a:avLst>
              <a:gd name="adj" fmla="val 16000"/>
            </a:avLst>
          </a:prstGeom>
          <a:solidFill>
            <a:schemeClr val="accent2"/>
          </a:solidFill>
          <a:ln w="12700">
            <a:solidFill>
              <a:schemeClr val="accent2"/>
            </a:solidFill>
            <a:prstDash val="solid"/>
          </a:ln>
        </p:spPr>
      </p:sp>
      <p:sp>
        <p:nvSpPr>
          <p:cNvPr id="10" name="text-352"/>
          <p:cNvSpPr txBox="1"/>
          <p:nvPr/>
        </p:nvSpPr>
        <p:spPr>
          <a:xfrm>
            <a:off x="3611880" y="164592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Next</a:t>
            </a:r>
            <a:endParaRPr lang="en-US" sz="1600" dirty="0"/>
          </a:p>
        </p:txBody>
      </p:sp>
      <p:sp>
        <p:nvSpPr>
          <p:cNvPr id="11" name="text-353"/>
          <p:cNvSpPr txBox="1"/>
          <p:nvPr/>
        </p:nvSpPr>
        <p:spPr>
          <a:xfrm>
            <a:off x="3611880" y="2331720"/>
            <a:ext cx="219456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University plan: the university pays or co-issues</a:t>
            </a:r>
            <a:endParaRPr lang="en-US" sz="1400" dirty="0"/>
          </a:p>
          <a:p>
            <a:pPr marL="342900" indent="-342900">
              <a:spcAft>
                <a:spcPts val="800"/>
              </a:spcAft>
              <a:buSzPct val="100000"/>
              <a:buChar char="•"/>
            </a:pPr>
            <a:r>
              <a:rPr lang="en-US" sz="1400" dirty="0">
                <a:solidFill>
                  <a:schemeClr val="tx1"/>
                </a:solidFill>
              </a:rPr>
              <a:t>Employer-branding sponsorship instead of a hackathon</a:t>
            </a:r>
            <a:endParaRPr lang="en-US" sz="1400" dirty="0"/>
          </a:p>
          <a:p>
            <a:pPr marL="342900" indent="-342900">
              <a:spcAft>
                <a:spcPts val="800"/>
              </a:spcAft>
              <a:buSzPct val="100000"/>
              <a:buChar char="•"/>
            </a:pPr>
            <a:r>
              <a:rPr lang="en-US" sz="1400" dirty="0">
                <a:solidFill>
                  <a:schemeClr val="tx1"/>
                </a:solidFill>
              </a:rPr>
              <a:t>Test the company price</a:t>
            </a:r>
            <a:endParaRPr lang="en-US" sz="1400" dirty="0"/>
          </a:p>
        </p:txBody>
      </p:sp>
      <p:sp>
        <p:nvSpPr>
          <p:cNvPr id="12" name="card-354"/>
          <p:cNvSpPr/>
          <p:nvPr/>
        </p:nvSpPr>
        <p:spPr>
          <a:xfrm>
            <a:off x="6217920" y="1417320"/>
            <a:ext cx="2606040" cy="4434840"/>
          </a:xfrm>
          <a:prstGeom prst="roundRect">
            <a:avLst>
              <a:gd name="adj" fmla="val 2807"/>
            </a:avLst>
          </a:prstGeom>
          <a:solidFill>
            <a:schemeClr val="bg2"/>
          </a:solidFill>
          <a:ln w="12700">
            <a:solidFill>
              <a:schemeClr val="bg2"/>
            </a:solidFill>
            <a:prstDash val="solid"/>
          </a:ln>
        </p:spPr>
      </p:sp>
      <p:sp>
        <p:nvSpPr>
          <p:cNvPr id="13" name="tag-355"/>
          <p:cNvSpPr/>
          <p:nvPr/>
        </p:nvSpPr>
        <p:spPr>
          <a:xfrm>
            <a:off x="6446520" y="1645920"/>
            <a:ext cx="1371600" cy="457200"/>
          </a:xfrm>
          <a:prstGeom prst="roundRect">
            <a:avLst>
              <a:gd name="adj" fmla="val 16000"/>
            </a:avLst>
          </a:prstGeom>
          <a:solidFill>
            <a:schemeClr val="accent6"/>
          </a:solidFill>
          <a:ln w="12700">
            <a:solidFill>
              <a:schemeClr val="accent6"/>
            </a:solidFill>
            <a:prstDash val="solid"/>
          </a:ln>
        </p:spPr>
      </p:sp>
      <p:sp>
        <p:nvSpPr>
          <p:cNvPr id="14" name="text-356"/>
          <p:cNvSpPr txBox="1"/>
          <p:nvPr/>
        </p:nvSpPr>
        <p:spPr>
          <a:xfrm>
            <a:off x="6446520" y="164592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Later</a:t>
            </a:r>
            <a:endParaRPr lang="en-US" sz="1600" dirty="0"/>
          </a:p>
        </p:txBody>
      </p:sp>
      <p:sp>
        <p:nvSpPr>
          <p:cNvPr id="15" name="text-357"/>
          <p:cNvSpPr txBox="1"/>
          <p:nvPr/>
        </p:nvSpPr>
        <p:spPr>
          <a:xfrm>
            <a:off x="6446520" y="2331720"/>
            <a:ext cx="219456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EU micro-credential format (Europass, LinkedIn)</a:t>
            </a:r>
            <a:endParaRPr lang="en-US" sz="1400" dirty="0"/>
          </a:p>
          <a:p>
            <a:pPr marL="342900" indent="-342900">
              <a:spcAft>
                <a:spcPts val="800"/>
              </a:spcAft>
              <a:buSzPct val="100000"/>
              <a:buChar char="•"/>
            </a:pPr>
            <a:r>
              <a:rPr lang="en-US" sz="1400" dirty="0">
                <a:solidFill>
                  <a:schemeClr val="tx1"/>
                </a:solidFill>
              </a:rPr>
              <a:t>Public funding via a university consortium</a:t>
            </a:r>
            <a:endParaRPr lang="en-US" sz="1400" dirty="0"/>
          </a:p>
          <a:p>
            <a:pPr marL="342900" indent="-342900">
              <a:spcAft>
                <a:spcPts val="800"/>
              </a:spcAft>
              <a:buSzPct val="100000"/>
              <a:buChar char="•"/>
            </a:pPr>
            <a:r>
              <a:rPr lang="en-US" sz="1400" dirty="0">
                <a:solidFill>
                  <a:schemeClr val="tx1"/>
                </a:solidFill>
              </a:rPr>
              <a:t>Pro-bono briefs as fallback only</a:t>
            </a:r>
            <a:endParaRPr lang="en-US" sz="1400" dirty="0"/>
          </a:p>
        </p:txBody>
      </p:sp>
      <p:sp>
        <p:nvSpPr>
          <p:cNvPr id="16" name="card-358"/>
          <p:cNvSpPr/>
          <p:nvPr/>
        </p:nvSpPr>
        <p:spPr>
          <a:xfrm>
            <a:off x="9052560" y="1417320"/>
            <a:ext cx="2606040" cy="4434840"/>
          </a:xfrm>
          <a:prstGeom prst="roundRect">
            <a:avLst>
              <a:gd name="adj" fmla="val 2807"/>
            </a:avLst>
          </a:prstGeom>
          <a:solidFill>
            <a:schemeClr val="bg2"/>
          </a:solidFill>
          <a:ln w="12700">
            <a:solidFill>
              <a:schemeClr val="bg2"/>
            </a:solidFill>
            <a:prstDash val="solid"/>
          </a:ln>
        </p:spPr>
      </p:sp>
      <p:sp>
        <p:nvSpPr>
          <p:cNvPr id="17" name="tag-359"/>
          <p:cNvSpPr/>
          <p:nvPr/>
        </p:nvSpPr>
        <p:spPr>
          <a:xfrm>
            <a:off x="9281160" y="1645920"/>
            <a:ext cx="1371600" cy="457200"/>
          </a:xfrm>
          <a:prstGeom prst="roundRect">
            <a:avLst>
              <a:gd name="adj" fmla="val 16000"/>
            </a:avLst>
          </a:prstGeom>
          <a:solidFill>
            <a:schemeClr val="accent3"/>
          </a:solidFill>
          <a:ln w="12700">
            <a:solidFill>
              <a:schemeClr val="accent3"/>
            </a:solidFill>
            <a:prstDash val="solid"/>
          </a:ln>
        </p:spPr>
      </p:sp>
      <p:sp>
        <p:nvSpPr>
          <p:cNvPr id="18" name="text-360"/>
          <p:cNvSpPr txBox="1"/>
          <p:nvPr/>
        </p:nvSpPr>
        <p:spPr>
          <a:xfrm>
            <a:off x="9281160" y="164592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Not now</a:t>
            </a:r>
            <a:endParaRPr lang="en-US" sz="1600" dirty="0"/>
          </a:p>
        </p:txBody>
      </p:sp>
      <p:sp>
        <p:nvSpPr>
          <p:cNvPr id="19" name="text-361"/>
          <p:cNvSpPr txBox="1"/>
          <p:nvPr/>
        </p:nvSpPr>
        <p:spPr>
          <a:xfrm>
            <a:off x="9281160" y="2331720"/>
            <a:ext cx="219456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Kit Digital / Kit Consulting (funds SMEs, not us)</a:t>
            </a:r>
            <a:endParaRPr lang="en-US" sz="1400" dirty="0"/>
          </a:p>
          <a:p>
            <a:pPr marL="342900" indent="-342900">
              <a:spcAft>
                <a:spcPts val="800"/>
              </a:spcAft>
              <a:buSzPct val="100000"/>
              <a:buChar char="•"/>
            </a:pPr>
            <a:r>
              <a:rPr lang="en-US" sz="1400" dirty="0">
                <a:solidFill>
                  <a:schemeClr val="tx1"/>
                </a:solidFill>
              </a:rPr>
              <a:t>Enterprise clients (GDPR and legal review first)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06  ·  REAL-USER VALIDATION</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What real people told us</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Who we talked to, what students, recruiters and an engineer said, and which claims changed</a:t>
            </a:r>
            <a:endParaRPr lang="en-US" sz="1800" dirty="0"/>
          </a:p>
        </p:txBody>
      </p:sp>
      <p:sp>
        <p:nvSpPr>
          <p:cNvPr id="5" name="badge-362"/>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363"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We talked to students, recruiters and an engineer</a:t>
            </a:r>
            <a:endParaRPr lang="en-US" sz="3200" dirty="0"/>
          </a:p>
        </p:txBody>
      </p:sp>
      <p:graphicFrame>
        <p:nvGraphicFramePr>
          <p:cNvPr id="27" name="rounds-table"/>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1737360"/>
                <a:gridCol w="3931920"/>
                <a:gridCol w="548640"/>
                <a:gridCol w="1463040"/>
              </a:tblGrid>
              <a:tr h="502920">
                <a:tc>
                  <a:txBody>
                    <a:bodyPr/>
                    <a:lstStyle/>
                    <a:p>
                      <a:pPr indent="0" marL="0">
                        <a:buNone/>
                      </a:pPr>
                      <a:r>
                        <a:rPr lang="en-US" sz="1400" b="1" dirty="0">
                          <a:solidFill>
                            <a:srgbClr val="FFFFFF"/>
                          </a:solidFill>
                        </a:rPr>
                        <a:t>Round</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16352F"/>
                    </a:solidFill>
                  </a:tcPr>
                </a:tc>
                <a:tc>
                  <a:txBody>
                    <a:bodyPr/>
                    <a:lstStyle/>
                    <a:p>
                      <a:pPr indent="0" marL="0">
                        <a:buNone/>
                      </a:pPr>
                      <a:r>
                        <a:rPr lang="en-US" sz="1400" b="1" dirty="0">
                          <a:solidFill>
                            <a:srgbClr val="FFFFFF"/>
                          </a:solidFill>
                        </a:rPr>
                        <a:t>Who</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16352F"/>
                    </a:solidFill>
                  </a:tcPr>
                </a:tc>
                <a:tc>
                  <a:txBody>
                    <a:bodyPr/>
                    <a:lstStyle/>
                    <a:p>
                      <a:pPr algn="ctr" indent="0" marL="0">
                        <a:buNone/>
                      </a:pPr>
                      <a:r>
                        <a:rPr lang="en-US" sz="1400" b="1" dirty="0">
                          <a:solidFill>
                            <a:srgbClr val="FFFFFF"/>
                          </a:solidFill>
                        </a:rPr>
                        <a:t>n</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16352F"/>
                    </a:solidFill>
                  </a:tcPr>
                </a:tc>
                <a:tc>
                  <a:txBody>
                    <a:bodyPr/>
                    <a:lstStyle/>
                    <a:p>
                      <a:pPr indent="0" marL="0">
                        <a:buNone/>
                      </a:pPr>
                      <a:r>
                        <a:rPr lang="en-US" sz="1400" b="1" dirty="0">
                          <a:solidFill>
                            <a:srgbClr val="FFFFFF"/>
                          </a:solidFill>
                        </a:rPr>
                        <a:t>Strength</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16352F"/>
                    </a:solidFill>
                  </a:tcPr>
                </a:tc>
              </a:tr>
              <a:tr h="502920">
                <a:tc>
                  <a:txBody>
                    <a:bodyPr/>
                    <a:lstStyle/>
                    <a:p>
                      <a:pPr indent="0" marL="0">
                        <a:buNone/>
                      </a:pPr>
                      <a:r>
                        <a:rPr lang="en-US" sz="1400" b="1" dirty="0">
                          <a:solidFill>
                            <a:srgbClr val="1B1F1D"/>
                          </a:solidFill>
                        </a:rPr>
                        <a:t>Sep interviews</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indent="0" marL="0">
                        <a:buNone/>
                      </a:pPr>
                      <a:r>
                        <a:rPr lang="en-US" sz="1400" dirty="0">
                          <a:solidFill>
                            <a:srgbClr val="1B1F1D"/>
                          </a:solidFill>
                        </a:rPr>
                        <a:t>2 IE students, 2 small-business owners</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algn="ctr" indent="0" marL="0">
                        <a:buNone/>
                      </a:pPr>
                      <a:r>
                        <a:rPr lang="en-US" sz="1400" b="1" dirty="0">
                          <a:solidFill>
                            <a:srgbClr val="1B1F1D"/>
                          </a:solidFill>
                        </a:rPr>
                        <a:t>4</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indent="0" marL="0">
                        <a:buNone/>
                      </a:pPr>
                      <a:r>
                        <a:rPr lang="en-US" sz="1400" dirty="0">
                          <a:solidFill>
                            <a:srgbClr val="1B1F1D"/>
                          </a:solidFill>
                        </a:rPr>
                        <a:t>Medium</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r>
              <a:tr h="502920">
                <a:tc>
                  <a:txBody>
                    <a:bodyPr/>
                    <a:lstStyle/>
                    <a:p>
                      <a:pPr indent="0" marL="0">
                        <a:buNone/>
                      </a:pPr>
                      <a:r>
                        <a:rPr lang="en-US" sz="1400" b="1" dirty="0">
                          <a:solidFill>
                            <a:srgbClr val="1B1F1D"/>
                          </a:solidFill>
                        </a:rPr>
                        <a:t>Student survey</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indent="0" marL="0">
                        <a:buNone/>
                      </a:pPr>
                      <a:r>
                        <a:rPr lang="en-US" sz="1400" dirty="0">
                          <a:solidFill>
                            <a:srgbClr val="1B1F1D"/>
                          </a:solidFill>
                        </a:rPr>
                        <a:t>Students, unscreened</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F1D"/>
                          </a:solidFill>
                        </a:rPr>
                        <a:t>17</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indent="0" marL="0">
                        <a:buNone/>
                      </a:pPr>
                      <a:r>
                        <a:rPr lang="en-US" sz="1400" dirty="0">
                          <a:solidFill>
                            <a:srgbClr val="1B1F1D"/>
                          </a:solidFill>
                        </a:rPr>
                        <a:t>Medium</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1F1D"/>
                          </a:solidFill>
                        </a:rPr>
                        <a:t>Pilot (1 Oct)</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indent="0" marL="0">
                        <a:buNone/>
                      </a:pPr>
                      <a:r>
                        <a:rPr lang="en-US" sz="1400" dirty="0">
                          <a:solidFill>
                            <a:srgbClr val="1B1F1D"/>
                          </a:solidFill>
                        </a:rPr>
                        <a:t>3rd-year software students, Madrid</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algn="ctr" indent="0" marL="0">
                        <a:buNone/>
                      </a:pPr>
                      <a:r>
                        <a:rPr lang="en-US" sz="1400" b="1" dirty="0">
                          <a:solidFill>
                            <a:srgbClr val="1B1F1D"/>
                          </a:solidFill>
                        </a:rPr>
                        <a:t>11</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indent="0" marL="0">
                        <a:buNone/>
                      </a:pPr>
                      <a:r>
                        <a:rPr lang="en-US" sz="1400" dirty="0">
                          <a:solidFill>
                            <a:srgbClr val="1B1F1D"/>
                          </a:solidFill>
                        </a:rPr>
                        <a:t>Medium</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r>
              <a:tr h="502920">
                <a:tc>
                  <a:txBody>
                    <a:bodyPr/>
                    <a:lstStyle/>
                    <a:p>
                      <a:pPr indent="0" marL="0">
                        <a:buNone/>
                      </a:pPr>
                      <a:r>
                        <a:rPr lang="en-US" sz="1400" b="1" dirty="0">
                          <a:solidFill>
                            <a:srgbClr val="1B1F1D"/>
                          </a:solidFill>
                        </a:rPr>
                        <a:t>V2 interviews</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indent="0" marL="0">
                        <a:buNone/>
                      </a:pPr>
                      <a:r>
                        <a:rPr lang="en-US" sz="1400" dirty="0">
                          <a:solidFill>
                            <a:srgbClr val="1B1F1D"/>
                          </a:solidFill>
                        </a:rPr>
                        <a:t>1 IE CSAI student, 1 tech recruiter, 1 company engineer</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F1D"/>
                          </a:solidFill>
                        </a:rPr>
                        <a:t>3</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indent="0" marL="0">
                        <a:buNone/>
                      </a:pPr>
                      <a:r>
                        <a:rPr lang="en-US" sz="1400" dirty="0">
                          <a:solidFill>
                            <a:srgbClr val="1B1F1D"/>
                          </a:solidFill>
                        </a:rPr>
                        <a:t>Medium</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1F1D"/>
                          </a:solidFill>
                        </a:rPr>
                        <a:t>One-on-ones</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indent="0" marL="0">
                        <a:buNone/>
                      </a:pPr>
                      <a:r>
                        <a:rPr lang="en-US" sz="1400" dirty="0">
                          <a:solidFill>
                            <a:srgbClr val="1B1F1D"/>
                          </a:solidFill>
                        </a:rPr>
                        <a:t>1 graduate (outside target), 1 IE student, 1 recruiter</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algn="ctr" indent="0" marL="0">
                        <a:buNone/>
                      </a:pPr>
                      <a:r>
                        <a:rPr lang="en-US" sz="1400" b="1" dirty="0">
                          <a:solidFill>
                            <a:srgbClr val="1B1F1D"/>
                          </a:solidFill>
                        </a:rPr>
                        <a:t>3</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c>
                  <a:txBody>
                    <a:bodyPr/>
                    <a:lstStyle/>
                    <a:p>
                      <a:pPr indent="0" marL="0">
                        <a:buNone/>
                      </a:pPr>
                      <a:r>
                        <a:rPr lang="en-US" sz="1400" dirty="0">
                          <a:solidFill>
                            <a:srgbClr val="1B1F1D"/>
                          </a:solidFill>
                        </a:rPr>
                        <a:t>Low–medium</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EDF4F0"/>
                    </a:solidFill>
                  </a:tcPr>
                </a:tc>
              </a:tr>
              <a:tr h="502920">
                <a:tc>
                  <a:txBody>
                    <a:bodyPr/>
                    <a:lstStyle/>
                    <a:p>
                      <a:pPr indent="0" marL="0">
                        <a:buNone/>
                      </a:pPr>
                      <a:r>
                        <a:rPr lang="en-US" sz="1400" b="1" dirty="0">
                          <a:solidFill>
                            <a:srgbClr val="1B1F1D"/>
                          </a:solidFill>
                        </a:rPr>
                        <a:t>Company interview</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indent="0" marL="0">
                        <a:buNone/>
                      </a:pPr>
                      <a:r>
                        <a:rPr lang="en-US" sz="1400" dirty="0">
                          <a:solidFill>
                            <a:srgbClr val="1B1F1D"/>
                          </a:solidFill>
                        </a:rPr>
                        <a:t>1 fintech recruiter, Deem Finance (DF-R01)</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F1D"/>
                          </a:solidFill>
                        </a:rPr>
                        <a:t>1</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c>
                  <a:txBody>
                    <a:bodyPr/>
                    <a:lstStyle/>
                    <a:p>
                      <a:pPr indent="0" marL="0">
                        <a:buNone/>
                      </a:pPr>
                      <a:r>
                        <a:rPr lang="en-US" sz="1400" dirty="0">
                          <a:solidFill>
                            <a:srgbClr val="1B1F1D"/>
                          </a:solidFill>
                        </a:rPr>
                        <a:t>Low–medium</a:t>
                      </a:r>
                      <a:endParaRPr lang="en-US" sz="1400" dirty="0"/>
                    </a:p>
                  </a:txBody>
                  <a:tcPr marL="91440" marR="91440" marT="45720" marB="45720" anchor="ctr">
                    <a:lnL w="6350" cap="flat" cmpd="sng" algn="ctr">
                      <a:solidFill>
                        <a:srgbClr val="D5DFDA"/>
                      </a:solidFill>
                      <a:prstDash val="solid"/>
                      <a:round/>
                      <a:headEnd type="none" w="med" len="med"/>
                      <a:tailEnd type="none" w="med" len="med"/>
                    </a:lnL>
                    <a:lnR w="6350" cap="flat" cmpd="sng" algn="ctr">
                      <a:solidFill>
                        <a:srgbClr val="D5DFDA"/>
                      </a:solidFill>
                      <a:prstDash val="solid"/>
                      <a:round/>
                      <a:headEnd type="none" w="med" len="med"/>
                      <a:tailEnd type="none" w="med" len="med"/>
                    </a:lnR>
                    <a:lnT w="6350" cap="flat" cmpd="sng" algn="ctr">
                      <a:solidFill>
                        <a:srgbClr val="D5DFDA"/>
                      </a:solidFill>
                      <a:prstDash val="solid"/>
                      <a:round/>
                      <a:headEnd type="none" w="med" len="med"/>
                      <a:tailEnd type="none" w="med" len="med"/>
                    </a:lnT>
                    <a:lnB w="6350" cap="flat" cmpd="sng" algn="ctr">
                      <a:solidFill>
                        <a:srgbClr val="D5DFDA"/>
                      </a:solidFill>
                      <a:prstDash val="solid"/>
                      <a:round/>
                      <a:headEnd type="none" w="med" len="med"/>
                      <a:tailEnd type="none" w="med" len="med"/>
                    </a:lnB>
                    <a:solidFill>
                      <a:srgbClr val="FFFFFF"/>
                    </a:solidFill>
                  </a:tcPr>
                </a:tc>
              </a:tr>
            </a:tbl>
          </a:graphicData>
        </a:graphic>
      </p:graphicFrame>
      <p:sp>
        <p:nvSpPr>
          <p:cNvPr id="5" name="card-364"/>
          <p:cNvSpPr/>
          <p:nvPr/>
        </p:nvSpPr>
        <p:spPr>
          <a:xfrm>
            <a:off x="8503920" y="1417320"/>
            <a:ext cx="3108960" cy="4434840"/>
          </a:xfrm>
          <a:prstGeom prst="roundRect">
            <a:avLst>
              <a:gd name="adj" fmla="val 2353"/>
            </a:avLst>
          </a:prstGeom>
          <a:solidFill>
            <a:schemeClr val="tx2"/>
          </a:solidFill>
          <a:ln w="12700">
            <a:solidFill>
              <a:schemeClr val="tx2"/>
            </a:solidFill>
            <a:prstDash val="solid"/>
          </a:ln>
        </p:spPr>
      </p:sp>
      <p:sp>
        <p:nvSpPr>
          <p:cNvPr id="6" name="text-365"/>
          <p:cNvSpPr txBox="1"/>
          <p:nvPr/>
        </p:nvSpPr>
        <p:spPr>
          <a:xfrm>
            <a:off x="8732520" y="1645920"/>
            <a:ext cx="2743200" cy="365760"/>
          </a:xfrm>
          <a:prstGeom prst="rect">
            <a:avLst/>
          </a:prstGeom>
          <a:noFill/>
          <a:ln/>
        </p:spPr>
        <p:txBody>
          <a:bodyPr wrap="square" lIns="0" tIns="0" rIns="0" bIns="0" rtlCol="0" anchor="t"/>
          <a:lstStyle/>
          <a:p>
            <a:pPr indent="0" marL="0">
              <a:buNone/>
            </a:pPr>
            <a:r>
              <a:rPr lang="en-US" sz="1700" b="1" dirty="0">
                <a:solidFill>
                  <a:schemeClr val="accent2"/>
                </a:solidFill>
              </a:rPr>
              <a:t>Honest limits</a:t>
            </a:r>
            <a:endParaRPr lang="en-US" sz="1700" dirty="0"/>
          </a:p>
        </p:txBody>
      </p:sp>
      <p:sp>
        <p:nvSpPr>
          <p:cNvPr id="7" name="text-366"/>
          <p:cNvSpPr txBox="1"/>
          <p:nvPr/>
        </p:nvSpPr>
        <p:spPr>
          <a:xfrm>
            <a:off x="8732520" y="2103120"/>
            <a:ext cx="269748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All stated, none observed</a:t>
            </a:r>
            <a:endParaRPr lang="en-US" sz="1400" dirty="0"/>
          </a:p>
          <a:p>
            <a:pPr marL="342900" indent="-342900">
              <a:spcAft>
                <a:spcPts val="800"/>
              </a:spcAft>
              <a:buSzPct val="100000"/>
              <a:buChar char="•"/>
            </a:pPr>
            <a:r>
              <a:rPr lang="en-US" sz="1400" dirty="0">
                <a:solidFill>
                  <a:schemeClr val="bg1"/>
                </a:solidFill>
              </a:rPr>
              <a:t>Samples never added: participants may overlap</a:t>
            </a:r>
            <a:endParaRPr lang="en-US" sz="1400" dirty="0"/>
          </a:p>
          <a:p>
            <a:pPr marL="342900" indent="-342900">
              <a:spcAft>
                <a:spcPts val="800"/>
              </a:spcAft>
              <a:buSzPct val="100000"/>
              <a:buChar char="•"/>
            </a:pPr>
            <a:r>
              <a:rPr lang="en-US" sz="1400" dirty="0">
                <a:solidFill>
                  <a:schemeClr val="bg1"/>
                </a:solidFill>
              </a:rPr>
              <a:t>Some interviews undated; past samples unscreened</a:t>
            </a:r>
            <a:endParaRPr lang="en-US" sz="1400" dirty="0"/>
          </a:p>
          <a:p>
            <a:pPr marL="342900" indent="-342900">
              <a:spcAft>
                <a:spcPts val="800"/>
              </a:spcAft>
              <a:buSzPct val="100000"/>
              <a:buChar char="•"/>
            </a:pPr>
            <a:r>
              <a:rPr lang="en-US" sz="1400" dirty="0">
                <a:solidFill>
                  <a:schemeClr val="bg1"/>
                </a:solidFill>
              </a:rPr>
              <a:t>Pilot recruits screened students and recruiters</a:t>
            </a:r>
            <a:endParaRPr lang="en-US" sz="1400" dirty="0"/>
          </a:p>
        </p:txBody>
      </p:sp>
      <p:sp>
        <p:nvSpPr>
          <p:cNvPr id="8" name="text-367"/>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validation/claims-changed.md; recruitment.md (participant fit)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Students: "It has to be possible to fail it"</a:t>
            </a:r>
            <a:endParaRPr lang="en-US" sz="3200" dirty="0"/>
          </a:p>
        </p:txBody>
      </p:sp>
      <p:sp>
        <p:nvSpPr>
          <p:cNvPr id="4" name="card-368"/>
          <p:cNvSpPr/>
          <p:nvPr/>
        </p:nvSpPr>
        <p:spPr>
          <a:xfrm>
            <a:off x="548640" y="1417320"/>
            <a:ext cx="7863840" cy="1280160"/>
          </a:xfrm>
          <a:prstGeom prst="roundRect">
            <a:avLst>
              <a:gd name="adj" fmla="val 5714"/>
            </a:avLst>
          </a:prstGeom>
          <a:solidFill>
            <a:schemeClr val="bg2"/>
          </a:solidFill>
          <a:ln w="12700">
            <a:solidFill>
              <a:schemeClr val="bg2"/>
            </a:solidFill>
            <a:prstDash val="solid"/>
          </a:ln>
        </p:spPr>
      </p:sp>
      <p:sp>
        <p:nvSpPr>
          <p:cNvPr id="5" name="text-369"/>
          <p:cNvSpPr txBox="1"/>
          <p:nvPr/>
        </p:nvSpPr>
        <p:spPr>
          <a:xfrm>
            <a:off x="822960" y="1527048"/>
            <a:ext cx="7315200" cy="320040"/>
          </a:xfrm>
          <a:prstGeom prst="rect">
            <a:avLst/>
          </a:prstGeom>
          <a:noFill/>
          <a:ln/>
        </p:spPr>
        <p:txBody>
          <a:bodyPr wrap="square" lIns="0" tIns="0" rIns="0" bIns="0" rtlCol="0" anchor="t"/>
          <a:lstStyle/>
          <a:p>
            <a:pPr indent="0" marL="0">
              <a:buNone/>
            </a:pPr>
            <a:r>
              <a:rPr lang="en-US" sz="1400" b="1" dirty="0">
                <a:solidFill>
                  <a:schemeClr val="accent1"/>
                </a:solidFill>
              </a:rPr>
              <a:t>Would pay, on conditions</a:t>
            </a:r>
            <a:endParaRPr lang="en-US" sz="1400" dirty="0"/>
          </a:p>
        </p:txBody>
      </p:sp>
      <p:sp>
        <p:nvSpPr>
          <p:cNvPr id="6" name="text-370"/>
          <p:cNvSpPr txBox="1"/>
          <p:nvPr/>
        </p:nvSpPr>
        <p:spPr>
          <a:xfrm>
            <a:off x="822960" y="1828800"/>
            <a:ext cx="7406640" cy="82296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"Fifteen euros is two coffees. If I'd already done the work and the feedback was real — an actual engineer wrote it, not generated — I'd pay that."</a:t>
            </a:r>
            <a:endParaRPr lang="en-US" sz="1500" dirty="0"/>
          </a:p>
        </p:txBody>
      </p:sp>
      <p:sp>
        <p:nvSpPr>
          <p:cNvPr id="7" name="card-371"/>
          <p:cNvSpPr/>
          <p:nvPr/>
        </p:nvSpPr>
        <p:spPr>
          <a:xfrm>
            <a:off x="548640" y="2880360"/>
            <a:ext cx="7863840" cy="1280160"/>
          </a:xfrm>
          <a:prstGeom prst="roundRect">
            <a:avLst>
              <a:gd name="adj" fmla="val 5714"/>
            </a:avLst>
          </a:prstGeom>
          <a:solidFill>
            <a:schemeClr val="bg2"/>
          </a:solidFill>
          <a:ln w="12700">
            <a:solidFill>
              <a:schemeClr val="bg2"/>
            </a:solidFill>
            <a:prstDash val="solid"/>
          </a:ln>
        </p:spPr>
      </p:sp>
      <p:sp>
        <p:nvSpPr>
          <p:cNvPr id="8" name="text-372"/>
          <p:cNvSpPr txBox="1"/>
          <p:nvPr/>
        </p:nvSpPr>
        <p:spPr>
          <a:xfrm>
            <a:off x="822960" y="2990088"/>
            <a:ext cx="7315200" cy="320040"/>
          </a:xfrm>
          <a:prstGeom prst="rect">
            <a:avLst/>
          </a:prstGeom>
          <a:noFill/>
          <a:ln/>
        </p:spPr>
        <p:txBody>
          <a:bodyPr wrap="square" lIns="0" tIns="0" rIns="0" bIns="0" rtlCol="0" anchor="t"/>
          <a:lstStyle/>
          <a:p>
            <a:pPr indent="0" marL="0">
              <a:buNone/>
            </a:pPr>
            <a:r>
              <a:rPr lang="en-US" sz="1400" b="1" dirty="0">
                <a:solidFill>
                  <a:schemeClr val="accent1"/>
                </a:solidFill>
              </a:rPr>
              <a:t>Fear of a public bad score</a:t>
            </a:r>
            <a:endParaRPr lang="en-US" sz="1400" dirty="0"/>
          </a:p>
        </p:txBody>
      </p:sp>
      <p:sp>
        <p:nvSpPr>
          <p:cNvPr id="9" name="text-373"/>
          <p:cNvSpPr txBox="1"/>
          <p:nvPr/>
        </p:nvSpPr>
        <p:spPr>
          <a:xfrm>
            <a:off x="822960" y="3291840"/>
            <a:ext cx="7406640" cy="82296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"If a bad score is attached to my name somewhere public, that's worse for me than not doing it at all."</a:t>
            </a:r>
            <a:endParaRPr lang="en-US" sz="1500" dirty="0"/>
          </a:p>
        </p:txBody>
      </p:sp>
      <p:sp>
        <p:nvSpPr>
          <p:cNvPr id="10" name="card-374"/>
          <p:cNvSpPr/>
          <p:nvPr/>
        </p:nvSpPr>
        <p:spPr>
          <a:xfrm>
            <a:off x="548640" y="4343400"/>
            <a:ext cx="7863840" cy="1280160"/>
          </a:xfrm>
          <a:prstGeom prst="roundRect">
            <a:avLst>
              <a:gd name="adj" fmla="val 5714"/>
            </a:avLst>
          </a:prstGeom>
          <a:solidFill>
            <a:schemeClr val="bg2"/>
          </a:solidFill>
          <a:ln w="12700">
            <a:solidFill>
              <a:schemeClr val="bg2"/>
            </a:solidFill>
            <a:prstDash val="solid"/>
          </a:ln>
        </p:spPr>
      </p:sp>
      <p:sp>
        <p:nvSpPr>
          <p:cNvPr id="11" name="text-375"/>
          <p:cNvSpPr txBox="1"/>
          <p:nvPr/>
        </p:nvSpPr>
        <p:spPr>
          <a:xfrm>
            <a:off x="822960" y="4453128"/>
            <a:ext cx="7315200" cy="320040"/>
          </a:xfrm>
          <a:prstGeom prst="rect">
            <a:avLst/>
          </a:prstGeom>
          <a:noFill/>
          <a:ln/>
        </p:spPr>
        <p:txBody>
          <a:bodyPr wrap="square" lIns="0" tIns="0" rIns="0" bIns="0" rtlCol="0" anchor="t"/>
          <a:lstStyle/>
          <a:p>
            <a:pPr indent="0" marL="0">
              <a:buNone/>
            </a:pPr>
            <a:r>
              <a:rPr lang="en-US" sz="1400" b="1" dirty="0">
                <a:solidFill>
                  <a:schemeClr val="accent1"/>
                </a:solidFill>
              </a:rPr>
              <a:t>Scarcity protects value</a:t>
            </a:r>
            <a:endParaRPr lang="en-US" sz="1400" dirty="0"/>
          </a:p>
        </p:txBody>
      </p:sp>
      <p:sp>
        <p:nvSpPr>
          <p:cNvPr id="12" name="text-376"/>
          <p:cNvSpPr txBox="1"/>
          <p:nvPr/>
        </p:nvSpPr>
        <p:spPr>
          <a:xfrm>
            <a:off x="822960" y="4754880"/>
            <a:ext cx="7406640" cy="82296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"The second it's on fifty profiles it's noise… if the money is what gets you the certificate rather than the work, then it's worthless."</a:t>
            </a:r>
            <a:endParaRPr lang="en-US" sz="1500" dirty="0"/>
          </a:p>
        </p:txBody>
      </p:sp>
      <p:sp>
        <p:nvSpPr>
          <p:cNvPr id="13" name="card-377"/>
          <p:cNvSpPr/>
          <p:nvPr/>
        </p:nvSpPr>
        <p:spPr>
          <a:xfrm>
            <a:off x="8686800" y="1417320"/>
            <a:ext cx="2926080" cy="4206240"/>
          </a:xfrm>
          <a:prstGeom prst="roundRect">
            <a:avLst>
              <a:gd name="adj" fmla="val 2500"/>
            </a:avLst>
          </a:prstGeom>
          <a:solidFill>
            <a:schemeClr val="tx2"/>
          </a:solidFill>
          <a:ln w="12700">
            <a:solidFill>
              <a:schemeClr val="tx2"/>
            </a:solidFill>
            <a:prstDash val="solid"/>
          </a:ln>
        </p:spPr>
      </p:sp>
      <p:sp>
        <p:nvSpPr>
          <p:cNvPr id="14" name="badge-378"/>
          <p:cNvSpPr/>
          <p:nvPr/>
        </p:nvSpPr>
        <p:spPr>
          <a:xfrm>
            <a:off x="8961120" y="1691640"/>
            <a:ext cx="731520" cy="731520"/>
          </a:xfrm>
          <a:prstGeom prst="ellipse">
            <a:avLst/>
          </a:prstGeom>
          <a:solidFill>
            <a:schemeClr val="accent1"/>
          </a:solidFill>
          <a:ln w="12700">
            <a:solidFill>
              <a:schemeClr val="accent1"/>
            </a:solidFill>
            <a:prstDash val="solid"/>
          </a:ln>
        </p:spPr>
      </p:sp>
      <p:pic>
        <p:nvPicPr>
          <p:cNvPr id="15" name="icon-379" descr="preencoded.png">    </p:cNvPr>
          <p:cNvPicPr>
            <a:picLocks noChangeAspect="1"/>
          </p:cNvPicPr>
          <p:nvPr/>
        </p:nvPicPr>
        <p:blipFill>
          <a:blip r:embed="rId1"/>
          <a:stretch>
            <a:fillRect/>
          </a:stretch>
        </p:blipFill>
        <p:spPr>
          <a:xfrm>
            <a:off x="9136685" y="1867205"/>
            <a:ext cx="380390" cy="380390"/>
          </a:xfrm>
          <a:prstGeom prst="rect">
            <a:avLst/>
          </a:prstGeom>
        </p:spPr>
      </p:pic>
      <p:sp>
        <p:nvSpPr>
          <p:cNvPr id="16" name="text-380"/>
          <p:cNvSpPr txBox="1"/>
          <p:nvPr/>
        </p:nvSpPr>
        <p:spPr>
          <a:xfrm>
            <a:off x="8961120" y="2606040"/>
            <a:ext cx="2468880" cy="365760"/>
          </a:xfrm>
          <a:prstGeom prst="rect">
            <a:avLst/>
          </a:prstGeom>
          <a:noFill/>
          <a:ln/>
        </p:spPr>
        <p:txBody>
          <a:bodyPr wrap="square" lIns="0" tIns="0" rIns="0" bIns="0" rtlCol="0" anchor="t"/>
          <a:lstStyle/>
          <a:p>
            <a:pPr indent="0" marL="0">
              <a:buNone/>
            </a:pPr>
            <a:r>
              <a:rPr lang="en-US" sz="1600" b="1" dirty="0">
                <a:solidFill>
                  <a:schemeClr val="accent2"/>
                </a:solidFill>
              </a:rPr>
              <a:t>Also heard</a:t>
            </a:r>
            <a:endParaRPr lang="en-US" sz="1600" dirty="0"/>
          </a:p>
        </p:txBody>
      </p:sp>
      <p:sp>
        <p:nvSpPr>
          <p:cNvPr id="17" name="text-381"/>
          <p:cNvSpPr txBox="1"/>
          <p:nvPr/>
        </p:nvSpPr>
        <p:spPr>
          <a:xfrm>
            <a:off x="8961120" y="3017520"/>
            <a:ext cx="2468880" cy="2514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Forage: "it felt fake. Nobody checked anything I did"</a:t>
            </a:r>
            <a:endParaRPr lang="en-US" sz="1300" dirty="0"/>
          </a:p>
          <a:p>
            <a:pPr marL="342900" indent="-342900">
              <a:spcAft>
                <a:spcPts val="800"/>
              </a:spcAft>
              <a:buSzPct val="100000"/>
              <a:buChar char="•"/>
            </a:pPr>
            <a:r>
              <a:rPr lang="en-US" sz="1300" dirty="0">
                <a:solidFill>
                  <a:schemeClr val="bg1"/>
                </a:solidFill>
              </a:rPr>
              <a:t>4 hours clashes with deadlines</a:t>
            </a:r>
            <a:endParaRPr lang="en-US" sz="1300" dirty="0"/>
          </a:p>
          <a:p>
            <a:pPr marL="342900" indent="-342900">
              <a:spcAft>
                <a:spcPts val="800"/>
              </a:spcAft>
              <a:buSzPct val="100000"/>
              <a:buChar char="•"/>
            </a:pPr>
            <a:r>
              <a:rPr lang="en-US" sz="1300" dirty="0">
                <a:solidFill>
                  <a:schemeClr val="bg1"/>
                </a:solidFill>
              </a:rPr>
              <a:t>One-on-ones: 3–5 and 4–6 h a week</a:t>
            </a:r>
            <a:endParaRPr lang="en-US" sz="1300" dirty="0"/>
          </a:p>
        </p:txBody>
      </p:sp>
      <p:sp>
        <p:nvSpPr>
          <p:cNvPr id="18" name="text-382"/>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V2-S01 (5 Oct), v2-interviews-2026-10-12.md; OO-S02, one-on-one-interviews-2026-10-12.md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Recruiters: trust the evidence, ignore a bare number</a:t>
            </a:r>
            <a:endParaRPr lang="en-US" sz="3200" dirty="0"/>
          </a:p>
        </p:txBody>
      </p:sp>
      <p:sp>
        <p:nvSpPr>
          <p:cNvPr id="4" name="card-383"/>
          <p:cNvSpPr/>
          <p:nvPr/>
        </p:nvSpPr>
        <p:spPr>
          <a:xfrm>
            <a:off x="548640" y="1417320"/>
            <a:ext cx="3520440" cy="3246120"/>
          </a:xfrm>
          <a:prstGeom prst="roundRect">
            <a:avLst>
              <a:gd name="adj" fmla="val 2254"/>
            </a:avLst>
          </a:prstGeom>
          <a:solidFill>
            <a:schemeClr val="bg2"/>
          </a:solidFill>
          <a:ln w="12700">
            <a:solidFill>
              <a:schemeClr val="bg2"/>
            </a:solidFill>
            <a:prstDash val="solid"/>
          </a:ln>
        </p:spPr>
      </p:sp>
      <p:sp>
        <p:nvSpPr>
          <p:cNvPr id="5" name="badge-384"/>
          <p:cNvSpPr/>
          <p:nvPr/>
        </p:nvSpPr>
        <p:spPr>
          <a:xfrm>
            <a:off x="822960" y="1645920"/>
            <a:ext cx="685800" cy="685800"/>
          </a:xfrm>
          <a:prstGeom prst="ellipse">
            <a:avLst/>
          </a:prstGeom>
          <a:solidFill>
            <a:schemeClr val="tx2"/>
          </a:solidFill>
          <a:ln w="12700">
            <a:solidFill>
              <a:schemeClr val="tx2"/>
            </a:solidFill>
            <a:prstDash val="solid"/>
          </a:ln>
        </p:spPr>
      </p:sp>
      <p:pic>
        <p:nvPicPr>
          <p:cNvPr id="6" name="icon-385"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7" name="text-386"/>
          <p:cNvSpPr txBox="1"/>
          <p:nvPr/>
        </p:nvSpPr>
        <p:spPr>
          <a:xfrm>
            <a:off x="1645920" y="1645920"/>
            <a:ext cx="2194560" cy="365760"/>
          </a:xfrm>
          <a:prstGeom prst="rect">
            <a:avLst/>
          </a:prstGeom>
          <a:noFill/>
          <a:ln/>
        </p:spPr>
        <p:txBody>
          <a:bodyPr wrap="square" lIns="0" tIns="0" rIns="0" bIns="0" rtlCol="0" anchor="t"/>
          <a:lstStyle/>
          <a:p>
            <a:pPr indent="0" marL="0">
              <a:buNone/>
            </a:pPr>
            <a:r>
              <a:rPr lang="en-US" sz="1700" b="1" dirty="0">
                <a:solidFill>
                  <a:schemeClr val="tx2"/>
                </a:solidFill>
              </a:rPr>
              <a:t>V2-R01</a:t>
            </a:r>
            <a:endParaRPr lang="en-US" sz="1700" dirty="0"/>
          </a:p>
        </p:txBody>
      </p:sp>
      <p:sp>
        <p:nvSpPr>
          <p:cNvPr id="8" name="text-387"/>
          <p:cNvSpPr txBox="1"/>
          <p:nvPr/>
        </p:nvSpPr>
        <p:spPr>
          <a:xfrm>
            <a:off x="1645920" y="1993392"/>
            <a:ext cx="2286000" cy="320040"/>
          </a:xfrm>
          <a:prstGeom prst="rect">
            <a:avLst/>
          </a:prstGeom>
          <a:noFill/>
          <a:ln/>
        </p:spPr>
        <p:txBody>
          <a:bodyPr wrap="square" lIns="0" tIns="0" rIns="0" bIns="0" rtlCol="0" anchor="t"/>
          <a:lstStyle/>
          <a:p>
            <a:pPr indent="0" marL="0">
              <a:buNone/>
            </a:pPr>
            <a:r>
              <a:rPr lang="en-US" sz="1200" dirty="0">
                <a:solidFill>
                  <a:schemeClr val="accent3"/>
                </a:solidFill>
              </a:rPr>
              <a:t>Tech recruiter, 6 Oct</a:t>
            </a:r>
            <a:endParaRPr lang="en-US" sz="1200" dirty="0"/>
          </a:p>
        </p:txBody>
      </p:sp>
      <p:sp>
        <p:nvSpPr>
          <p:cNvPr id="9" name="text-388"/>
          <p:cNvSpPr txBox="1"/>
          <p:nvPr/>
        </p:nvSpPr>
        <p:spPr>
          <a:xfrm>
            <a:off x="822960" y="2514600"/>
            <a:ext cx="3017520" cy="205740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"82 out of 100 means nothing to me on its own… If it's the hiring company's rubric and their engineer signed it, that's the part with weight."</a:t>
            </a:r>
            <a:endParaRPr lang="en-US" sz="1400" dirty="0"/>
          </a:p>
        </p:txBody>
      </p:sp>
      <p:sp>
        <p:nvSpPr>
          <p:cNvPr id="10" name="card-389"/>
          <p:cNvSpPr/>
          <p:nvPr/>
        </p:nvSpPr>
        <p:spPr>
          <a:xfrm>
            <a:off x="4297680" y="1417320"/>
            <a:ext cx="3520440" cy="3246120"/>
          </a:xfrm>
          <a:prstGeom prst="roundRect">
            <a:avLst>
              <a:gd name="adj" fmla="val 2254"/>
            </a:avLst>
          </a:prstGeom>
          <a:solidFill>
            <a:schemeClr val="bg2"/>
          </a:solidFill>
          <a:ln w="12700">
            <a:solidFill>
              <a:schemeClr val="bg2"/>
            </a:solidFill>
            <a:prstDash val="solid"/>
          </a:ln>
        </p:spPr>
      </p:sp>
      <p:sp>
        <p:nvSpPr>
          <p:cNvPr id="11" name="badge-390"/>
          <p:cNvSpPr/>
          <p:nvPr/>
        </p:nvSpPr>
        <p:spPr>
          <a:xfrm>
            <a:off x="4572000" y="1645920"/>
            <a:ext cx="685800" cy="685800"/>
          </a:xfrm>
          <a:prstGeom prst="ellipse">
            <a:avLst/>
          </a:prstGeom>
          <a:solidFill>
            <a:schemeClr val="tx2"/>
          </a:solidFill>
          <a:ln w="12700">
            <a:solidFill>
              <a:schemeClr val="tx2"/>
            </a:solidFill>
            <a:prstDash val="solid"/>
          </a:ln>
        </p:spPr>
      </p:sp>
      <p:pic>
        <p:nvPicPr>
          <p:cNvPr id="12" name="icon-391" descr="preencoded.png">    </p:cNvPr>
          <p:cNvPicPr>
            <a:picLocks noChangeAspect="1"/>
          </p:cNvPicPr>
          <p:nvPr/>
        </p:nvPicPr>
        <p:blipFill>
          <a:blip r:embed="rId2"/>
          <a:stretch>
            <a:fillRect/>
          </a:stretch>
        </p:blipFill>
        <p:spPr>
          <a:xfrm>
            <a:off x="4736592" y="1810512"/>
            <a:ext cx="356616" cy="356616"/>
          </a:xfrm>
          <a:prstGeom prst="rect">
            <a:avLst/>
          </a:prstGeom>
        </p:spPr>
      </p:pic>
      <p:sp>
        <p:nvSpPr>
          <p:cNvPr id="13" name="text-392"/>
          <p:cNvSpPr txBox="1"/>
          <p:nvPr/>
        </p:nvSpPr>
        <p:spPr>
          <a:xfrm>
            <a:off x="5394960" y="1645920"/>
            <a:ext cx="2194560" cy="365760"/>
          </a:xfrm>
          <a:prstGeom prst="rect">
            <a:avLst/>
          </a:prstGeom>
          <a:noFill/>
          <a:ln/>
        </p:spPr>
        <p:txBody>
          <a:bodyPr wrap="square" lIns="0" tIns="0" rIns="0" bIns="0" rtlCol="0" anchor="t"/>
          <a:lstStyle/>
          <a:p>
            <a:pPr indent="0" marL="0">
              <a:buNone/>
            </a:pPr>
            <a:r>
              <a:rPr lang="en-US" sz="1700" b="1" dirty="0">
                <a:solidFill>
                  <a:schemeClr val="tx2"/>
                </a:solidFill>
              </a:rPr>
              <a:t>OO-R01</a:t>
            </a:r>
            <a:endParaRPr lang="en-US" sz="1700" dirty="0"/>
          </a:p>
        </p:txBody>
      </p:sp>
      <p:sp>
        <p:nvSpPr>
          <p:cNvPr id="14" name="text-393"/>
          <p:cNvSpPr txBox="1"/>
          <p:nvPr/>
        </p:nvSpPr>
        <p:spPr>
          <a:xfrm>
            <a:off x="5394960" y="1993392"/>
            <a:ext cx="2286000" cy="320040"/>
          </a:xfrm>
          <a:prstGeom prst="rect">
            <a:avLst/>
          </a:prstGeom>
          <a:noFill/>
          <a:ln/>
        </p:spPr>
        <p:txBody>
          <a:bodyPr wrap="square" lIns="0" tIns="0" rIns="0" bIns="0" rtlCol="0" anchor="t"/>
          <a:lstStyle/>
          <a:p>
            <a:pPr indent="0" marL="0">
              <a:buNone/>
            </a:pPr>
            <a:r>
              <a:rPr lang="en-US" sz="1200" dirty="0">
                <a:solidFill>
                  <a:schemeClr val="accent3"/>
                </a:solidFill>
              </a:rPr>
              <a:t>Recruiter, one-on-one</a:t>
            </a:r>
            <a:endParaRPr lang="en-US" sz="1200" dirty="0"/>
          </a:p>
        </p:txBody>
      </p:sp>
      <p:sp>
        <p:nvSpPr>
          <p:cNvPr id="15" name="text-394"/>
          <p:cNvSpPr txBox="1"/>
          <p:nvPr/>
        </p:nvSpPr>
        <p:spPr>
          <a:xfrm>
            <a:off x="4572000" y="2514600"/>
            <a:ext cx="3017520" cy="205740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Needs "a clear scoring rubric, review by the company that set the challenge, the actual work sample, and consistency across candidates."</a:t>
            </a:r>
            <a:endParaRPr lang="en-US" sz="1400" dirty="0"/>
          </a:p>
        </p:txBody>
      </p:sp>
      <p:sp>
        <p:nvSpPr>
          <p:cNvPr id="16" name="card-395"/>
          <p:cNvSpPr/>
          <p:nvPr/>
        </p:nvSpPr>
        <p:spPr>
          <a:xfrm>
            <a:off x="8046720" y="1417320"/>
            <a:ext cx="3520440" cy="3246120"/>
          </a:xfrm>
          <a:prstGeom prst="roundRect">
            <a:avLst>
              <a:gd name="adj" fmla="val 2254"/>
            </a:avLst>
          </a:prstGeom>
          <a:solidFill>
            <a:schemeClr val="bg2"/>
          </a:solidFill>
          <a:ln w="12700">
            <a:solidFill>
              <a:schemeClr val="bg2"/>
            </a:solidFill>
            <a:prstDash val="solid"/>
          </a:ln>
        </p:spPr>
      </p:sp>
      <p:sp>
        <p:nvSpPr>
          <p:cNvPr id="17" name="badge-396"/>
          <p:cNvSpPr/>
          <p:nvPr/>
        </p:nvSpPr>
        <p:spPr>
          <a:xfrm>
            <a:off x="8321040" y="1645920"/>
            <a:ext cx="685800" cy="685800"/>
          </a:xfrm>
          <a:prstGeom prst="ellipse">
            <a:avLst/>
          </a:prstGeom>
          <a:solidFill>
            <a:schemeClr val="tx2"/>
          </a:solidFill>
          <a:ln w="12700">
            <a:solidFill>
              <a:schemeClr val="tx2"/>
            </a:solidFill>
            <a:prstDash val="solid"/>
          </a:ln>
        </p:spPr>
      </p:sp>
      <p:pic>
        <p:nvPicPr>
          <p:cNvPr id="18" name="icon-397" descr="preencoded.png">    </p:cNvPr>
          <p:cNvPicPr>
            <a:picLocks noChangeAspect="1"/>
          </p:cNvPicPr>
          <p:nvPr/>
        </p:nvPicPr>
        <p:blipFill>
          <a:blip r:embed="rId3"/>
          <a:stretch>
            <a:fillRect/>
          </a:stretch>
        </p:blipFill>
        <p:spPr>
          <a:xfrm>
            <a:off x="8485632" y="1810512"/>
            <a:ext cx="356616" cy="356616"/>
          </a:xfrm>
          <a:prstGeom prst="rect">
            <a:avLst/>
          </a:prstGeom>
        </p:spPr>
      </p:pic>
      <p:sp>
        <p:nvSpPr>
          <p:cNvPr id="19" name="text-398"/>
          <p:cNvSpPr txBox="1"/>
          <p:nvPr/>
        </p:nvSpPr>
        <p:spPr>
          <a:xfrm>
            <a:off x="9144000" y="1645920"/>
            <a:ext cx="2194560" cy="365760"/>
          </a:xfrm>
          <a:prstGeom prst="rect">
            <a:avLst/>
          </a:prstGeom>
          <a:noFill/>
          <a:ln/>
        </p:spPr>
        <p:txBody>
          <a:bodyPr wrap="square" lIns="0" tIns="0" rIns="0" bIns="0" rtlCol="0" anchor="t"/>
          <a:lstStyle/>
          <a:p>
            <a:pPr indent="0" marL="0">
              <a:buNone/>
            </a:pPr>
            <a:r>
              <a:rPr lang="en-US" sz="1700" b="1" dirty="0">
                <a:solidFill>
                  <a:schemeClr val="tx2"/>
                </a:solidFill>
              </a:rPr>
              <a:t>DF-R01</a:t>
            </a:r>
            <a:endParaRPr lang="en-US" sz="1700" dirty="0"/>
          </a:p>
        </p:txBody>
      </p:sp>
      <p:sp>
        <p:nvSpPr>
          <p:cNvPr id="20" name="text-399"/>
          <p:cNvSpPr txBox="1"/>
          <p:nvPr/>
        </p:nvSpPr>
        <p:spPr>
          <a:xfrm>
            <a:off x="9144000" y="1993392"/>
            <a:ext cx="2286000" cy="320040"/>
          </a:xfrm>
          <a:prstGeom prst="rect">
            <a:avLst/>
          </a:prstGeom>
          <a:noFill/>
          <a:ln/>
        </p:spPr>
        <p:txBody>
          <a:bodyPr wrap="square" lIns="0" tIns="0" rIns="0" bIns="0" rtlCol="0" anchor="t"/>
          <a:lstStyle/>
          <a:p>
            <a:pPr indent="0" marL="0">
              <a:buNone/>
            </a:pPr>
            <a:r>
              <a:rPr lang="en-US" sz="1200" dirty="0">
                <a:solidFill>
                  <a:schemeClr val="accent3"/>
                </a:solidFill>
              </a:rPr>
              <a:t>Fintech recruiter, Deem Finance</a:t>
            </a:r>
            <a:endParaRPr lang="en-US" sz="1200" dirty="0"/>
          </a:p>
        </p:txBody>
      </p:sp>
      <p:sp>
        <p:nvSpPr>
          <p:cNvPr id="21" name="text-400"/>
          <p:cNvSpPr txBox="1"/>
          <p:nvPr/>
        </p:nvSpPr>
        <p:spPr>
          <a:xfrm>
            <a:off x="8321040" y="2514600"/>
            <a:ext cx="3017520" cy="205740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Picked the certified profile. Wants their own rubric, an engineer's note, the code and the rank: "a bare number would be ignored".</a:t>
            </a:r>
            <a:endParaRPr lang="en-US" sz="1400" dirty="0"/>
          </a:p>
        </p:txBody>
      </p:sp>
      <p:sp>
        <p:nvSpPr>
          <p:cNvPr id="22" name="card-401"/>
          <p:cNvSpPr/>
          <p:nvPr/>
        </p:nvSpPr>
        <p:spPr>
          <a:xfrm>
            <a:off x="548640" y="4892040"/>
            <a:ext cx="11064240" cy="960120"/>
          </a:xfrm>
          <a:prstGeom prst="roundRect">
            <a:avLst>
              <a:gd name="adj" fmla="val 7619"/>
            </a:avLst>
          </a:prstGeom>
          <a:solidFill>
            <a:schemeClr val="accent5"/>
          </a:solidFill>
          <a:ln w="12700">
            <a:solidFill>
              <a:schemeClr val="accent5"/>
            </a:solidFill>
            <a:prstDash val="solid"/>
          </a:ln>
        </p:spPr>
      </p:sp>
      <p:sp>
        <p:nvSpPr>
          <p:cNvPr id="23" name="text-402"/>
          <p:cNvSpPr txBox="1"/>
          <p:nvPr/>
        </p:nvSpPr>
        <p:spPr>
          <a:xfrm>
            <a:off x="822960" y="4892040"/>
            <a:ext cx="10607040" cy="960120"/>
          </a:xfrm>
          <a:prstGeom prst="rect">
            <a:avLst/>
          </a:prstGeom>
          <a:noFill/>
          <a:ln/>
        </p:spPr>
        <p:txBody>
          <a:bodyPr wrap="square" lIns="0" tIns="0" rIns="0" bIns="0" rtlCol="0" anchor="ctr"/>
          <a:lstStyle/>
          <a:p>
            <a:pPr indent="0" marL="0">
              <a:buNone/>
            </a:pPr>
            <a:r>
              <a:rPr lang="en-US" sz="1500" b="1" dirty="0">
                <a:solidFill>
                  <a:schemeClr val="tx2"/>
                </a:solidFill>
              </a:rPr>
              <a:t>Decision: </a:t>
            </a:r>
            <a:pPr indent="0" marL="0">
              <a:buNone/>
            </a:pPr>
            <a:r>
              <a:rPr lang="en-US" sz="1500" dirty="0">
                <a:solidFill>
                  <a:schemeClr val="tx2"/>
                </a:solidFill>
              </a:rPr>
              <a:t>the certified result is an evidence bundle (work, company-named rubric, contribution record, engineer's note), never a bare score. Recruiters also want a live check: 10–15 min (V2-R01, DF-R01).</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Engineer: a real company task is on the table</a:t>
            </a:r>
            <a:endParaRPr lang="en-US" sz="3200" dirty="0"/>
          </a:p>
        </p:txBody>
      </p:sp>
      <p:sp>
        <p:nvSpPr>
          <p:cNvPr id="4" name="card-403"/>
          <p:cNvSpPr/>
          <p:nvPr/>
        </p:nvSpPr>
        <p:spPr>
          <a:xfrm>
            <a:off x="548640" y="1417320"/>
            <a:ext cx="5486400" cy="4434840"/>
          </a:xfrm>
          <a:prstGeom prst="roundRect">
            <a:avLst>
              <a:gd name="adj" fmla="val 1649"/>
            </a:avLst>
          </a:prstGeom>
          <a:solidFill>
            <a:schemeClr val="tx2"/>
          </a:solidFill>
          <a:ln w="12700">
            <a:solidFill>
              <a:schemeClr val="tx2"/>
            </a:solidFill>
            <a:prstDash val="solid"/>
          </a:ln>
        </p:spPr>
      </p:sp>
      <p:sp>
        <p:nvSpPr>
          <p:cNvPr id="5" name="text-404"/>
          <p:cNvSpPr txBox="1"/>
          <p:nvPr/>
        </p:nvSpPr>
        <p:spPr>
          <a:xfrm>
            <a:off x="822960" y="1417320"/>
            <a:ext cx="914400" cy="914400"/>
          </a:xfrm>
          <a:prstGeom prst="rect">
            <a:avLst/>
          </a:prstGeom>
          <a:noFill/>
          <a:ln/>
        </p:spPr>
        <p:txBody>
          <a:bodyPr wrap="square" lIns="0" tIns="0" rIns="0" bIns="0" rtlCol="0" anchor="t"/>
          <a:lstStyle/>
          <a:p>
            <a:pPr indent="0" marL="0">
              <a:buNone/>
            </a:pPr>
            <a:r>
              <a:rPr lang="en-US" sz="7200" b="1" dirty="0">
                <a:solidFill>
                  <a:schemeClr val="accent2"/>
                </a:solidFill>
                <a:latin typeface="Cambria" pitchFamily="34" charset="0"/>
                <a:ea typeface="Cambria" pitchFamily="34" charset="-122"/>
                <a:cs typeface="Cambria" pitchFamily="34" charset="-120"/>
              </a:rPr>
              <a:t>“</a:t>
            </a:r>
            <a:endParaRPr lang="en-US" sz="7200" dirty="0"/>
          </a:p>
        </p:txBody>
      </p:sp>
      <p:sp>
        <p:nvSpPr>
          <p:cNvPr id="6" name="text-405"/>
          <p:cNvSpPr txBox="1"/>
          <p:nvPr/>
        </p:nvSpPr>
        <p:spPr>
          <a:xfrm>
            <a:off x="868680" y="2286000"/>
            <a:ext cx="4846320" cy="2103120"/>
          </a:xfrm>
          <a:prstGeom prst="rect">
            <a:avLst/>
          </a:prstGeom>
          <a:noFill/>
          <a:ln/>
        </p:spPr>
        <p:txBody>
          <a:bodyPr wrap="square" lIns="0" tIns="0" rIns="0" bIns="0" rtlCol="0" anchor="t"/>
          <a:lstStyle/>
          <a:p>
            <a:pPr indent="0" marL="0">
              <a:buNone/>
            </a:pPr>
            <a:r>
              <a:rPr lang="en-US" sz="1900" i="1" dirty="0">
                <a:solidFill>
                  <a:schemeClr val="bg1"/>
                </a:solidFill>
                <a:latin typeface="Cambria" pitchFamily="34" charset="0"/>
                <a:ea typeface="Cambria" pitchFamily="34" charset="-122"/>
                <a:cs typeface="Cambria" pitchFamily="34" charset="-120"/>
              </a:rPr>
              <a:t>We've got a CSV import thing — customers send us messy spreadsheets and someone cleans them by hand every time… it's been in the backlog about a year.</a:t>
            </a:r>
            <a:endParaRPr lang="en-US" sz="1900" dirty="0"/>
          </a:p>
        </p:txBody>
      </p:sp>
      <p:sp>
        <p:nvSpPr>
          <p:cNvPr id="7" name="text-406"/>
          <p:cNvSpPr txBox="1"/>
          <p:nvPr/>
        </p:nvSpPr>
        <p:spPr>
          <a:xfrm>
            <a:off x="868680" y="5120640"/>
            <a:ext cx="4846320" cy="365760"/>
          </a:xfrm>
          <a:prstGeom prst="rect">
            <a:avLst/>
          </a:prstGeom>
          <a:noFill/>
          <a:ln/>
        </p:spPr>
        <p:txBody>
          <a:bodyPr wrap="square" lIns="0" tIns="0" rIns="0" bIns="0" rtlCol="0" anchor="t"/>
          <a:lstStyle/>
          <a:p>
            <a:pPr indent="0" marL="0">
              <a:buNone/>
            </a:pPr>
            <a:r>
              <a:rPr lang="en-US" sz="1300" dirty="0">
                <a:solidFill>
                  <a:schemeClr val="accent5"/>
                </a:solidFill>
              </a:rPr>
              <a:t>V2-E01, company engineer, 10 Oct</a:t>
            </a:r>
            <a:endParaRPr lang="en-US" sz="1300" dirty="0"/>
          </a:p>
        </p:txBody>
      </p:sp>
      <p:sp>
        <p:nvSpPr>
          <p:cNvPr id="8" name="badge-407"/>
          <p:cNvSpPr/>
          <p:nvPr/>
        </p:nvSpPr>
        <p:spPr>
          <a:xfrm>
            <a:off x="6355080" y="1508760"/>
            <a:ext cx="640080" cy="640080"/>
          </a:xfrm>
          <a:prstGeom prst="ellipse">
            <a:avLst/>
          </a:prstGeom>
          <a:solidFill>
            <a:schemeClr val="accent1"/>
          </a:solidFill>
          <a:ln w="12700">
            <a:solidFill>
              <a:schemeClr val="accent1"/>
            </a:solidFill>
            <a:prstDash val="solid"/>
          </a:ln>
        </p:spPr>
      </p:sp>
      <p:pic>
        <p:nvPicPr>
          <p:cNvPr id="9" name="icon-408" descr="preencoded.png">    </p:cNvPr>
          <p:cNvPicPr>
            <a:picLocks noChangeAspect="1"/>
          </p:cNvPicPr>
          <p:nvPr/>
        </p:nvPicPr>
        <p:blipFill>
          <a:blip r:embed="rId1"/>
          <a:stretch>
            <a:fillRect/>
          </a:stretch>
        </p:blipFill>
        <p:spPr>
          <a:xfrm>
            <a:off x="6508699" y="1662379"/>
            <a:ext cx="332842" cy="332842"/>
          </a:xfrm>
          <a:prstGeom prst="rect">
            <a:avLst/>
          </a:prstGeom>
        </p:spPr>
      </p:pic>
      <p:sp>
        <p:nvSpPr>
          <p:cNvPr id="10" name="text-409"/>
          <p:cNvSpPr txBox="1"/>
          <p:nvPr/>
        </p:nvSpPr>
        <p:spPr>
          <a:xfrm>
            <a:off x="7178040" y="1417320"/>
            <a:ext cx="4434840" cy="365760"/>
          </a:xfrm>
          <a:prstGeom prst="rect">
            <a:avLst/>
          </a:prstGeom>
          <a:noFill/>
          <a:ln/>
        </p:spPr>
        <p:txBody>
          <a:bodyPr wrap="square" lIns="0" tIns="0" rIns="0" bIns="0" rtlCol="0" anchor="t"/>
          <a:lstStyle/>
          <a:p>
            <a:pPr indent="0" marL="0">
              <a:buNone/>
            </a:pPr>
            <a:r>
              <a:rPr lang="en-US" sz="1500" b="1" dirty="0">
                <a:solidFill>
                  <a:schemeClr val="tx2"/>
                </a:solidFill>
              </a:rPr>
              <a:t>Five criteria, in order</a:t>
            </a:r>
            <a:endParaRPr lang="en-US" sz="1500" dirty="0"/>
          </a:p>
        </p:txBody>
      </p:sp>
      <p:sp>
        <p:nvSpPr>
          <p:cNvPr id="11" name="text-410"/>
          <p:cNvSpPr txBox="1"/>
          <p:nvPr/>
        </p:nvSpPr>
        <p:spPr>
          <a:xfrm>
            <a:off x="7178040" y="1783080"/>
            <a:ext cx="4434840" cy="685800"/>
          </a:xfrm>
          <a:prstGeom prst="rect">
            <a:avLst/>
          </a:prstGeom>
          <a:noFill/>
          <a:ln/>
        </p:spPr>
        <p:txBody>
          <a:bodyPr wrap="square" lIns="0" tIns="0" rIns="0" bIns="0" rtlCol="0" anchor="t"/>
          <a:lstStyle/>
          <a:p>
            <a:pPr indent="0" marL="0">
              <a:buNone/>
            </a:pPr>
            <a:r>
              <a:rPr lang="en-US" sz="1400" dirty="0">
                <a:solidFill>
                  <a:schemeClr val="tx1"/>
                </a:solidFill>
              </a:rPr>
              <a:t>Runs on an unseen file · handles broken rows · readable · has tests · has a README</a:t>
            </a:r>
            <a:endParaRPr lang="en-US" sz="1400" dirty="0"/>
          </a:p>
        </p:txBody>
      </p:sp>
      <p:sp>
        <p:nvSpPr>
          <p:cNvPr id="12" name="badge-411"/>
          <p:cNvSpPr/>
          <p:nvPr/>
        </p:nvSpPr>
        <p:spPr>
          <a:xfrm>
            <a:off x="6355080" y="2624328"/>
            <a:ext cx="640080" cy="640080"/>
          </a:xfrm>
          <a:prstGeom prst="ellipse">
            <a:avLst/>
          </a:prstGeom>
          <a:solidFill>
            <a:schemeClr val="accent1"/>
          </a:solidFill>
          <a:ln w="12700">
            <a:solidFill>
              <a:schemeClr val="accent1"/>
            </a:solidFill>
            <a:prstDash val="solid"/>
          </a:ln>
        </p:spPr>
      </p:sp>
      <p:pic>
        <p:nvPicPr>
          <p:cNvPr id="13" name="icon-412" descr="preencoded.png">    </p:cNvPr>
          <p:cNvPicPr>
            <a:picLocks noChangeAspect="1"/>
          </p:cNvPicPr>
          <p:nvPr/>
        </p:nvPicPr>
        <p:blipFill>
          <a:blip r:embed="rId2"/>
          <a:stretch>
            <a:fillRect/>
          </a:stretch>
        </p:blipFill>
        <p:spPr>
          <a:xfrm>
            <a:off x="6508699" y="2777947"/>
            <a:ext cx="332842" cy="332842"/>
          </a:xfrm>
          <a:prstGeom prst="rect">
            <a:avLst/>
          </a:prstGeom>
        </p:spPr>
      </p:pic>
      <p:sp>
        <p:nvSpPr>
          <p:cNvPr id="14" name="text-413"/>
          <p:cNvSpPr txBox="1"/>
          <p:nvPr/>
        </p:nvSpPr>
        <p:spPr>
          <a:xfrm>
            <a:off x="7178040" y="2532888"/>
            <a:ext cx="4434840" cy="365760"/>
          </a:xfrm>
          <a:prstGeom prst="rect">
            <a:avLst/>
          </a:prstGeom>
          <a:noFill/>
          <a:ln/>
        </p:spPr>
        <p:txBody>
          <a:bodyPr wrap="square" lIns="0" tIns="0" rIns="0" bIns="0" rtlCol="0" anchor="t"/>
          <a:lstStyle/>
          <a:p>
            <a:pPr indent="0" marL="0">
              <a:buNone/>
            </a:pPr>
            <a:r>
              <a:rPr lang="en-US" sz="1500" b="1" dirty="0">
                <a:solidFill>
                  <a:schemeClr val="tx2"/>
                </a:solidFill>
              </a:rPr>
              <a:t>Review time</a:t>
            </a:r>
            <a:endParaRPr lang="en-US" sz="1500" dirty="0"/>
          </a:p>
        </p:txBody>
      </p:sp>
      <p:sp>
        <p:nvSpPr>
          <p:cNvPr id="15" name="text-414"/>
          <p:cNvSpPr txBox="1"/>
          <p:nvPr/>
        </p:nvSpPr>
        <p:spPr>
          <a:xfrm>
            <a:off x="7178040" y="2898648"/>
            <a:ext cx="4434840" cy="685800"/>
          </a:xfrm>
          <a:prstGeom prst="rect">
            <a:avLst/>
          </a:prstGeom>
          <a:noFill/>
          <a:ln/>
        </p:spPr>
        <p:txBody>
          <a:bodyPr wrap="square" lIns="0" tIns="0" rIns="0" bIns="0" rtlCol="0" anchor="t"/>
          <a:lstStyle/>
          <a:p>
            <a:pPr indent="0" marL="0">
              <a:buNone/>
            </a:pPr>
            <a:r>
              <a:rPr lang="en-US" sz="1400" dirty="0">
                <a:solidFill>
                  <a:schemeClr val="tx1"/>
                </a:solidFill>
              </a:rPr>
              <a:t>~20 minutes each; "send me three zips and a deadline"</a:t>
            </a:r>
            <a:endParaRPr lang="en-US" sz="1400" dirty="0"/>
          </a:p>
        </p:txBody>
      </p:sp>
      <p:sp>
        <p:nvSpPr>
          <p:cNvPr id="16" name="badge-415"/>
          <p:cNvSpPr/>
          <p:nvPr/>
        </p:nvSpPr>
        <p:spPr>
          <a:xfrm>
            <a:off x="6355080" y="3739896"/>
            <a:ext cx="640080" cy="640080"/>
          </a:xfrm>
          <a:prstGeom prst="ellipse">
            <a:avLst/>
          </a:prstGeom>
          <a:solidFill>
            <a:schemeClr val="accent1"/>
          </a:solidFill>
          <a:ln w="12700">
            <a:solidFill>
              <a:schemeClr val="accent1"/>
            </a:solidFill>
            <a:prstDash val="solid"/>
          </a:ln>
        </p:spPr>
      </p:sp>
      <p:pic>
        <p:nvPicPr>
          <p:cNvPr id="17" name="icon-416" descr="preencoded.png">    </p:cNvPr>
          <p:cNvPicPr>
            <a:picLocks noChangeAspect="1"/>
          </p:cNvPicPr>
          <p:nvPr/>
        </p:nvPicPr>
        <p:blipFill>
          <a:blip r:embed="rId3"/>
          <a:stretch>
            <a:fillRect/>
          </a:stretch>
        </p:blipFill>
        <p:spPr>
          <a:xfrm>
            <a:off x="6508699" y="3893515"/>
            <a:ext cx="332842" cy="332842"/>
          </a:xfrm>
          <a:prstGeom prst="rect">
            <a:avLst/>
          </a:prstGeom>
        </p:spPr>
      </p:pic>
      <p:sp>
        <p:nvSpPr>
          <p:cNvPr id="18" name="text-417"/>
          <p:cNvSpPr txBox="1"/>
          <p:nvPr/>
        </p:nvSpPr>
        <p:spPr>
          <a:xfrm>
            <a:off x="7178040" y="3648456"/>
            <a:ext cx="4434840" cy="365760"/>
          </a:xfrm>
          <a:prstGeom prst="rect">
            <a:avLst/>
          </a:prstGeom>
          <a:noFill/>
          <a:ln/>
        </p:spPr>
        <p:txBody>
          <a:bodyPr wrap="square" lIns="0" tIns="0" rIns="0" bIns="0" rtlCol="0" anchor="t"/>
          <a:lstStyle/>
          <a:p>
            <a:pPr indent="0" marL="0">
              <a:buNone/>
            </a:pPr>
            <a:r>
              <a:rPr lang="en-US" sz="1500" b="1" dirty="0">
                <a:solidFill>
                  <a:schemeClr val="tx2"/>
                </a:solidFill>
              </a:rPr>
              <a:t>Trusting the AI</a:t>
            </a:r>
            <a:endParaRPr lang="en-US" sz="1500" dirty="0"/>
          </a:p>
        </p:txBody>
      </p:sp>
      <p:sp>
        <p:nvSpPr>
          <p:cNvPr id="19" name="text-418"/>
          <p:cNvSpPr txBox="1"/>
          <p:nvPr/>
        </p:nvSpPr>
        <p:spPr>
          <a:xfrm>
            <a:off x="7178040" y="4014216"/>
            <a:ext cx="4434840" cy="685800"/>
          </a:xfrm>
          <a:prstGeom prst="rect">
            <a:avLst/>
          </a:prstGeom>
          <a:noFill/>
          <a:ln/>
        </p:spPr>
        <p:txBody>
          <a:bodyPr wrap="square" lIns="0" tIns="0" rIns="0" bIns="0" rtlCol="0" anchor="t"/>
          <a:lstStyle/>
          <a:p>
            <a:pPr indent="0" marL="0">
              <a:buNone/>
            </a:pPr>
            <a:r>
              <a:rPr lang="en-US" sz="1400" dirty="0">
                <a:solidFill>
                  <a:schemeClr val="tx1"/>
                </a:solidFill>
              </a:rPr>
              <a:t>"I'd spot-check one from the bottom" → engineer samples 2 lower-half entries</a:t>
            </a:r>
            <a:endParaRPr lang="en-US" sz="1400" dirty="0"/>
          </a:p>
        </p:txBody>
      </p:sp>
      <p:sp>
        <p:nvSpPr>
          <p:cNvPr id="20" name="badge-419"/>
          <p:cNvSpPr/>
          <p:nvPr/>
        </p:nvSpPr>
        <p:spPr>
          <a:xfrm>
            <a:off x="6355080" y="4855464"/>
            <a:ext cx="640080" cy="640080"/>
          </a:xfrm>
          <a:prstGeom prst="ellipse">
            <a:avLst/>
          </a:prstGeom>
          <a:solidFill>
            <a:schemeClr val="accent1"/>
          </a:solidFill>
          <a:ln w="12700">
            <a:solidFill>
              <a:schemeClr val="accent1"/>
            </a:solidFill>
            <a:prstDash val="solid"/>
          </a:ln>
        </p:spPr>
      </p:sp>
      <p:pic>
        <p:nvPicPr>
          <p:cNvPr id="21" name="icon-420" descr="preencoded.png">    </p:cNvPr>
          <p:cNvPicPr>
            <a:picLocks noChangeAspect="1"/>
          </p:cNvPicPr>
          <p:nvPr/>
        </p:nvPicPr>
        <p:blipFill>
          <a:blip r:embed="rId4"/>
          <a:stretch>
            <a:fillRect/>
          </a:stretch>
        </p:blipFill>
        <p:spPr>
          <a:xfrm>
            <a:off x="6508699" y="5009083"/>
            <a:ext cx="332842" cy="332842"/>
          </a:xfrm>
          <a:prstGeom prst="rect">
            <a:avLst/>
          </a:prstGeom>
        </p:spPr>
      </p:pic>
      <p:sp>
        <p:nvSpPr>
          <p:cNvPr id="22" name="text-421"/>
          <p:cNvSpPr txBox="1"/>
          <p:nvPr/>
        </p:nvSpPr>
        <p:spPr>
          <a:xfrm>
            <a:off x="7178040" y="4764024"/>
            <a:ext cx="4434840" cy="365760"/>
          </a:xfrm>
          <a:prstGeom prst="rect">
            <a:avLst/>
          </a:prstGeom>
          <a:noFill/>
          <a:ln/>
        </p:spPr>
        <p:txBody>
          <a:bodyPr wrap="square" lIns="0" tIns="0" rIns="0" bIns="0" rtlCol="0" anchor="t"/>
          <a:lstStyle/>
          <a:p>
            <a:pPr indent="0" marL="0">
              <a:buNone/>
            </a:pPr>
            <a:r>
              <a:rPr lang="en-US" sz="1500" b="1" dirty="0">
                <a:solidFill>
                  <a:schemeClr val="tx2"/>
                </a:solidFill>
              </a:rPr>
              <a:t>IP</a:t>
            </a:r>
            <a:endParaRPr lang="en-US" sz="1500" dirty="0"/>
          </a:p>
        </p:txBody>
      </p:sp>
      <p:sp>
        <p:nvSpPr>
          <p:cNvPr id="23" name="text-422"/>
          <p:cNvSpPr txBox="1"/>
          <p:nvPr/>
        </p:nvSpPr>
        <p:spPr>
          <a:xfrm>
            <a:off x="7178040" y="5129784"/>
            <a:ext cx="4434840" cy="685800"/>
          </a:xfrm>
          <a:prstGeom prst="rect">
            <a:avLst/>
          </a:prstGeom>
          <a:noFill/>
          <a:ln/>
        </p:spPr>
        <p:txBody>
          <a:bodyPr wrap="square" lIns="0" tIns="0" rIns="0" bIns="0" rtlCol="0" anchor="t"/>
          <a:lstStyle/>
          <a:p>
            <a:pPr indent="0" marL="0">
              <a:buNone/>
            </a:pPr>
            <a:r>
              <a:rPr lang="en-US" sz="1400" dirty="0">
                <a:solidFill>
                  <a:schemeClr val="tx1"/>
                </a:solidFill>
              </a:rPr>
              <a:t>Students keep their code; assessment use only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What real evidence changed</a:t>
            </a:r>
            <a:endParaRPr lang="en-US" sz="3200" dirty="0"/>
          </a:p>
        </p:txBody>
      </p:sp>
      <p:sp>
        <p:nvSpPr>
          <p:cNvPr id="4" name="text-423"/>
          <p:cNvSpPr txBox="1"/>
          <p:nvPr/>
        </p:nvSpPr>
        <p:spPr>
          <a:xfrm>
            <a:off x="548640" y="1325880"/>
            <a:ext cx="4206240" cy="320040"/>
          </a:xfrm>
          <a:prstGeom prst="rect">
            <a:avLst/>
          </a:prstGeom>
          <a:noFill/>
          <a:ln/>
        </p:spPr>
        <p:txBody>
          <a:bodyPr wrap="square" lIns="0" tIns="0" rIns="0" bIns="0" rtlCol="0" anchor="t"/>
          <a:lstStyle/>
          <a:p>
            <a:pPr indent="0" marL="0">
              <a:buNone/>
            </a:pPr>
            <a:r>
              <a:rPr lang="en-US" sz="1400" b="1" dirty="0">
                <a:solidFill>
                  <a:schemeClr val="accent3"/>
                </a:solidFill>
              </a:rPr>
              <a:t>We believed</a:t>
            </a:r>
            <a:endParaRPr lang="en-US" sz="1400" dirty="0"/>
          </a:p>
        </p:txBody>
      </p:sp>
      <p:sp>
        <p:nvSpPr>
          <p:cNvPr id="5" name="text-424"/>
          <p:cNvSpPr txBox="1"/>
          <p:nvPr/>
        </p:nvSpPr>
        <p:spPr>
          <a:xfrm>
            <a:off x="5349240" y="1325880"/>
            <a:ext cx="4114800" cy="320040"/>
          </a:xfrm>
          <a:prstGeom prst="rect">
            <a:avLst/>
          </a:prstGeom>
          <a:noFill/>
          <a:ln/>
        </p:spPr>
        <p:txBody>
          <a:bodyPr wrap="square" lIns="0" tIns="0" rIns="0" bIns="0" rtlCol="0" anchor="t"/>
          <a:lstStyle/>
          <a:p>
            <a:pPr indent="0" marL="0">
              <a:buNone/>
            </a:pPr>
            <a:r>
              <a:rPr lang="en-US" sz="1400" b="1" dirty="0">
                <a:solidFill>
                  <a:schemeClr val="accent1"/>
                </a:solidFill>
              </a:rPr>
              <a:t>Now</a:t>
            </a:r>
            <a:endParaRPr lang="en-US" sz="1400" dirty="0"/>
          </a:p>
        </p:txBody>
      </p:sp>
      <p:sp>
        <p:nvSpPr>
          <p:cNvPr id="6" name="text-425"/>
          <p:cNvSpPr txBox="1"/>
          <p:nvPr/>
        </p:nvSpPr>
        <p:spPr>
          <a:xfrm>
            <a:off x="9646920" y="1325880"/>
            <a:ext cx="1920240" cy="320040"/>
          </a:xfrm>
          <a:prstGeom prst="rect">
            <a:avLst/>
          </a:prstGeom>
          <a:noFill/>
          <a:ln/>
        </p:spPr>
        <p:txBody>
          <a:bodyPr wrap="square" lIns="0" tIns="0" rIns="0" bIns="0" rtlCol="0" anchor="t"/>
          <a:lstStyle/>
          <a:p>
            <a:pPr indent="0" marL="0">
              <a:buNone/>
            </a:pPr>
            <a:r>
              <a:rPr lang="en-US" sz="1400" b="1" dirty="0">
                <a:solidFill>
                  <a:schemeClr val="accent3"/>
                </a:solidFill>
              </a:rPr>
              <a:t>Because of</a:t>
            </a:r>
            <a:endParaRPr lang="en-US" sz="1400" dirty="0"/>
          </a:p>
        </p:txBody>
      </p:sp>
      <p:sp>
        <p:nvSpPr>
          <p:cNvPr id="7" name="card-426"/>
          <p:cNvSpPr/>
          <p:nvPr/>
        </p:nvSpPr>
        <p:spPr>
          <a:xfrm>
            <a:off x="548640" y="1691640"/>
            <a:ext cx="4343400" cy="603504"/>
          </a:xfrm>
          <a:prstGeom prst="roundRect">
            <a:avLst>
              <a:gd name="adj" fmla="val 12121"/>
            </a:avLst>
          </a:prstGeom>
          <a:solidFill>
            <a:schemeClr val="bg2"/>
          </a:solidFill>
          <a:ln w="12700">
            <a:solidFill>
              <a:schemeClr val="bg2"/>
            </a:solidFill>
            <a:prstDash val="solid"/>
          </a:ln>
        </p:spPr>
      </p:sp>
      <p:sp>
        <p:nvSpPr>
          <p:cNvPr id="8" name="text-427"/>
          <p:cNvSpPr txBox="1"/>
          <p:nvPr/>
        </p:nvSpPr>
        <p:spPr>
          <a:xfrm>
            <a:off x="731520" y="1691640"/>
            <a:ext cx="4069080" cy="603504"/>
          </a:xfrm>
          <a:prstGeom prst="rect">
            <a:avLst/>
          </a:prstGeom>
          <a:noFill/>
          <a:ln/>
        </p:spPr>
        <p:txBody>
          <a:bodyPr wrap="square" lIns="0" tIns="0" rIns="0" bIns="0" rtlCol="0" anchor="ctr"/>
          <a:lstStyle/>
          <a:p>
            <a:pPr indent="0" marL="0">
              <a:buNone/>
            </a:pPr>
            <a:r>
              <a:rPr lang="en-US" sz="1400" dirty="0">
                <a:solidFill>
                  <a:schemeClr val="accent3"/>
                </a:solidFill>
              </a:rPr>
              <a:t>The score is the product ("82/100")</a:t>
            </a:r>
            <a:endParaRPr lang="en-US" sz="1400" dirty="0"/>
          </a:p>
        </p:txBody>
      </p:sp>
      <p:sp>
        <p:nvSpPr>
          <p:cNvPr id="9" name="dot-428"/>
          <p:cNvSpPr/>
          <p:nvPr/>
        </p:nvSpPr>
        <p:spPr>
          <a:xfrm>
            <a:off x="4956048" y="1847088"/>
            <a:ext cx="292608" cy="292608"/>
          </a:xfrm>
          <a:prstGeom prst="ellipse">
            <a:avLst/>
          </a:prstGeom>
          <a:solidFill>
            <a:schemeClr val="accent1"/>
          </a:solidFill>
          <a:ln w="12700">
            <a:solidFill>
              <a:schemeClr val="accent1"/>
            </a:solidFill>
            <a:prstDash val="solid"/>
          </a:ln>
        </p:spPr>
      </p:sp>
      <p:pic>
        <p:nvPicPr>
          <p:cNvPr id="10" name="arrow-429" descr="preencoded.png">    </p:cNvPr>
          <p:cNvPicPr>
            <a:picLocks noChangeAspect="1"/>
          </p:cNvPicPr>
          <p:nvPr/>
        </p:nvPicPr>
        <p:blipFill>
          <a:blip r:embed="rId1"/>
          <a:stretch>
            <a:fillRect/>
          </a:stretch>
        </p:blipFill>
        <p:spPr>
          <a:xfrm>
            <a:off x="5020056" y="1911096"/>
            <a:ext cx="164592" cy="164592"/>
          </a:xfrm>
          <a:prstGeom prst="rect">
            <a:avLst/>
          </a:prstGeom>
        </p:spPr>
      </p:pic>
      <p:sp>
        <p:nvSpPr>
          <p:cNvPr id="11" name="card-430"/>
          <p:cNvSpPr/>
          <p:nvPr/>
        </p:nvSpPr>
        <p:spPr>
          <a:xfrm>
            <a:off x="5349240" y="1691640"/>
            <a:ext cx="4160520" cy="603504"/>
          </a:xfrm>
          <a:prstGeom prst="roundRect">
            <a:avLst>
              <a:gd name="adj" fmla="val 12121"/>
            </a:avLst>
          </a:prstGeom>
          <a:solidFill>
            <a:schemeClr val="accent5"/>
          </a:solidFill>
          <a:ln w="12700">
            <a:solidFill>
              <a:schemeClr val="accent5"/>
            </a:solidFill>
            <a:prstDash val="solid"/>
          </a:ln>
        </p:spPr>
      </p:sp>
      <p:sp>
        <p:nvSpPr>
          <p:cNvPr id="12" name="text-431"/>
          <p:cNvSpPr txBox="1"/>
          <p:nvPr/>
        </p:nvSpPr>
        <p:spPr>
          <a:xfrm>
            <a:off x="5486400" y="1691640"/>
            <a:ext cx="3977640" cy="603504"/>
          </a:xfrm>
          <a:prstGeom prst="rect">
            <a:avLst/>
          </a:prstGeom>
          <a:noFill/>
          <a:ln/>
        </p:spPr>
        <p:txBody>
          <a:bodyPr wrap="square" lIns="0" tIns="0" rIns="0" bIns="0" rtlCol="0" anchor="ctr"/>
          <a:lstStyle/>
          <a:p>
            <a:pPr indent="0" marL="0">
              <a:buNone/>
            </a:pPr>
            <a:r>
              <a:rPr lang="en-US" sz="1400" b="1" dirty="0">
                <a:solidFill>
                  <a:schemeClr val="tx2"/>
                </a:solidFill>
              </a:rPr>
              <a:t>Certified result = evidence bundle, never a bare score</a:t>
            </a:r>
            <a:endParaRPr lang="en-US" sz="1400" dirty="0"/>
          </a:p>
        </p:txBody>
      </p:sp>
      <p:sp>
        <p:nvSpPr>
          <p:cNvPr id="13" name="text-432"/>
          <p:cNvSpPr txBox="1"/>
          <p:nvPr/>
        </p:nvSpPr>
        <p:spPr>
          <a:xfrm>
            <a:off x="9646920" y="1691640"/>
            <a:ext cx="1965960" cy="603504"/>
          </a:xfrm>
          <a:prstGeom prst="rect">
            <a:avLst/>
          </a:prstGeom>
          <a:noFill/>
          <a:ln/>
        </p:spPr>
        <p:txBody>
          <a:bodyPr wrap="square" lIns="0" tIns="0" rIns="0" bIns="0" rtlCol="0" anchor="ctr"/>
          <a:lstStyle/>
          <a:p>
            <a:pPr indent="0" marL="0">
              <a:buNone/>
            </a:pPr>
            <a:r>
              <a:rPr lang="en-US" sz="1300" dirty="0">
                <a:solidFill>
                  <a:schemeClr val="accent3"/>
                </a:solidFill>
              </a:rPr>
              <a:t>V2-R01, OO-R01, DF-R01</a:t>
            </a:r>
            <a:endParaRPr lang="en-US" sz="1300" dirty="0"/>
          </a:p>
        </p:txBody>
      </p:sp>
      <p:sp>
        <p:nvSpPr>
          <p:cNvPr id="14" name="card-433"/>
          <p:cNvSpPr/>
          <p:nvPr/>
        </p:nvSpPr>
        <p:spPr>
          <a:xfrm>
            <a:off x="548640" y="2395728"/>
            <a:ext cx="4343400" cy="603504"/>
          </a:xfrm>
          <a:prstGeom prst="roundRect">
            <a:avLst>
              <a:gd name="adj" fmla="val 12121"/>
            </a:avLst>
          </a:prstGeom>
          <a:solidFill>
            <a:schemeClr val="bg2"/>
          </a:solidFill>
          <a:ln w="12700">
            <a:solidFill>
              <a:schemeClr val="bg2"/>
            </a:solidFill>
            <a:prstDash val="solid"/>
          </a:ln>
        </p:spPr>
      </p:sp>
      <p:sp>
        <p:nvSpPr>
          <p:cNvPr id="15" name="text-434"/>
          <p:cNvSpPr txBox="1"/>
          <p:nvPr/>
        </p:nvSpPr>
        <p:spPr>
          <a:xfrm>
            <a:off x="731520" y="2395728"/>
            <a:ext cx="4069080" cy="603504"/>
          </a:xfrm>
          <a:prstGeom prst="rect">
            <a:avLst/>
          </a:prstGeom>
          <a:noFill/>
          <a:ln/>
        </p:spPr>
        <p:txBody>
          <a:bodyPr wrap="square" lIns="0" tIns="0" rIns="0" bIns="0" rtlCol="0" anchor="ctr"/>
          <a:lstStyle/>
          <a:p>
            <a:pPr indent="0" marL="0">
              <a:buNone/>
            </a:pPr>
            <a:r>
              <a:rPr lang="en-US" sz="1400" dirty="0">
                <a:solidFill>
                  <a:schemeClr val="accent3"/>
                </a:solidFill>
              </a:rPr>
              <a:t>Engineer reviews only the top entries</a:t>
            </a:r>
            <a:endParaRPr lang="en-US" sz="1400" dirty="0"/>
          </a:p>
        </p:txBody>
      </p:sp>
      <p:sp>
        <p:nvSpPr>
          <p:cNvPr id="16" name="dot-435"/>
          <p:cNvSpPr/>
          <p:nvPr/>
        </p:nvSpPr>
        <p:spPr>
          <a:xfrm>
            <a:off x="4956048" y="2551176"/>
            <a:ext cx="292608" cy="292608"/>
          </a:xfrm>
          <a:prstGeom prst="ellipse">
            <a:avLst/>
          </a:prstGeom>
          <a:solidFill>
            <a:schemeClr val="accent1"/>
          </a:solidFill>
          <a:ln w="12700">
            <a:solidFill>
              <a:schemeClr val="accent1"/>
            </a:solidFill>
            <a:prstDash val="solid"/>
          </a:ln>
        </p:spPr>
      </p:sp>
      <p:pic>
        <p:nvPicPr>
          <p:cNvPr id="17" name="arrow-436" descr="preencoded.png">    </p:cNvPr>
          <p:cNvPicPr>
            <a:picLocks noChangeAspect="1"/>
          </p:cNvPicPr>
          <p:nvPr/>
        </p:nvPicPr>
        <p:blipFill>
          <a:blip r:embed="rId2"/>
          <a:stretch>
            <a:fillRect/>
          </a:stretch>
        </p:blipFill>
        <p:spPr>
          <a:xfrm>
            <a:off x="5020056" y="2615184"/>
            <a:ext cx="164592" cy="164592"/>
          </a:xfrm>
          <a:prstGeom prst="rect">
            <a:avLst/>
          </a:prstGeom>
        </p:spPr>
      </p:pic>
      <p:sp>
        <p:nvSpPr>
          <p:cNvPr id="18" name="card-437"/>
          <p:cNvSpPr/>
          <p:nvPr/>
        </p:nvSpPr>
        <p:spPr>
          <a:xfrm>
            <a:off x="5349240" y="2395728"/>
            <a:ext cx="4160520" cy="603504"/>
          </a:xfrm>
          <a:prstGeom prst="roundRect">
            <a:avLst>
              <a:gd name="adj" fmla="val 12121"/>
            </a:avLst>
          </a:prstGeom>
          <a:solidFill>
            <a:schemeClr val="accent5"/>
          </a:solidFill>
          <a:ln w="12700">
            <a:solidFill>
              <a:schemeClr val="accent5"/>
            </a:solidFill>
            <a:prstDash val="solid"/>
          </a:ln>
        </p:spPr>
      </p:sp>
      <p:sp>
        <p:nvSpPr>
          <p:cNvPr id="19" name="text-438"/>
          <p:cNvSpPr txBox="1"/>
          <p:nvPr/>
        </p:nvSpPr>
        <p:spPr>
          <a:xfrm>
            <a:off x="5486400" y="2395728"/>
            <a:ext cx="3977640" cy="603504"/>
          </a:xfrm>
          <a:prstGeom prst="rect">
            <a:avLst/>
          </a:prstGeom>
          <a:noFill/>
          <a:ln/>
        </p:spPr>
        <p:txBody>
          <a:bodyPr wrap="square" lIns="0" tIns="0" rIns="0" bIns="0" rtlCol="0" anchor="ctr"/>
          <a:lstStyle/>
          <a:p>
            <a:pPr indent="0" marL="0">
              <a:buNone/>
            </a:pPr>
            <a:r>
              <a:rPr lang="en-US" sz="1400" b="1" dirty="0">
                <a:solidFill>
                  <a:schemeClr val="tx2"/>
                </a:solidFill>
              </a:rPr>
              <a:t>Every paying student gets engineer-written feedback</a:t>
            </a:r>
            <a:endParaRPr lang="en-US" sz="1400" dirty="0"/>
          </a:p>
        </p:txBody>
      </p:sp>
      <p:sp>
        <p:nvSpPr>
          <p:cNvPr id="20" name="text-439"/>
          <p:cNvSpPr txBox="1"/>
          <p:nvPr/>
        </p:nvSpPr>
        <p:spPr>
          <a:xfrm>
            <a:off x="9646920" y="2395728"/>
            <a:ext cx="1965960" cy="603504"/>
          </a:xfrm>
          <a:prstGeom prst="rect">
            <a:avLst/>
          </a:prstGeom>
          <a:noFill/>
          <a:ln/>
        </p:spPr>
        <p:txBody>
          <a:bodyPr wrap="square" lIns="0" tIns="0" rIns="0" bIns="0" rtlCol="0" anchor="ctr"/>
          <a:lstStyle/>
          <a:p>
            <a:pPr indent="0" marL="0">
              <a:buNone/>
            </a:pPr>
            <a:r>
              <a:rPr lang="en-US" sz="1300" dirty="0">
                <a:solidFill>
                  <a:schemeClr val="accent3"/>
                </a:solidFill>
              </a:rPr>
              <a:t>V2-S01</a:t>
            </a:r>
            <a:endParaRPr lang="en-US" sz="1300" dirty="0"/>
          </a:p>
        </p:txBody>
      </p:sp>
      <p:sp>
        <p:nvSpPr>
          <p:cNvPr id="21" name="card-440"/>
          <p:cNvSpPr/>
          <p:nvPr/>
        </p:nvSpPr>
        <p:spPr>
          <a:xfrm>
            <a:off x="548640" y="3099816"/>
            <a:ext cx="4343400" cy="603504"/>
          </a:xfrm>
          <a:prstGeom prst="roundRect">
            <a:avLst>
              <a:gd name="adj" fmla="val 12121"/>
            </a:avLst>
          </a:prstGeom>
          <a:solidFill>
            <a:schemeClr val="bg2"/>
          </a:solidFill>
          <a:ln w="12700">
            <a:solidFill>
              <a:schemeClr val="bg2"/>
            </a:solidFill>
            <a:prstDash val="solid"/>
          </a:ln>
        </p:spPr>
      </p:sp>
      <p:sp>
        <p:nvSpPr>
          <p:cNvPr id="22" name="text-441"/>
          <p:cNvSpPr txBox="1"/>
          <p:nvPr/>
        </p:nvSpPr>
        <p:spPr>
          <a:xfrm>
            <a:off x="731520" y="3099816"/>
            <a:ext cx="4069080" cy="603504"/>
          </a:xfrm>
          <a:prstGeom prst="rect">
            <a:avLst/>
          </a:prstGeom>
          <a:noFill/>
          <a:ln/>
        </p:spPr>
        <p:txBody>
          <a:bodyPr wrap="square" lIns="0" tIns="0" rIns="0" bIns="0" rtlCol="0" anchor="ctr"/>
          <a:lstStyle/>
          <a:p>
            <a:pPr indent="0" marL="0">
              <a:buNone/>
            </a:pPr>
            <a:r>
              <a:rPr lang="en-US" sz="1400" dirty="0">
                <a:solidFill>
                  <a:schemeClr val="accent3"/>
                </a:solidFill>
              </a:rPr>
              <a:t>Results go on a public profile</a:t>
            </a:r>
            <a:endParaRPr lang="en-US" sz="1400" dirty="0"/>
          </a:p>
        </p:txBody>
      </p:sp>
      <p:sp>
        <p:nvSpPr>
          <p:cNvPr id="23" name="dot-442"/>
          <p:cNvSpPr/>
          <p:nvPr/>
        </p:nvSpPr>
        <p:spPr>
          <a:xfrm>
            <a:off x="4956048" y="3255264"/>
            <a:ext cx="292608" cy="292608"/>
          </a:xfrm>
          <a:prstGeom prst="ellipse">
            <a:avLst/>
          </a:prstGeom>
          <a:solidFill>
            <a:schemeClr val="accent1"/>
          </a:solidFill>
          <a:ln w="12700">
            <a:solidFill>
              <a:schemeClr val="accent1"/>
            </a:solidFill>
            <a:prstDash val="solid"/>
          </a:ln>
        </p:spPr>
      </p:sp>
      <p:pic>
        <p:nvPicPr>
          <p:cNvPr id="24" name="arrow-443" descr="preencoded.png">    </p:cNvPr>
          <p:cNvPicPr>
            <a:picLocks noChangeAspect="1"/>
          </p:cNvPicPr>
          <p:nvPr/>
        </p:nvPicPr>
        <p:blipFill>
          <a:blip r:embed="rId3"/>
          <a:stretch>
            <a:fillRect/>
          </a:stretch>
        </p:blipFill>
        <p:spPr>
          <a:xfrm>
            <a:off x="5020056" y="3319272"/>
            <a:ext cx="164592" cy="164592"/>
          </a:xfrm>
          <a:prstGeom prst="rect">
            <a:avLst/>
          </a:prstGeom>
        </p:spPr>
      </p:pic>
      <p:sp>
        <p:nvSpPr>
          <p:cNvPr id="25" name="card-444"/>
          <p:cNvSpPr/>
          <p:nvPr/>
        </p:nvSpPr>
        <p:spPr>
          <a:xfrm>
            <a:off x="5349240" y="3099816"/>
            <a:ext cx="4160520" cy="603504"/>
          </a:xfrm>
          <a:prstGeom prst="roundRect">
            <a:avLst>
              <a:gd name="adj" fmla="val 12121"/>
            </a:avLst>
          </a:prstGeom>
          <a:solidFill>
            <a:schemeClr val="accent5"/>
          </a:solidFill>
          <a:ln w="12700">
            <a:solidFill>
              <a:schemeClr val="accent5"/>
            </a:solidFill>
            <a:prstDash val="solid"/>
          </a:ln>
        </p:spPr>
      </p:sp>
      <p:sp>
        <p:nvSpPr>
          <p:cNvPr id="26" name="text-445"/>
          <p:cNvSpPr txBox="1"/>
          <p:nvPr/>
        </p:nvSpPr>
        <p:spPr>
          <a:xfrm>
            <a:off x="5486400" y="3099816"/>
            <a:ext cx="3977640" cy="603504"/>
          </a:xfrm>
          <a:prstGeom prst="rect">
            <a:avLst/>
          </a:prstGeom>
          <a:noFill/>
          <a:ln/>
        </p:spPr>
        <p:txBody>
          <a:bodyPr wrap="square" lIns="0" tIns="0" rIns="0" bIns="0" rtlCol="0" anchor="ctr"/>
          <a:lstStyle/>
          <a:p>
            <a:pPr indent="0" marL="0">
              <a:buNone/>
            </a:pPr>
            <a:r>
              <a:rPr lang="en-US" sz="1400" b="1" dirty="0">
                <a:solidFill>
                  <a:schemeClr val="tx2"/>
                </a:solidFill>
              </a:rPr>
              <a:t>Private by default; true score always shows; you can fail</a:t>
            </a:r>
            <a:endParaRPr lang="en-US" sz="1400" dirty="0"/>
          </a:p>
        </p:txBody>
      </p:sp>
      <p:sp>
        <p:nvSpPr>
          <p:cNvPr id="27" name="text-446"/>
          <p:cNvSpPr txBox="1"/>
          <p:nvPr/>
        </p:nvSpPr>
        <p:spPr>
          <a:xfrm>
            <a:off x="9646920" y="3099816"/>
            <a:ext cx="1965960" cy="603504"/>
          </a:xfrm>
          <a:prstGeom prst="rect">
            <a:avLst/>
          </a:prstGeom>
          <a:noFill/>
          <a:ln/>
        </p:spPr>
        <p:txBody>
          <a:bodyPr wrap="square" lIns="0" tIns="0" rIns="0" bIns="0" rtlCol="0" anchor="ctr"/>
          <a:lstStyle/>
          <a:p>
            <a:pPr indent="0" marL="0">
              <a:buNone/>
            </a:pPr>
            <a:r>
              <a:rPr lang="en-US" sz="1300" dirty="0">
                <a:solidFill>
                  <a:schemeClr val="accent3"/>
                </a:solidFill>
              </a:rPr>
              <a:t>V2-S01</a:t>
            </a:r>
            <a:endParaRPr lang="en-US" sz="1300" dirty="0"/>
          </a:p>
        </p:txBody>
      </p:sp>
      <p:sp>
        <p:nvSpPr>
          <p:cNvPr id="28" name="card-447"/>
          <p:cNvSpPr/>
          <p:nvPr/>
        </p:nvSpPr>
        <p:spPr>
          <a:xfrm>
            <a:off x="548640" y="3803904"/>
            <a:ext cx="4343400" cy="603504"/>
          </a:xfrm>
          <a:prstGeom prst="roundRect">
            <a:avLst>
              <a:gd name="adj" fmla="val 12121"/>
            </a:avLst>
          </a:prstGeom>
          <a:solidFill>
            <a:schemeClr val="bg2"/>
          </a:solidFill>
          <a:ln w="12700">
            <a:solidFill>
              <a:schemeClr val="bg2"/>
            </a:solidFill>
            <a:prstDash val="solid"/>
          </a:ln>
        </p:spPr>
      </p:sp>
      <p:sp>
        <p:nvSpPr>
          <p:cNvPr id="29" name="text-448"/>
          <p:cNvSpPr txBox="1"/>
          <p:nvPr/>
        </p:nvSpPr>
        <p:spPr>
          <a:xfrm>
            <a:off x="731520" y="3803904"/>
            <a:ext cx="4069080" cy="603504"/>
          </a:xfrm>
          <a:prstGeom prst="rect">
            <a:avLst/>
          </a:prstGeom>
          <a:noFill/>
          <a:ln/>
        </p:spPr>
        <p:txBody>
          <a:bodyPr wrap="square" lIns="0" tIns="0" rIns="0" bIns="0" rtlCol="0" anchor="ctr"/>
          <a:lstStyle/>
          <a:p>
            <a:pPr indent="0" marL="0">
              <a:buNone/>
            </a:pPr>
            <a:r>
              <a:rPr lang="en-US" sz="1400" dirty="0">
                <a:solidFill>
                  <a:schemeClr val="accent3"/>
                </a:solidFill>
              </a:rPr>
              <a:t>AI ranks; engineer checks the top</a:t>
            </a:r>
            <a:endParaRPr lang="en-US" sz="1400" dirty="0"/>
          </a:p>
        </p:txBody>
      </p:sp>
      <p:sp>
        <p:nvSpPr>
          <p:cNvPr id="30" name="dot-449"/>
          <p:cNvSpPr/>
          <p:nvPr/>
        </p:nvSpPr>
        <p:spPr>
          <a:xfrm>
            <a:off x="4956048" y="3959352"/>
            <a:ext cx="292608" cy="292608"/>
          </a:xfrm>
          <a:prstGeom prst="ellipse">
            <a:avLst/>
          </a:prstGeom>
          <a:solidFill>
            <a:schemeClr val="accent1"/>
          </a:solidFill>
          <a:ln w="12700">
            <a:solidFill>
              <a:schemeClr val="accent1"/>
            </a:solidFill>
            <a:prstDash val="solid"/>
          </a:ln>
        </p:spPr>
      </p:sp>
      <p:pic>
        <p:nvPicPr>
          <p:cNvPr id="31" name="arrow-450" descr="preencoded.png">    </p:cNvPr>
          <p:cNvPicPr>
            <a:picLocks noChangeAspect="1"/>
          </p:cNvPicPr>
          <p:nvPr/>
        </p:nvPicPr>
        <p:blipFill>
          <a:blip r:embed="rId4"/>
          <a:stretch>
            <a:fillRect/>
          </a:stretch>
        </p:blipFill>
        <p:spPr>
          <a:xfrm>
            <a:off x="5020056" y="4023360"/>
            <a:ext cx="164592" cy="164592"/>
          </a:xfrm>
          <a:prstGeom prst="rect">
            <a:avLst/>
          </a:prstGeom>
        </p:spPr>
      </p:pic>
      <p:sp>
        <p:nvSpPr>
          <p:cNvPr id="32" name="card-451"/>
          <p:cNvSpPr/>
          <p:nvPr/>
        </p:nvSpPr>
        <p:spPr>
          <a:xfrm>
            <a:off x="5349240" y="3803904"/>
            <a:ext cx="4160520" cy="603504"/>
          </a:xfrm>
          <a:prstGeom prst="roundRect">
            <a:avLst>
              <a:gd name="adj" fmla="val 12121"/>
            </a:avLst>
          </a:prstGeom>
          <a:solidFill>
            <a:schemeClr val="accent5"/>
          </a:solidFill>
          <a:ln w="12700">
            <a:solidFill>
              <a:schemeClr val="accent5"/>
            </a:solidFill>
            <a:prstDash val="solid"/>
          </a:ln>
        </p:spPr>
      </p:sp>
      <p:sp>
        <p:nvSpPr>
          <p:cNvPr id="33" name="text-452"/>
          <p:cNvSpPr txBox="1"/>
          <p:nvPr/>
        </p:nvSpPr>
        <p:spPr>
          <a:xfrm>
            <a:off x="5486400" y="3803904"/>
            <a:ext cx="3977640" cy="603504"/>
          </a:xfrm>
          <a:prstGeom prst="rect">
            <a:avLst/>
          </a:prstGeom>
          <a:noFill/>
          <a:ln/>
        </p:spPr>
        <p:txBody>
          <a:bodyPr wrap="square" lIns="0" tIns="0" rIns="0" bIns="0" rtlCol="0" anchor="ctr"/>
          <a:lstStyle/>
          <a:p>
            <a:pPr indent="0" marL="0">
              <a:buNone/>
            </a:pPr>
            <a:r>
              <a:rPr lang="en-US" sz="1400" b="1" dirty="0">
                <a:solidFill>
                  <a:schemeClr val="tx2"/>
                </a:solidFill>
              </a:rPr>
              <a:t>Engineer scores 5 incl. 2 from the lower half</a:t>
            </a:r>
            <a:endParaRPr lang="en-US" sz="1400" dirty="0"/>
          </a:p>
        </p:txBody>
      </p:sp>
      <p:sp>
        <p:nvSpPr>
          <p:cNvPr id="34" name="text-453"/>
          <p:cNvSpPr txBox="1"/>
          <p:nvPr/>
        </p:nvSpPr>
        <p:spPr>
          <a:xfrm>
            <a:off x="9646920" y="3803904"/>
            <a:ext cx="1965960" cy="603504"/>
          </a:xfrm>
          <a:prstGeom prst="rect">
            <a:avLst/>
          </a:prstGeom>
          <a:noFill/>
          <a:ln/>
        </p:spPr>
        <p:txBody>
          <a:bodyPr wrap="square" lIns="0" tIns="0" rIns="0" bIns="0" rtlCol="0" anchor="ctr"/>
          <a:lstStyle/>
          <a:p>
            <a:pPr indent="0" marL="0">
              <a:buNone/>
            </a:pPr>
            <a:r>
              <a:rPr lang="en-US" sz="1300" dirty="0">
                <a:solidFill>
                  <a:schemeClr val="accent3"/>
                </a:solidFill>
              </a:rPr>
              <a:t>V2-E01</a:t>
            </a:r>
            <a:endParaRPr lang="en-US" sz="1300" dirty="0"/>
          </a:p>
        </p:txBody>
      </p:sp>
      <p:sp>
        <p:nvSpPr>
          <p:cNvPr id="35" name="card-454"/>
          <p:cNvSpPr/>
          <p:nvPr/>
        </p:nvSpPr>
        <p:spPr>
          <a:xfrm>
            <a:off x="548640" y="4507992"/>
            <a:ext cx="4343400" cy="603504"/>
          </a:xfrm>
          <a:prstGeom prst="roundRect">
            <a:avLst>
              <a:gd name="adj" fmla="val 12121"/>
            </a:avLst>
          </a:prstGeom>
          <a:solidFill>
            <a:schemeClr val="bg2"/>
          </a:solidFill>
          <a:ln w="12700">
            <a:solidFill>
              <a:schemeClr val="bg2"/>
            </a:solidFill>
            <a:prstDash val="solid"/>
          </a:ln>
        </p:spPr>
      </p:sp>
      <p:sp>
        <p:nvSpPr>
          <p:cNvPr id="36" name="text-455"/>
          <p:cNvSpPr txBox="1"/>
          <p:nvPr/>
        </p:nvSpPr>
        <p:spPr>
          <a:xfrm>
            <a:off x="731520" y="4507992"/>
            <a:ext cx="4069080" cy="603504"/>
          </a:xfrm>
          <a:prstGeom prst="rect">
            <a:avLst/>
          </a:prstGeom>
          <a:noFill/>
          <a:ln/>
        </p:spPr>
        <p:txBody>
          <a:bodyPr wrap="square" lIns="0" tIns="0" rIns="0" bIns="0" rtlCol="0" anchor="ctr"/>
          <a:lstStyle/>
          <a:p>
            <a:pPr indent="0" marL="0">
              <a:buNone/>
            </a:pPr>
            <a:r>
              <a:rPr lang="en-US" sz="1400" dirty="0">
                <a:solidFill>
                  <a:schemeClr val="accent3"/>
                </a:solidFill>
              </a:rPr>
              <a:t>Students can do a multi-week project</a:t>
            </a:r>
            <a:endParaRPr lang="en-US" sz="1400" dirty="0"/>
          </a:p>
        </p:txBody>
      </p:sp>
      <p:sp>
        <p:nvSpPr>
          <p:cNvPr id="37" name="dot-456"/>
          <p:cNvSpPr/>
          <p:nvPr/>
        </p:nvSpPr>
        <p:spPr>
          <a:xfrm>
            <a:off x="4956048" y="4663440"/>
            <a:ext cx="292608" cy="292608"/>
          </a:xfrm>
          <a:prstGeom prst="ellipse">
            <a:avLst/>
          </a:prstGeom>
          <a:solidFill>
            <a:schemeClr val="accent1"/>
          </a:solidFill>
          <a:ln w="12700">
            <a:solidFill>
              <a:schemeClr val="accent1"/>
            </a:solidFill>
            <a:prstDash val="solid"/>
          </a:ln>
        </p:spPr>
      </p:sp>
      <p:pic>
        <p:nvPicPr>
          <p:cNvPr id="38" name="arrow-457" descr="preencoded.png">    </p:cNvPr>
          <p:cNvPicPr>
            <a:picLocks noChangeAspect="1"/>
          </p:cNvPicPr>
          <p:nvPr/>
        </p:nvPicPr>
        <p:blipFill>
          <a:blip r:embed="rId5"/>
          <a:stretch>
            <a:fillRect/>
          </a:stretch>
        </p:blipFill>
        <p:spPr>
          <a:xfrm>
            <a:off x="5020056" y="4727448"/>
            <a:ext cx="164592" cy="164592"/>
          </a:xfrm>
          <a:prstGeom prst="rect">
            <a:avLst/>
          </a:prstGeom>
        </p:spPr>
      </p:pic>
      <p:sp>
        <p:nvSpPr>
          <p:cNvPr id="39" name="card-458"/>
          <p:cNvSpPr/>
          <p:nvPr/>
        </p:nvSpPr>
        <p:spPr>
          <a:xfrm>
            <a:off x="5349240" y="4507992"/>
            <a:ext cx="4160520" cy="603504"/>
          </a:xfrm>
          <a:prstGeom prst="roundRect">
            <a:avLst>
              <a:gd name="adj" fmla="val 12121"/>
            </a:avLst>
          </a:prstGeom>
          <a:solidFill>
            <a:schemeClr val="accent5"/>
          </a:solidFill>
          <a:ln w="12700">
            <a:solidFill>
              <a:schemeClr val="accent5"/>
            </a:solidFill>
            <a:prstDash val="solid"/>
          </a:ln>
        </p:spPr>
      </p:sp>
      <p:sp>
        <p:nvSpPr>
          <p:cNvPr id="40" name="text-459"/>
          <p:cNvSpPr txBox="1"/>
          <p:nvPr/>
        </p:nvSpPr>
        <p:spPr>
          <a:xfrm>
            <a:off x="5486400" y="4507992"/>
            <a:ext cx="3977640" cy="603504"/>
          </a:xfrm>
          <a:prstGeom prst="rect">
            <a:avLst/>
          </a:prstGeom>
          <a:noFill/>
          <a:ln/>
        </p:spPr>
        <p:txBody>
          <a:bodyPr wrap="square" lIns="0" tIns="0" rIns="0" bIns="0" rtlCol="0" anchor="ctr"/>
          <a:lstStyle/>
          <a:p>
            <a:pPr indent="0" marL="0">
              <a:buNone/>
            </a:pPr>
            <a:r>
              <a:rPr lang="en-US" sz="1400" b="1" dirty="0">
                <a:solidFill>
                  <a:schemeClr val="tx2"/>
                </a:solidFill>
              </a:rPr>
              <a:t>Challenges sized to 2–7 h; pilot uses 4 h</a:t>
            </a:r>
            <a:endParaRPr lang="en-US" sz="1400" dirty="0"/>
          </a:p>
        </p:txBody>
      </p:sp>
      <p:sp>
        <p:nvSpPr>
          <p:cNvPr id="41" name="text-460"/>
          <p:cNvSpPr txBox="1"/>
          <p:nvPr/>
        </p:nvSpPr>
        <p:spPr>
          <a:xfrm>
            <a:off x="9646920" y="4507992"/>
            <a:ext cx="1965960" cy="603504"/>
          </a:xfrm>
          <a:prstGeom prst="rect">
            <a:avLst/>
          </a:prstGeom>
          <a:noFill/>
          <a:ln/>
        </p:spPr>
        <p:txBody>
          <a:bodyPr wrap="square" lIns="0" tIns="0" rIns="0" bIns="0" rtlCol="0" anchor="ctr"/>
          <a:lstStyle/>
          <a:p>
            <a:pPr indent="0" marL="0">
              <a:buNone/>
            </a:pPr>
            <a:r>
              <a:rPr lang="en-US" sz="1300" dirty="0">
                <a:solidFill>
                  <a:schemeClr val="accent3"/>
                </a:solidFill>
              </a:rPr>
              <a:t>Survey, one-on-ones</a:t>
            </a:r>
            <a:endParaRPr lang="en-US" sz="1300" dirty="0"/>
          </a:p>
        </p:txBody>
      </p:sp>
      <p:sp>
        <p:nvSpPr>
          <p:cNvPr id="42" name="card-461"/>
          <p:cNvSpPr/>
          <p:nvPr/>
        </p:nvSpPr>
        <p:spPr>
          <a:xfrm>
            <a:off x="548640" y="5212080"/>
            <a:ext cx="4343400" cy="603504"/>
          </a:xfrm>
          <a:prstGeom prst="roundRect">
            <a:avLst>
              <a:gd name="adj" fmla="val 12121"/>
            </a:avLst>
          </a:prstGeom>
          <a:solidFill>
            <a:schemeClr val="bg2"/>
          </a:solidFill>
          <a:ln w="12700">
            <a:solidFill>
              <a:schemeClr val="bg2"/>
            </a:solidFill>
            <a:prstDash val="solid"/>
          </a:ln>
        </p:spPr>
      </p:sp>
      <p:sp>
        <p:nvSpPr>
          <p:cNvPr id="43" name="text-462"/>
          <p:cNvSpPr txBox="1"/>
          <p:nvPr/>
        </p:nvSpPr>
        <p:spPr>
          <a:xfrm>
            <a:off x="731520" y="5212080"/>
            <a:ext cx="4069080" cy="603504"/>
          </a:xfrm>
          <a:prstGeom prst="rect">
            <a:avLst/>
          </a:prstGeom>
          <a:noFill/>
          <a:ln/>
        </p:spPr>
        <p:txBody>
          <a:bodyPr wrap="square" lIns="0" tIns="0" rIns="0" bIns="0" rtlCol="0" anchor="ctr"/>
          <a:lstStyle/>
          <a:p>
            <a:pPr indent="0" marL="0">
              <a:buNone/>
            </a:pPr>
            <a:r>
              <a:rPr lang="en-US" sz="1400" dirty="0">
                <a:solidFill>
                  <a:schemeClr val="accent3"/>
                </a:solidFill>
              </a:rPr>
              <a:t>Small-business owner is a critical persona</a:t>
            </a:r>
            <a:endParaRPr lang="en-US" sz="1400" dirty="0"/>
          </a:p>
        </p:txBody>
      </p:sp>
      <p:sp>
        <p:nvSpPr>
          <p:cNvPr id="44" name="dot-463"/>
          <p:cNvSpPr/>
          <p:nvPr/>
        </p:nvSpPr>
        <p:spPr>
          <a:xfrm>
            <a:off x="4956048" y="5367528"/>
            <a:ext cx="292608" cy="292608"/>
          </a:xfrm>
          <a:prstGeom prst="ellipse">
            <a:avLst/>
          </a:prstGeom>
          <a:solidFill>
            <a:schemeClr val="accent1"/>
          </a:solidFill>
          <a:ln w="12700">
            <a:solidFill>
              <a:schemeClr val="accent1"/>
            </a:solidFill>
            <a:prstDash val="solid"/>
          </a:ln>
        </p:spPr>
      </p:sp>
      <p:pic>
        <p:nvPicPr>
          <p:cNvPr id="45" name="arrow-464" descr="preencoded.png">    </p:cNvPr>
          <p:cNvPicPr>
            <a:picLocks noChangeAspect="1"/>
          </p:cNvPicPr>
          <p:nvPr/>
        </p:nvPicPr>
        <p:blipFill>
          <a:blip r:embed="rId6"/>
          <a:stretch>
            <a:fillRect/>
          </a:stretch>
        </p:blipFill>
        <p:spPr>
          <a:xfrm>
            <a:off x="5020056" y="5431536"/>
            <a:ext cx="164592" cy="164592"/>
          </a:xfrm>
          <a:prstGeom prst="rect">
            <a:avLst/>
          </a:prstGeom>
        </p:spPr>
      </p:pic>
      <p:sp>
        <p:nvSpPr>
          <p:cNvPr id="46" name="card-465"/>
          <p:cNvSpPr/>
          <p:nvPr/>
        </p:nvSpPr>
        <p:spPr>
          <a:xfrm>
            <a:off x="5349240" y="5212080"/>
            <a:ext cx="4160520" cy="603504"/>
          </a:xfrm>
          <a:prstGeom prst="roundRect">
            <a:avLst>
              <a:gd name="adj" fmla="val 12121"/>
            </a:avLst>
          </a:prstGeom>
          <a:solidFill>
            <a:schemeClr val="accent5"/>
          </a:solidFill>
          <a:ln w="12700">
            <a:solidFill>
              <a:schemeClr val="accent5"/>
            </a:solidFill>
            <a:prstDash val="solid"/>
          </a:ln>
        </p:spPr>
      </p:sp>
      <p:sp>
        <p:nvSpPr>
          <p:cNvPr id="47" name="text-466"/>
          <p:cNvSpPr txBox="1"/>
          <p:nvPr/>
        </p:nvSpPr>
        <p:spPr>
          <a:xfrm>
            <a:off x="5486400" y="5212080"/>
            <a:ext cx="3977640" cy="603504"/>
          </a:xfrm>
          <a:prstGeom prst="rect">
            <a:avLst/>
          </a:prstGeom>
          <a:noFill/>
          <a:ln/>
        </p:spPr>
        <p:txBody>
          <a:bodyPr wrap="square" lIns="0" tIns="0" rIns="0" bIns="0" rtlCol="0" anchor="ctr"/>
          <a:lstStyle/>
          <a:p>
            <a:pPr indent="0" marL="0">
              <a:buNone/>
            </a:pPr>
            <a:r>
              <a:rPr lang="en-US" sz="1400" b="1" dirty="0">
                <a:solidFill>
                  <a:schemeClr val="tx2"/>
                </a:solidFill>
              </a:rPr>
              <a:t>Skeptical Verifier (recruiter) replaces them</a:t>
            </a:r>
            <a:endParaRPr lang="en-US" sz="1400" dirty="0"/>
          </a:p>
        </p:txBody>
      </p:sp>
      <p:sp>
        <p:nvSpPr>
          <p:cNvPr id="48" name="text-467"/>
          <p:cNvSpPr txBox="1"/>
          <p:nvPr/>
        </p:nvSpPr>
        <p:spPr>
          <a:xfrm>
            <a:off x="9646920" y="5212080"/>
            <a:ext cx="1965960" cy="603504"/>
          </a:xfrm>
          <a:prstGeom prst="rect">
            <a:avLst/>
          </a:prstGeom>
          <a:noFill/>
          <a:ln/>
        </p:spPr>
        <p:txBody>
          <a:bodyPr wrap="square" lIns="0" tIns="0" rIns="0" bIns="0" rtlCol="0" anchor="ctr"/>
          <a:lstStyle/>
          <a:p>
            <a:pPr indent="0" marL="0">
              <a:buNone/>
            </a:pPr>
            <a:r>
              <a:rPr lang="en-US" sz="1300" dirty="0">
                <a:solidFill>
                  <a:schemeClr val="accent3"/>
                </a:solidFill>
              </a:rPr>
              <a:t>Pivot</a:t>
            </a:r>
            <a:endParaRPr lang="en-US" sz="1300" dirty="0"/>
          </a:p>
        </p:txBody>
      </p:sp>
      <p:sp>
        <p:nvSpPr>
          <p:cNvPr id="49" name="text-468"/>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validation/claims-changed.md (11 claims, with links to where each change now lives)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Skills or payment? Skills. And companies should pay</a:t>
            </a:r>
            <a:endParaRPr lang="en-US" sz="3200" dirty="0"/>
          </a:p>
        </p:txBody>
      </p:sp>
      <p:sp>
        <p:nvSpPr>
          <p:cNvPr id="4" name="card-469"/>
          <p:cNvSpPr/>
          <p:nvPr/>
        </p:nvSpPr>
        <p:spPr>
          <a:xfrm>
            <a:off x="548640" y="1417320"/>
            <a:ext cx="3520440" cy="2377440"/>
          </a:xfrm>
          <a:prstGeom prst="roundRect">
            <a:avLst>
              <a:gd name="adj" fmla="val 3077"/>
            </a:avLst>
          </a:prstGeom>
          <a:solidFill>
            <a:schemeClr val="bg2"/>
          </a:solidFill>
          <a:ln w="12700">
            <a:solidFill>
              <a:schemeClr val="bg2"/>
            </a:solidFill>
            <a:prstDash val="solid"/>
          </a:ln>
        </p:spPr>
      </p:sp>
      <p:sp>
        <p:nvSpPr>
          <p:cNvPr id="5" name="text-470"/>
          <p:cNvSpPr txBox="1"/>
          <p:nvPr/>
        </p:nvSpPr>
        <p:spPr>
          <a:xfrm>
            <a:off x="822960" y="1600200"/>
            <a:ext cx="301752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3/3</a:t>
            </a:r>
            <a:endParaRPr lang="en-US" sz="4800" dirty="0"/>
          </a:p>
        </p:txBody>
      </p:sp>
      <p:sp>
        <p:nvSpPr>
          <p:cNvPr id="6" name="text-471"/>
          <p:cNvSpPr txBox="1"/>
          <p:nvPr/>
        </p:nvSpPr>
        <p:spPr>
          <a:xfrm>
            <a:off x="822960" y="2560320"/>
            <a:ext cx="3017520" cy="1097280"/>
          </a:xfrm>
          <a:prstGeom prst="rect">
            <a:avLst/>
          </a:prstGeom>
          <a:noFill/>
          <a:ln/>
        </p:spPr>
        <p:txBody>
          <a:bodyPr wrap="square" lIns="0" tIns="0" rIns="0" bIns="0" rtlCol="0" anchor="t"/>
          <a:lstStyle/>
          <a:p>
            <a:pPr indent="0" marL="0">
              <a:buNone/>
            </a:pPr>
            <a:r>
              <a:rPr lang="en-US" sz="1500" dirty="0">
                <a:solidFill>
                  <a:schemeClr val="tx1"/>
                </a:solidFill>
              </a:rPr>
              <a:t>one-on-one interviewees: companies should pay most or all</a:t>
            </a:r>
            <a:endParaRPr lang="en-US" sz="1500" dirty="0"/>
          </a:p>
        </p:txBody>
      </p:sp>
      <p:sp>
        <p:nvSpPr>
          <p:cNvPr id="7" name="card-472"/>
          <p:cNvSpPr/>
          <p:nvPr/>
        </p:nvSpPr>
        <p:spPr>
          <a:xfrm>
            <a:off x="4297680" y="1417320"/>
            <a:ext cx="3520440" cy="2377440"/>
          </a:xfrm>
          <a:prstGeom prst="roundRect">
            <a:avLst>
              <a:gd name="adj" fmla="val 3077"/>
            </a:avLst>
          </a:prstGeom>
          <a:solidFill>
            <a:schemeClr val="bg2"/>
          </a:solidFill>
          <a:ln w="12700">
            <a:solidFill>
              <a:schemeClr val="bg2"/>
            </a:solidFill>
            <a:prstDash val="solid"/>
          </a:ln>
        </p:spPr>
      </p:sp>
      <p:sp>
        <p:nvSpPr>
          <p:cNvPr id="8" name="text-473"/>
          <p:cNvSpPr txBox="1"/>
          <p:nvPr/>
        </p:nvSpPr>
        <p:spPr>
          <a:xfrm>
            <a:off x="4572000" y="1600200"/>
            <a:ext cx="301752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9" name="text-474"/>
          <p:cNvSpPr txBox="1"/>
          <p:nvPr/>
        </p:nvSpPr>
        <p:spPr>
          <a:xfrm>
            <a:off x="4572000" y="2560320"/>
            <a:ext cx="3017520" cy="1097280"/>
          </a:xfrm>
          <a:prstGeom prst="rect">
            <a:avLst/>
          </a:prstGeom>
          <a:noFill/>
          <a:ln/>
        </p:spPr>
        <p:txBody>
          <a:bodyPr wrap="square" lIns="0" tIns="0" rIns="0" bIns="0" rtlCol="0" anchor="t"/>
          <a:lstStyle/>
          <a:p>
            <a:pPr indent="0" marL="0">
              <a:buNone/>
            </a:pPr>
            <a:r>
              <a:rPr lang="en-US" sz="1500" dirty="0">
                <a:solidFill>
                  <a:schemeClr val="tx1"/>
                </a:solidFill>
              </a:rPr>
              <a:t>recruiters named a company budget it could come from (V2-R01, DF-R01)</a:t>
            </a:r>
            <a:endParaRPr lang="en-US" sz="1500" dirty="0"/>
          </a:p>
        </p:txBody>
      </p:sp>
      <p:sp>
        <p:nvSpPr>
          <p:cNvPr id="10" name="card-475"/>
          <p:cNvSpPr/>
          <p:nvPr/>
        </p:nvSpPr>
        <p:spPr>
          <a:xfrm>
            <a:off x="8046720" y="1417320"/>
            <a:ext cx="3520440" cy="2377440"/>
          </a:xfrm>
          <a:prstGeom prst="roundRect">
            <a:avLst>
              <a:gd name="adj" fmla="val 3077"/>
            </a:avLst>
          </a:prstGeom>
          <a:solidFill>
            <a:schemeClr val="bg2"/>
          </a:solidFill>
          <a:ln w="12700">
            <a:solidFill>
              <a:schemeClr val="bg2"/>
            </a:solidFill>
            <a:prstDash val="solid"/>
          </a:ln>
        </p:spPr>
      </p:sp>
      <p:sp>
        <p:nvSpPr>
          <p:cNvPr id="11" name="text-476"/>
          <p:cNvSpPr txBox="1"/>
          <p:nvPr/>
        </p:nvSpPr>
        <p:spPr>
          <a:xfrm>
            <a:off x="8321040" y="1600200"/>
            <a:ext cx="301752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&lt; €9k</a:t>
            </a:r>
            <a:endParaRPr lang="en-US" sz="4800" dirty="0"/>
          </a:p>
        </p:txBody>
      </p:sp>
      <p:sp>
        <p:nvSpPr>
          <p:cNvPr id="12" name="text-477"/>
          <p:cNvSpPr txBox="1"/>
          <p:nvPr/>
        </p:nvSpPr>
        <p:spPr>
          <a:xfrm>
            <a:off x="8321040" y="2560320"/>
            <a:ext cx="3017520" cy="1097280"/>
          </a:xfrm>
          <a:prstGeom prst="rect">
            <a:avLst/>
          </a:prstGeom>
          <a:noFill/>
          <a:ln/>
        </p:spPr>
        <p:txBody>
          <a:bodyPr wrap="square" lIns="0" tIns="0" rIns="0" bIns="0" rtlCol="0" anchor="t"/>
          <a:lstStyle/>
          <a:p>
            <a:pPr indent="0" marL="0">
              <a:buNone/>
            </a:pPr>
            <a:r>
              <a:rPr lang="en-US" sz="1500" dirty="0">
                <a:solidFill>
                  <a:schemeClr val="tx1"/>
                </a:solidFill>
              </a:rPr>
              <a:t>a year from student fees in Madrid, even at 30% paying</a:t>
            </a:r>
            <a:endParaRPr lang="en-US" sz="1500" dirty="0"/>
          </a:p>
        </p:txBody>
      </p:sp>
      <p:sp>
        <p:nvSpPr>
          <p:cNvPr id="13" name="card-478"/>
          <p:cNvSpPr/>
          <p:nvPr/>
        </p:nvSpPr>
        <p:spPr>
          <a:xfrm>
            <a:off x="548640" y="4023360"/>
            <a:ext cx="5440680" cy="1828800"/>
          </a:xfrm>
          <a:prstGeom prst="roundRect">
            <a:avLst>
              <a:gd name="adj" fmla="val 4000"/>
            </a:avLst>
          </a:prstGeom>
          <a:solidFill>
            <a:schemeClr val="tx2"/>
          </a:solidFill>
          <a:ln w="12700">
            <a:solidFill>
              <a:schemeClr val="tx2"/>
            </a:solidFill>
            <a:prstDash val="solid"/>
          </a:ln>
        </p:spPr>
      </p:sp>
      <p:sp>
        <p:nvSpPr>
          <p:cNvPr id="14" name="text-479"/>
          <p:cNvSpPr txBox="1"/>
          <p:nvPr/>
        </p:nvSpPr>
        <p:spPr>
          <a:xfrm>
            <a:off x="822960" y="4206240"/>
            <a:ext cx="4937760" cy="365760"/>
          </a:xfrm>
          <a:prstGeom prst="rect">
            <a:avLst/>
          </a:prstGeom>
          <a:noFill/>
          <a:ln/>
        </p:spPr>
        <p:txBody>
          <a:bodyPr wrap="square" lIns="0" tIns="0" rIns="0" bIns="0" rtlCol="0" anchor="t"/>
          <a:lstStyle/>
          <a:p>
            <a:pPr indent="0" marL="0">
              <a:buNone/>
            </a:pPr>
            <a:r>
              <a:rPr lang="en-US" sz="1600" b="1" dirty="0">
                <a:solidFill>
                  <a:schemeClr val="accent2"/>
                </a:solidFill>
              </a:rPr>
              <a:t>What we decided</a:t>
            </a:r>
            <a:endParaRPr lang="en-US" sz="1600" dirty="0"/>
          </a:p>
        </p:txBody>
      </p:sp>
      <p:sp>
        <p:nvSpPr>
          <p:cNvPr id="15" name="text-480"/>
          <p:cNvSpPr txBox="1"/>
          <p:nvPr/>
        </p:nvSpPr>
        <p:spPr>
          <a:xfrm>
            <a:off x="822960" y="4572000"/>
            <a:ext cx="4937760" cy="1188720"/>
          </a:xfrm>
          <a:prstGeom prst="rect">
            <a:avLst/>
          </a:prstGeom>
          <a:noFill/>
          <a:ln/>
        </p:spPr>
        <p:txBody>
          <a:bodyPr wrap="square" lIns="0" tIns="0" rIns="0" bIns="0" rtlCol="0" anchor="t"/>
          <a:lstStyle/>
          <a:p>
            <a:pPr indent="0" marL="0">
              <a:buNone/>
            </a:pPr>
            <a:r>
              <a:rPr lang="en-US" sz="1400" dirty="0">
                <a:solidFill>
                  <a:schemeClr val="bg1"/>
                </a:solidFill>
              </a:rPr>
              <a:t>We're after proof of skill, not paid work: payment motivates only 3/17 students. The ranking (students pay first) stays until the pilot decides.</a:t>
            </a:r>
            <a:endParaRPr lang="en-US" sz="1400" dirty="0"/>
          </a:p>
        </p:txBody>
      </p:sp>
      <p:sp>
        <p:nvSpPr>
          <p:cNvPr id="16" name="card-481"/>
          <p:cNvSpPr/>
          <p:nvPr/>
        </p:nvSpPr>
        <p:spPr>
          <a:xfrm>
            <a:off x="6172200" y="4023360"/>
            <a:ext cx="5440680" cy="1828800"/>
          </a:xfrm>
          <a:prstGeom prst="roundRect">
            <a:avLst>
              <a:gd name="adj" fmla="val 4000"/>
            </a:avLst>
          </a:prstGeom>
          <a:solidFill>
            <a:schemeClr val="bg2"/>
          </a:solidFill>
          <a:ln w="12700">
            <a:solidFill>
              <a:schemeClr val="bg2"/>
            </a:solidFill>
            <a:prstDash val="solid"/>
          </a:ln>
        </p:spPr>
      </p:sp>
      <p:sp>
        <p:nvSpPr>
          <p:cNvPr id="17" name="text-482"/>
          <p:cNvSpPr txBox="1"/>
          <p:nvPr/>
        </p:nvSpPr>
        <p:spPr>
          <a:xfrm>
            <a:off x="6446520" y="420624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What we're doing about it now</a:t>
            </a:r>
            <a:endParaRPr lang="en-US" sz="1600" dirty="0"/>
          </a:p>
        </p:txBody>
      </p:sp>
      <p:sp>
        <p:nvSpPr>
          <p:cNvPr id="18" name="text-483"/>
          <p:cNvSpPr txBox="1"/>
          <p:nvPr/>
        </p:nvSpPr>
        <p:spPr>
          <a:xfrm>
            <a:off x="6446520" y="4572000"/>
            <a:ext cx="4937760" cy="1188720"/>
          </a:xfrm>
          <a:prstGeom prst="rect">
            <a:avLst/>
          </a:prstGeom>
          <a:noFill/>
          <a:ln/>
        </p:spPr>
        <p:txBody>
          <a:bodyPr wrap="square" lIns="0" tIns="0" rIns="0" bIns="0" rtlCol="0" anchor="t"/>
          <a:lstStyle/>
          <a:p>
            <a:pPr indent="0" marL="0">
              <a:buNone/>
            </a:pPr>
            <a:r>
              <a:rPr lang="en-US" sz="1400" dirty="0">
                <a:solidFill>
                  <a:schemeClr val="tx1"/>
                </a:solidFill>
              </a:rPr>
              <a:t>Draft a per-challenge company price alongside the pilot, so the "students fail, recruiters pass" branch can start at once.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7315200" cy="457200"/>
          </a:xfrm>
          <a:prstGeom prst="rect">
            <a:avLst/>
          </a:prstGeom>
          <a:noFill/>
          <a:ln/>
        </p:spPr>
        <p:txBody>
          <a:bodyPr wrap="square" lIns="0" tIns="0" rIns="0" bIns="0" rtlCol="0"/>
          <a:lstStyle/>
          <a:p>
            <a:pPr indent="0" marL="0">
              <a:buNone/>
            </a:pPr>
            <a:r>
              <a:rPr lang="en-US" sz="1600" b="1" dirty="0">
                <a:solidFill>
                  <a:schemeClr val="accent2"/>
                </a:solidFill>
              </a:rPr>
              <a:t>07  ·  DECISION AND NEXT TEST</a:t>
            </a:r>
            <a:endParaRPr lang="en-US" sz="1600" dirty="0"/>
          </a:p>
        </p:txBody>
      </p:sp>
      <p:sp>
        <p:nvSpPr>
          <p:cNvPr id="3" name="Text 0"/>
          <p:cNvSpPr/>
          <p:nvPr>
            <p:ph idx="101" type="title" hasCustomPrompt="1"/>
          </p:nvPr>
        </p:nvSpPr>
        <p:spPr>
          <a:xfrm>
            <a:off x="731520" y="2606040"/>
            <a:ext cx="8686800" cy="1371600"/>
          </a:xfrm>
          <a:prstGeom prst="rect">
            <a:avLst/>
          </a:prstGeom>
          <a:noFill/>
          <a:ln/>
        </p:spPr>
        <p:txBody>
          <a:bodyPr wrap="square" lIns="0" tIns="0" rIns="0" bIns="0" rtlCol="0" anchor="t"/>
          <a:lstStyle/>
          <a:p>
            <a:pPr algn="l" indent="0" marL="0">
              <a:buNone/>
            </a:pPr>
            <a:r>
              <a:rPr lang="en-US" sz="4000" b="1" dirty="0">
                <a:solidFill>
                  <a:schemeClr val="bg1"/>
                </a:solidFill>
              </a:rPr>
              <a:t>Test both halves of the riskiest assumption</a:t>
            </a:r>
            <a:endParaRPr lang="en-US" sz="4000" dirty="0"/>
          </a:p>
        </p:txBody>
      </p:sp>
      <p:sp>
        <p:nvSpPr>
          <p:cNvPr id="4" name="Text 0"/>
          <p:cNvSpPr/>
          <p:nvPr>
            <p:ph idx="102" type="body" hasCustomPrompt="1"/>
          </p:nvPr>
        </p:nvSpPr>
        <p:spPr>
          <a:xfrm>
            <a:off x="731520" y="416052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The two-arm pilot, the decision rule, owners and the stop condition</a:t>
            </a:r>
            <a:endParaRPr lang="en-US" sz="1800" dirty="0"/>
          </a:p>
        </p:txBody>
      </p:sp>
      <p:sp>
        <p:nvSpPr>
          <p:cNvPr id="5" name="badge-484"/>
          <p:cNvSpPr/>
          <p:nvPr/>
        </p:nvSpPr>
        <p:spPr>
          <a:xfrm>
            <a:off x="9966960" y="2514600"/>
            <a:ext cx="1371600" cy="1371600"/>
          </a:xfrm>
          <a:prstGeom prst="ellipse">
            <a:avLst/>
          </a:prstGeom>
          <a:solidFill>
            <a:schemeClr val="accent1"/>
          </a:solidFill>
          <a:ln w="12700">
            <a:solidFill>
              <a:schemeClr val="accent1"/>
            </a:solidFill>
            <a:prstDash val="solid"/>
          </a:ln>
        </p:spPr>
      </p:sp>
      <p:pic>
        <p:nvPicPr>
          <p:cNvPr id="6" name="icon-485" descr="preencoded.png">    </p:cNvPr>
          <p:cNvPicPr>
            <a:picLocks noChangeAspect="1"/>
          </p:cNvPicPr>
          <p:nvPr/>
        </p:nvPicPr>
        <p:blipFill>
          <a:blip r:embed="rId1"/>
          <a:stretch>
            <a:fillRect/>
          </a:stretch>
        </p:blipFill>
        <p:spPr>
          <a:xfrm>
            <a:off x="10296144" y="2843784"/>
            <a:ext cx="713232" cy="713232"/>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The pilot tests both halves at once, 16–30 October</a:t>
            </a:r>
            <a:endParaRPr lang="en-US" sz="3200" dirty="0"/>
          </a:p>
        </p:txBody>
      </p:sp>
      <p:sp>
        <p:nvSpPr>
          <p:cNvPr id="4" name="card-486"/>
          <p:cNvSpPr/>
          <p:nvPr/>
        </p:nvSpPr>
        <p:spPr>
          <a:xfrm>
            <a:off x="548640" y="1417320"/>
            <a:ext cx="5440680" cy="3794760"/>
          </a:xfrm>
          <a:prstGeom prst="roundRect">
            <a:avLst>
              <a:gd name="adj" fmla="val 1928"/>
            </a:avLst>
          </a:prstGeom>
          <a:solidFill>
            <a:schemeClr val="bg2"/>
          </a:solidFill>
          <a:ln w="12700">
            <a:solidFill>
              <a:schemeClr val="bg2"/>
            </a:solidFill>
            <a:prstDash val="solid"/>
          </a:ln>
        </p:spPr>
      </p:sp>
      <p:sp>
        <p:nvSpPr>
          <p:cNvPr id="5" name="badge-487"/>
          <p:cNvSpPr/>
          <p:nvPr/>
        </p:nvSpPr>
        <p:spPr>
          <a:xfrm>
            <a:off x="822960" y="1645920"/>
            <a:ext cx="777240" cy="777240"/>
          </a:xfrm>
          <a:prstGeom prst="ellipse">
            <a:avLst/>
          </a:prstGeom>
          <a:solidFill>
            <a:schemeClr val="accent1"/>
          </a:solidFill>
          <a:ln w="12700">
            <a:solidFill>
              <a:schemeClr val="accent1"/>
            </a:solidFill>
            <a:prstDash val="solid"/>
          </a:ln>
        </p:spPr>
      </p:sp>
      <p:pic>
        <p:nvPicPr>
          <p:cNvPr id="6" name="icon-488" descr="preencoded.png">    </p:cNvPr>
          <p:cNvPicPr>
            <a:picLocks noChangeAspect="1"/>
          </p:cNvPicPr>
          <p:nvPr/>
        </p:nvPicPr>
        <p:blipFill>
          <a:blip r:embed="rId1"/>
          <a:stretch>
            <a:fillRect/>
          </a:stretch>
        </p:blipFill>
        <p:spPr>
          <a:xfrm>
            <a:off x="1009498" y="1832458"/>
            <a:ext cx="404165" cy="404165"/>
          </a:xfrm>
          <a:prstGeom prst="rect">
            <a:avLst/>
          </a:prstGeom>
        </p:spPr>
      </p:pic>
      <p:sp>
        <p:nvSpPr>
          <p:cNvPr id="7" name="text-489"/>
          <p:cNvSpPr txBox="1"/>
          <p:nvPr/>
        </p:nvSpPr>
        <p:spPr>
          <a:xfrm>
            <a:off x="1828800" y="1783080"/>
            <a:ext cx="3931920" cy="457200"/>
          </a:xfrm>
          <a:prstGeom prst="rect">
            <a:avLst/>
          </a:prstGeom>
          <a:noFill/>
          <a:ln/>
        </p:spPr>
        <p:txBody>
          <a:bodyPr wrap="square" lIns="0" tIns="0" rIns="0" bIns="0" rtlCol="0" anchor="t"/>
          <a:lstStyle/>
          <a:p>
            <a:pPr indent="0" marL="0">
              <a:buNone/>
            </a:pPr>
            <a:r>
              <a:rPr lang="en-US" sz="2000" b="1" dirty="0">
                <a:solidFill>
                  <a:schemeClr val="tx2"/>
                </a:solidFill>
              </a:rPr>
              <a:t>Arm A · Students</a:t>
            </a:r>
            <a:endParaRPr lang="en-US" sz="2000" dirty="0"/>
          </a:p>
        </p:txBody>
      </p:sp>
      <p:sp>
        <p:nvSpPr>
          <p:cNvPr id="8" name="text-490"/>
          <p:cNvSpPr txBox="1"/>
          <p:nvPr/>
        </p:nvSpPr>
        <p:spPr>
          <a:xfrm>
            <a:off x="822960" y="2606040"/>
            <a:ext cx="493776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One 4-hour challenge from a real company brief</a:t>
            </a:r>
            <a:endParaRPr lang="en-US" sz="1500" dirty="0"/>
          </a:p>
          <a:p>
            <a:pPr marL="342900" indent="-342900">
              <a:spcAft>
                <a:spcPts val="800"/>
              </a:spcAft>
              <a:buSzPct val="100000"/>
              <a:buChar char="•"/>
            </a:pPr>
            <a:r>
              <a:rPr lang="en-US" sz="1500" dirty="0">
                <a:solidFill>
                  <a:schemeClr val="tx1"/>
                </a:solidFill>
              </a:rPr>
              <a:t>Free entry; score shown free</a:t>
            </a:r>
            <a:endParaRPr lang="en-US" sz="1500" dirty="0"/>
          </a:p>
          <a:p>
            <a:pPr marL="342900" indent="-342900">
              <a:spcAft>
                <a:spcPts val="800"/>
              </a:spcAft>
              <a:buSzPct val="100000"/>
              <a:buChar char="•"/>
            </a:pPr>
            <a:r>
              <a:rPr lang="en-US" sz="1500" dirty="0">
                <a:solidFill>
                  <a:schemeClr val="tx1"/>
                </a:solidFill>
              </a:rPr>
              <a:t>Certified result for €15 (Bizum or card link)</a:t>
            </a:r>
            <a:endParaRPr lang="en-US" sz="1500" dirty="0"/>
          </a:p>
          <a:p>
            <a:pPr marL="342900" indent="-342900">
              <a:spcAft>
                <a:spcPts val="800"/>
              </a:spcAft>
              <a:buSzPct val="100000"/>
              <a:buChar char="•"/>
            </a:pPr>
            <a:r>
              <a:rPr lang="en-US" sz="1500" dirty="0">
                <a:solidFill>
                  <a:schemeClr val="tx1"/>
                </a:solidFill>
              </a:rPr>
              <a:t>Metric: students who pay ÷ students who submit</a:t>
            </a:r>
            <a:endParaRPr lang="en-US" sz="1500" dirty="0"/>
          </a:p>
        </p:txBody>
      </p:sp>
      <p:sp>
        <p:nvSpPr>
          <p:cNvPr id="9" name="card-491"/>
          <p:cNvSpPr/>
          <p:nvPr/>
        </p:nvSpPr>
        <p:spPr>
          <a:xfrm>
            <a:off x="548640" y="5349240"/>
            <a:ext cx="5440680" cy="548640"/>
          </a:xfrm>
          <a:prstGeom prst="roundRect">
            <a:avLst>
              <a:gd name="adj" fmla="val 13333"/>
            </a:avLst>
          </a:prstGeom>
          <a:solidFill>
            <a:schemeClr val="accent1"/>
          </a:solidFill>
          <a:ln w="12700">
            <a:solidFill>
              <a:schemeClr val="accent1"/>
            </a:solidFill>
            <a:prstDash val="solid"/>
          </a:ln>
        </p:spPr>
      </p:sp>
      <p:sp>
        <p:nvSpPr>
          <p:cNvPr id="10" name="text-492"/>
          <p:cNvSpPr txBox="1"/>
          <p:nvPr/>
        </p:nvSpPr>
        <p:spPr>
          <a:xfrm>
            <a:off x="822960" y="5349240"/>
            <a:ext cx="4937760" cy="548640"/>
          </a:xfrm>
          <a:prstGeom prst="rect">
            <a:avLst/>
          </a:prstGeom>
          <a:noFill/>
          <a:ln/>
        </p:spPr>
        <p:txBody>
          <a:bodyPr wrap="square" lIns="0" tIns="0" rIns="0" bIns="0" rtlCol="0" anchor="ctr"/>
          <a:lstStyle/>
          <a:p>
            <a:pPr indent="0" marL="0">
              <a:buNone/>
            </a:pPr>
            <a:r>
              <a:rPr lang="en-US" sz="1500" b="1" dirty="0">
                <a:solidFill>
                  <a:schemeClr val="bg1"/>
                </a:solidFill>
              </a:rPr>
              <a:t>Threshold: ≥ 30% pay, with at least 10 submissions</a:t>
            </a:r>
            <a:endParaRPr lang="en-US" sz="1500" dirty="0"/>
          </a:p>
        </p:txBody>
      </p:sp>
      <p:sp>
        <p:nvSpPr>
          <p:cNvPr id="11" name="card-493"/>
          <p:cNvSpPr/>
          <p:nvPr/>
        </p:nvSpPr>
        <p:spPr>
          <a:xfrm>
            <a:off x="6172200" y="1417320"/>
            <a:ext cx="5440680" cy="3794760"/>
          </a:xfrm>
          <a:prstGeom prst="roundRect">
            <a:avLst>
              <a:gd name="adj" fmla="val 1928"/>
            </a:avLst>
          </a:prstGeom>
          <a:solidFill>
            <a:schemeClr val="bg2"/>
          </a:solidFill>
          <a:ln w="12700">
            <a:solidFill>
              <a:schemeClr val="bg2"/>
            </a:solidFill>
            <a:prstDash val="solid"/>
          </a:ln>
        </p:spPr>
      </p:sp>
      <p:sp>
        <p:nvSpPr>
          <p:cNvPr id="12" name="badge-494"/>
          <p:cNvSpPr/>
          <p:nvPr/>
        </p:nvSpPr>
        <p:spPr>
          <a:xfrm>
            <a:off x="6446520" y="1645920"/>
            <a:ext cx="777240" cy="777240"/>
          </a:xfrm>
          <a:prstGeom prst="ellipse">
            <a:avLst/>
          </a:prstGeom>
          <a:solidFill>
            <a:schemeClr val="accent6"/>
          </a:solidFill>
          <a:ln w="12700">
            <a:solidFill>
              <a:schemeClr val="accent6"/>
            </a:solidFill>
            <a:prstDash val="solid"/>
          </a:ln>
        </p:spPr>
      </p:sp>
      <p:pic>
        <p:nvPicPr>
          <p:cNvPr id="13" name="icon-495" descr="preencoded.png">    </p:cNvPr>
          <p:cNvPicPr>
            <a:picLocks noChangeAspect="1"/>
          </p:cNvPicPr>
          <p:nvPr/>
        </p:nvPicPr>
        <p:blipFill>
          <a:blip r:embed="rId2"/>
          <a:stretch>
            <a:fillRect/>
          </a:stretch>
        </p:blipFill>
        <p:spPr>
          <a:xfrm>
            <a:off x="6633058" y="1832458"/>
            <a:ext cx="404165" cy="404165"/>
          </a:xfrm>
          <a:prstGeom prst="rect">
            <a:avLst/>
          </a:prstGeom>
        </p:spPr>
      </p:pic>
      <p:sp>
        <p:nvSpPr>
          <p:cNvPr id="14" name="text-496"/>
          <p:cNvSpPr txBox="1"/>
          <p:nvPr/>
        </p:nvSpPr>
        <p:spPr>
          <a:xfrm>
            <a:off x="7452360" y="1783080"/>
            <a:ext cx="3931920" cy="457200"/>
          </a:xfrm>
          <a:prstGeom prst="rect">
            <a:avLst/>
          </a:prstGeom>
          <a:noFill/>
          <a:ln/>
        </p:spPr>
        <p:txBody>
          <a:bodyPr wrap="square" lIns="0" tIns="0" rIns="0" bIns="0" rtlCol="0" anchor="t"/>
          <a:lstStyle/>
          <a:p>
            <a:pPr indent="0" marL="0">
              <a:buNone/>
            </a:pPr>
            <a:r>
              <a:rPr lang="en-US" sz="2000" b="1" dirty="0">
                <a:solidFill>
                  <a:schemeClr val="tx2"/>
                </a:solidFill>
              </a:rPr>
              <a:t>Arm B · Recruiters</a:t>
            </a:r>
            <a:endParaRPr lang="en-US" sz="2000" dirty="0"/>
          </a:p>
        </p:txBody>
      </p:sp>
      <p:sp>
        <p:nvSpPr>
          <p:cNvPr id="15" name="text-497"/>
          <p:cNvSpPr txBox="1"/>
          <p:nvPr/>
        </p:nvSpPr>
        <p:spPr>
          <a:xfrm>
            <a:off x="6446520" y="2606040"/>
            <a:ext cx="493776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5+ recruiters who screened interns in the last 12 months</a:t>
            </a:r>
            <a:endParaRPr lang="en-US" sz="1500" dirty="0"/>
          </a:p>
          <a:p>
            <a:pPr marL="342900" indent="-342900">
              <a:spcAft>
                <a:spcPts val="800"/>
              </a:spcAft>
              <a:buSzPct val="100000"/>
              <a:buChar char="•"/>
            </a:pPr>
            <a:r>
              <a:rPr lang="en-US" sz="1500" dirty="0">
                <a:solidFill>
                  <a:schemeClr val="tx1"/>
                </a:solidFill>
              </a:rPr>
              <a:t>Same CV, with and without the certified bundle</a:t>
            </a:r>
            <a:endParaRPr lang="en-US" sz="1500" dirty="0"/>
          </a:p>
          <a:p>
            <a:pPr marL="342900" indent="-342900">
              <a:spcAft>
                <a:spcPts val="800"/>
              </a:spcAft>
              <a:buSzPct val="100000"/>
              <a:buChar char="•"/>
            </a:pPr>
            <a:r>
              <a:rPr lang="en-US" sz="1500" dirty="0">
                <a:solidFill>
                  <a:schemeClr val="tx1"/>
                </a:solidFill>
              </a:rPr>
              <a:t>Ask: shortlist? replace take-home? distrust?</a:t>
            </a:r>
            <a:endParaRPr lang="en-US" sz="1500" dirty="0"/>
          </a:p>
          <a:p>
            <a:pPr marL="342900" indent="-342900">
              <a:spcAft>
                <a:spcPts val="800"/>
              </a:spcAft>
              <a:buSzPct val="100000"/>
              <a:buChar char="•"/>
            </a:pPr>
            <a:r>
              <a:rPr lang="en-US" sz="1500" dirty="0">
                <a:solidFill>
                  <a:schemeClr val="tx1"/>
                </a:solidFill>
              </a:rPr>
              <a:t>Metric: share who say it changes or supports a shortlist</a:t>
            </a:r>
            <a:endParaRPr lang="en-US" sz="1500" dirty="0"/>
          </a:p>
        </p:txBody>
      </p:sp>
      <p:sp>
        <p:nvSpPr>
          <p:cNvPr id="16" name="card-498"/>
          <p:cNvSpPr/>
          <p:nvPr/>
        </p:nvSpPr>
        <p:spPr>
          <a:xfrm>
            <a:off x="6172200" y="5349240"/>
            <a:ext cx="5440680" cy="548640"/>
          </a:xfrm>
          <a:prstGeom prst="roundRect">
            <a:avLst>
              <a:gd name="adj" fmla="val 13333"/>
            </a:avLst>
          </a:prstGeom>
          <a:solidFill>
            <a:schemeClr val="accent6"/>
          </a:solidFill>
          <a:ln w="12700">
            <a:solidFill>
              <a:schemeClr val="accent6"/>
            </a:solidFill>
            <a:prstDash val="solid"/>
          </a:ln>
        </p:spPr>
      </p:sp>
      <p:sp>
        <p:nvSpPr>
          <p:cNvPr id="17" name="text-499"/>
          <p:cNvSpPr txBox="1"/>
          <p:nvPr/>
        </p:nvSpPr>
        <p:spPr>
          <a:xfrm>
            <a:off x="6446520" y="5349240"/>
            <a:ext cx="4937760" cy="548640"/>
          </a:xfrm>
          <a:prstGeom prst="rect">
            <a:avLst/>
          </a:prstGeom>
          <a:noFill/>
          <a:ln/>
        </p:spPr>
        <p:txBody>
          <a:bodyPr wrap="square" lIns="0" tIns="0" rIns="0" bIns="0" rtlCol="0" anchor="ctr"/>
          <a:lstStyle/>
          <a:p>
            <a:pPr indent="0" marL="0">
              <a:buNone/>
            </a:pPr>
            <a:r>
              <a:rPr lang="en-US" sz="1500" b="1" dirty="0">
                <a:solidFill>
                  <a:schemeClr val="bg1"/>
                </a:solidFill>
              </a:rPr>
              <a:t>Threshold: ≥ 3 of 5 recruiters</a:t>
            </a:r>
            <a:endParaRPr lang="en-US" sz="1500" dirty="0"/>
          </a:p>
        </p:txBody>
      </p:sp>
      <p:sp>
        <p:nvSpPr>
          <p:cNvPr id="18" name="text-50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Secondary: AI vs engineer score gap; completion rate (submit ÷ start). Thresholds fixed before the test. Source: experiment-card.md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Decision rule: what we do with each result</a:t>
            </a:r>
            <a:endParaRPr lang="en-US" sz="3200" dirty="0"/>
          </a:p>
        </p:txBody>
      </p:sp>
      <p:sp>
        <p:nvSpPr>
          <p:cNvPr id="4" name="card-501"/>
          <p:cNvSpPr/>
          <p:nvPr/>
        </p:nvSpPr>
        <p:spPr>
          <a:xfrm>
            <a:off x="548640" y="1417320"/>
            <a:ext cx="5440680" cy="2103120"/>
          </a:xfrm>
          <a:prstGeom prst="roundRect">
            <a:avLst>
              <a:gd name="adj" fmla="val 3478"/>
            </a:avLst>
          </a:prstGeom>
          <a:solidFill>
            <a:schemeClr val="bg2"/>
          </a:solidFill>
          <a:ln w="12700">
            <a:solidFill>
              <a:schemeClr val="bg2"/>
            </a:solidFill>
            <a:prstDash val="solid"/>
          </a:ln>
        </p:spPr>
      </p:sp>
      <p:sp>
        <p:nvSpPr>
          <p:cNvPr id="5" name="badge-502"/>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6" name="icon-503" descr="preencoded.png">    </p:cNvPr>
          <p:cNvPicPr>
            <a:picLocks noChangeAspect="1"/>
          </p:cNvPicPr>
          <p:nvPr/>
        </p:nvPicPr>
        <p:blipFill>
          <a:blip r:embed="rId1"/>
          <a:stretch>
            <a:fillRect/>
          </a:stretch>
        </p:blipFill>
        <p:spPr>
          <a:xfrm>
            <a:off x="1020470" y="1934870"/>
            <a:ext cx="427939" cy="427939"/>
          </a:xfrm>
          <a:prstGeom prst="rect">
            <a:avLst/>
          </a:prstGeom>
        </p:spPr>
      </p:pic>
      <p:sp>
        <p:nvSpPr>
          <p:cNvPr id="7" name="text-504"/>
          <p:cNvSpPr txBox="1"/>
          <p:nvPr/>
        </p:nvSpPr>
        <p:spPr>
          <a:xfrm>
            <a:off x="1874520" y="1691640"/>
            <a:ext cx="3931920" cy="365760"/>
          </a:xfrm>
          <a:prstGeom prst="rect">
            <a:avLst/>
          </a:prstGeom>
          <a:noFill/>
          <a:ln/>
        </p:spPr>
        <p:txBody>
          <a:bodyPr wrap="square" lIns="0" tIns="0" rIns="0" bIns="0" rtlCol="0" anchor="t"/>
          <a:lstStyle/>
          <a:p>
            <a:pPr indent="0" marL="0">
              <a:buNone/>
            </a:pPr>
            <a:r>
              <a:rPr lang="en-US" sz="1400" b="1" dirty="0">
                <a:solidFill>
                  <a:schemeClr val="accent3"/>
                </a:solidFill>
              </a:rPr>
              <a:t>Both pass</a:t>
            </a:r>
            <a:endParaRPr lang="en-US" sz="1400" dirty="0"/>
          </a:p>
        </p:txBody>
      </p:sp>
      <p:sp>
        <p:nvSpPr>
          <p:cNvPr id="8" name="text-505"/>
          <p:cNvSpPr txBox="1"/>
          <p:nvPr/>
        </p:nvSpPr>
        <p:spPr>
          <a:xfrm>
            <a:off x="1874520" y="2057400"/>
            <a:ext cx="3931920" cy="457200"/>
          </a:xfrm>
          <a:prstGeom prst="rect">
            <a:avLst/>
          </a:prstGeom>
          <a:noFill/>
          <a:ln/>
        </p:spPr>
        <p:txBody>
          <a:bodyPr wrap="square" lIns="0" tIns="0" rIns="0" bIns="0" rtlCol="0" anchor="t"/>
          <a:lstStyle/>
          <a:p>
            <a:pPr indent="0" marL="0">
              <a:buNone/>
            </a:pPr>
            <a:r>
              <a:rPr lang="en-US" sz="2200" b="1" dirty="0">
                <a:solidFill>
                  <a:schemeClr val="tx2"/>
                </a:solidFill>
              </a:rPr>
              <a:t>Continue</a:t>
            </a:r>
            <a:endParaRPr lang="en-US" sz="2200" dirty="0"/>
          </a:p>
        </p:txBody>
      </p:sp>
      <p:sp>
        <p:nvSpPr>
          <p:cNvPr id="9" name="text-506"/>
          <p:cNvSpPr txBox="1"/>
          <p:nvPr/>
        </p:nvSpPr>
        <p:spPr>
          <a:xfrm>
            <a:off x="1874520" y="2560320"/>
            <a:ext cx="3931920" cy="822960"/>
          </a:xfrm>
          <a:prstGeom prst="rect">
            <a:avLst/>
          </a:prstGeom>
          <a:noFill/>
          <a:ln/>
        </p:spPr>
        <p:txBody>
          <a:bodyPr wrap="square" lIns="0" tIns="0" rIns="0" bIns="0" rtlCol="0" anchor="t"/>
          <a:lstStyle/>
          <a:p>
            <a:pPr indent="0" marL="0">
              <a:buNone/>
            </a:pPr>
            <a:r>
              <a:rPr lang="en-US" sz="1500" dirty="0">
                <a:solidFill>
                  <a:schemeClr val="tx1"/>
                </a:solidFill>
              </a:rPr>
              <a:t>Build the working skeleton in Phase 2; recruit a second company</a:t>
            </a:r>
            <a:endParaRPr lang="en-US" sz="1500" dirty="0"/>
          </a:p>
        </p:txBody>
      </p:sp>
      <p:sp>
        <p:nvSpPr>
          <p:cNvPr id="10" name="card-507"/>
          <p:cNvSpPr/>
          <p:nvPr/>
        </p:nvSpPr>
        <p:spPr>
          <a:xfrm>
            <a:off x="6172200" y="1417320"/>
            <a:ext cx="5440680" cy="2103120"/>
          </a:xfrm>
          <a:prstGeom prst="roundRect">
            <a:avLst>
              <a:gd name="adj" fmla="val 3478"/>
            </a:avLst>
          </a:prstGeom>
          <a:solidFill>
            <a:schemeClr val="bg2"/>
          </a:solidFill>
          <a:ln w="12700">
            <a:solidFill>
              <a:schemeClr val="bg2"/>
            </a:solidFill>
            <a:prstDash val="solid"/>
          </a:ln>
        </p:spPr>
      </p:sp>
      <p:sp>
        <p:nvSpPr>
          <p:cNvPr id="11" name="badge-508"/>
          <p:cNvSpPr/>
          <p:nvPr/>
        </p:nvSpPr>
        <p:spPr>
          <a:xfrm>
            <a:off x="6446520" y="1737360"/>
            <a:ext cx="822960" cy="822960"/>
          </a:xfrm>
          <a:prstGeom prst="ellipse">
            <a:avLst/>
          </a:prstGeom>
          <a:solidFill>
            <a:schemeClr val="accent2"/>
          </a:solidFill>
          <a:ln w="12700">
            <a:solidFill>
              <a:schemeClr val="accent2"/>
            </a:solidFill>
            <a:prstDash val="solid"/>
          </a:ln>
        </p:spPr>
      </p:sp>
      <p:pic>
        <p:nvPicPr>
          <p:cNvPr id="12" name="icon-509" descr="preencoded.png">    </p:cNvPr>
          <p:cNvPicPr>
            <a:picLocks noChangeAspect="1"/>
          </p:cNvPicPr>
          <p:nvPr/>
        </p:nvPicPr>
        <p:blipFill>
          <a:blip r:embed="rId2"/>
          <a:stretch>
            <a:fillRect/>
          </a:stretch>
        </p:blipFill>
        <p:spPr>
          <a:xfrm>
            <a:off x="6644030" y="1934870"/>
            <a:ext cx="427939" cy="427939"/>
          </a:xfrm>
          <a:prstGeom prst="rect">
            <a:avLst/>
          </a:prstGeom>
        </p:spPr>
      </p:pic>
      <p:sp>
        <p:nvSpPr>
          <p:cNvPr id="13" name="text-510"/>
          <p:cNvSpPr txBox="1"/>
          <p:nvPr/>
        </p:nvSpPr>
        <p:spPr>
          <a:xfrm>
            <a:off x="7498080" y="1691640"/>
            <a:ext cx="3931920" cy="365760"/>
          </a:xfrm>
          <a:prstGeom prst="rect">
            <a:avLst/>
          </a:prstGeom>
          <a:noFill/>
          <a:ln/>
        </p:spPr>
        <p:txBody>
          <a:bodyPr wrap="square" lIns="0" tIns="0" rIns="0" bIns="0" rtlCol="0" anchor="t"/>
          <a:lstStyle/>
          <a:p>
            <a:pPr indent="0" marL="0">
              <a:buNone/>
            </a:pPr>
            <a:r>
              <a:rPr lang="en-US" sz="1400" b="1" dirty="0">
                <a:solidFill>
                  <a:schemeClr val="accent3"/>
                </a:solidFill>
              </a:rPr>
              <a:t>Students fail · recruiters pass</a:t>
            </a:r>
            <a:endParaRPr lang="en-US" sz="1400" dirty="0"/>
          </a:p>
        </p:txBody>
      </p:sp>
      <p:sp>
        <p:nvSpPr>
          <p:cNvPr id="14" name="text-511"/>
          <p:cNvSpPr txBox="1"/>
          <p:nvPr/>
        </p:nvSpPr>
        <p:spPr>
          <a:xfrm>
            <a:off x="7498080" y="2057400"/>
            <a:ext cx="3931920" cy="457200"/>
          </a:xfrm>
          <a:prstGeom prst="rect">
            <a:avLst/>
          </a:prstGeom>
          <a:noFill/>
          <a:ln/>
        </p:spPr>
        <p:txBody>
          <a:bodyPr wrap="square" lIns="0" tIns="0" rIns="0" bIns="0" rtlCol="0" anchor="t"/>
          <a:lstStyle/>
          <a:p>
            <a:pPr indent="0" marL="0">
              <a:buNone/>
            </a:pPr>
            <a:r>
              <a:rPr lang="en-US" sz="2200" b="1" dirty="0">
                <a:solidFill>
                  <a:schemeClr val="tx2"/>
                </a:solidFill>
              </a:rPr>
              <a:t>Change revenue</a:t>
            </a:r>
            <a:endParaRPr lang="en-US" sz="2200" dirty="0"/>
          </a:p>
        </p:txBody>
      </p:sp>
      <p:sp>
        <p:nvSpPr>
          <p:cNvPr id="15" name="text-512"/>
          <p:cNvSpPr txBox="1"/>
          <p:nvPr/>
        </p:nvSpPr>
        <p:spPr>
          <a:xfrm>
            <a:off x="7498080" y="2560320"/>
            <a:ext cx="3931920" cy="822960"/>
          </a:xfrm>
          <a:prstGeom prst="rect">
            <a:avLst/>
          </a:prstGeom>
          <a:noFill/>
          <a:ln/>
        </p:spPr>
        <p:txBody>
          <a:bodyPr wrap="square" lIns="0" tIns="0" rIns="0" bIns="0" rtlCol="0" anchor="t"/>
          <a:lstStyle/>
          <a:p>
            <a:pPr indent="0" marL="0">
              <a:buNone/>
            </a:pPr>
            <a:r>
              <a:rPr lang="en-US" sz="1500" dirty="0">
                <a:solidFill>
                  <a:schemeClr val="tx1"/>
                </a:solidFill>
              </a:rPr>
              <a:t>Students free; companies pay for the screen (hypothesis 2)</a:t>
            </a:r>
            <a:endParaRPr lang="en-US" sz="1500" dirty="0"/>
          </a:p>
        </p:txBody>
      </p:sp>
      <p:sp>
        <p:nvSpPr>
          <p:cNvPr id="16" name="card-513"/>
          <p:cNvSpPr/>
          <p:nvPr/>
        </p:nvSpPr>
        <p:spPr>
          <a:xfrm>
            <a:off x="548640" y="3703320"/>
            <a:ext cx="5440680" cy="2103120"/>
          </a:xfrm>
          <a:prstGeom prst="roundRect">
            <a:avLst>
              <a:gd name="adj" fmla="val 3478"/>
            </a:avLst>
          </a:prstGeom>
          <a:solidFill>
            <a:schemeClr val="bg2"/>
          </a:solidFill>
          <a:ln w="12700">
            <a:solidFill>
              <a:schemeClr val="bg2"/>
            </a:solidFill>
            <a:prstDash val="solid"/>
          </a:ln>
        </p:spPr>
      </p:sp>
      <p:sp>
        <p:nvSpPr>
          <p:cNvPr id="17" name="badge-514"/>
          <p:cNvSpPr/>
          <p:nvPr/>
        </p:nvSpPr>
        <p:spPr>
          <a:xfrm>
            <a:off x="822960" y="4023360"/>
            <a:ext cx="822960" cy="822960"/>
          </a:xfrm>
          <a:prstGeom prst="ellipse">
            <a:avLst/>
          </a:prstGeom>
          <a:solidFill>
            <a:schemeClr val="accent6"/>
          </a:solidFill>
          <a:ln w="12700">
            <a:solidFill>
              <a:schemeClr val="accent6"/>
            </a:solidFill>
            <a:prstDash val="solid"/>
          </a:ln>
        </p:spPr>
      </p:sp>
      <p:pic>
        <p:nvPicPr>
          <p:cNvPr id="18" name="icon-515" descr="preencoded.png">    </p:cNvPr>
          <p:cNvPicPr>
            <a:picLocks noChangeAspect="1"/>
          </p:cNvPicPr>
          <p:nvPr/>
        </p:nvPicPr>
        <p:blipFill>
          <a:blip r:embed="rId3"/>
          <a:stretch>
            <a:fillRect/>
          </a:stretch>
        </p:blipFill>
        <p:spPr>
          <a:xfrm>
            <a:off x="1020470" y="4220870"/>
            <a:ext cx="427939" cy="427939"/>
          </a:xfrm>
          <a:prstGeom prst="rect">
            <a:avLst/>
          </a:prstGeom>
        </p:spPr>
      </p:pic>
      <p:sp>
        <p:nvSpPr>
          <p:cNvPr id="19" name="text-516"/>
          <p:cNvSpPr txBox="1"/>
          <p:nvPr/>
        </p:nvSpPr>
        <p:spPr>
          <a:xfrm>
            <a:off x="1874520" y="3977640"/>
            <a:ext cx="3931920" cy="365760"/>
          </a:xfrm>
          <a:prstGeom prst="rect">
            <a:avLst/>
          </a:prstGeom>
          <a:noFill/>
          <a:ln/>
        </p:spPr>
        <p:txBody>
          <a:bodyPr wrap="square" lIns="0" tIns="0" rIns="0" bIns="0" rtlCol="0" anchor="t"/>
          <a:lstStyle/>
          <a:p>
            <a:pPr indent="0" marL="0">
              <a:buNone/>
            </a:pPr>
            <a:r>
              <a:rPr lang="en-US" sz="1400" b="1" dirty="0">
                <a:solidFill>
                  <a:schemeClr val="accent3"/>
                </a:solidFill>
              </a:rPr>
              <a:t>Students pass · recruiters fail</a:t>
            </a:r>
            <a:endParaRPr lang="en-US" sz="1400" dirty="0"/>
          </a:p>
        </p:txBody>
      </p:sp>
      <p:sp>
        <p:nvSpPr>
          <p:cNvPr id="20" name="text-517"/>
          <p:cNvSpPr txBox="1"/>
          <p:nvPr/>
        </p:nvSpPr>
        <p:spPr>
          <a:xfrm>
            <a:off x="1874520" y="4343400"/>
            <a:ext cx="3931920" cy="457200"/>
          </a:xfrm>
          <a:prstGeom prst="rect">
            <a:avLst/>
          </a:prstGeom>
          <a:noFill/>
          <a:ln/>
        </p:spPr>
        <p:txBody>
          <a:bodyPr wrap="square" lIns="0" tIns="0" rIns="0" bIns="0" rtlCol="0" anchor="t"/>
          <a:lstStyle/>
          <a:p>
            <a:pPr indent="0" marL="0">
              <a:buNone/>
            </a:pPr>
            <a:r>
              <a:rPr lang="en-US" sz="2200" b="1" dirty="0">
                <a:solidFill>
                  <a:schemeClr val="tx2"/>
                </a:solidFill>
              </a:rPr>
              <a:t>Narrow</a:t>
            </a:r>
            <a:endParaRPr lang="en-US" sz="2200" dirty="0"/>
          </a:p>
        </p:txBody>
      </p:sp>
      <p:sp>
        <p:nvSpPr>
          <p:cNvPr id="21" name="text-518"/>
          <p:cNvSpPr txBox="1"/>
          <p:nvPr/>
        </p:nvSpPr>
        <p:spPr>
          <a:xfrm>
            <a:off x="1874520" y="4846320"/>
            <a:ext cx="3931920" cy="822960"/>
          </a:xfrm>
          <a:prstGeom prst="rect">
            <a:avLst/>
          </a:prstGeom>
          <a:noFill/>
          <a:ln/>
        </p:spPr>
        <p:txBody>
          <a:bodyPr wrap="square" lIns="0" tIns="0" rIns="0" bIns="0" rtlCol="0" anchor="t"/>
          <a:lstStyle/>
          <a:p>
            <a:pPr indent="0" marL="0">
              <a:buNone/>
            </a:pPr>
            <a:r>
              <a:rPr lang="en-US" sz="1500" dirty="0">
                <a:solidFill>
                  <a:schemeClr val="tx1"/>
                </a:solidFill>
              </a:rPr>
              <a:t>Sell practice and feedback; drop the hiring-credential claim</a:t>
            </a:r>
            <a:endParaRPr lang="en-US" sz="1500" dirty="0"/>
          </a:p>
        </p:txBody>
      </p:sp>
      <p:sp>
        <p:nvSpPr>
          <p:cNvPr id="22" name="card-519"/>
          <p:cNvSpPr/>
          <p:nvPr/>
        </p:nvSpPr>
        <p:spPr>
          <a:xfrm>
            <a:off x="6172200" y="3703320"/>
            <a:ext cx="5440680" cy="2103120"/>
          </a:xfrm>
          <a:prstGeom prst="roundRect">
            <a:avLst>
              <a:gd name="adj" fmla="val 3478"/>
            </a:avLst>
          </a:prstGeom>
          <a:solidFill>
            <a:schemeClr val="bg2"/>
          </a:solidFill>
          <a:ln w="12700">
            <a:solidFill>
              <a:schemeClr val="bg2"/>
            </a:solidFill>
            <a:prstDash val="solid"/>
          </a:ln>
        </p:spPr>
      </p:sp>
      <p:sp>
        <p:nvSpPr>
          <p:cNvPr id="23" name="badge-520"/>
          <p:cNvSpPr/>
          <p:nvPr/>
        </p:nvSpPr>
        <p:spPr>
          <a:xfrm>
            <a:off x="6446520" y="4023360"/>
            <a:ext cx="822960" cy="822960"/>
          </a:xfrm>
          <a:prstGeom prst="ellipse">
            <a:avLst/>
          </a:prstGeom>
          <a:solidFill>
            <a:schemeClr val="accent4"/>
          </a:solidFill>
          <a:ln w="12700">
            <a:solidFill>
              <a:schemeClr val="accent4"/>
            </a:solidFill>
            <a:prstDash val="solid"/>
          </a:ln>
        </p:spPr>
      </p:sp>
      <p:pic>
        <p:nvPicPr>
          <p:cNvPr id="24" name="icon-521" descr="preencoded.png">    </p:cNvPr>
          <p:cNvPicPr>
            <a:picLocks noChangeAspect="1"/>
          </p:cNvPicPr>
          <p:nvPr/>
        </p:nvPicPr>
        <p:blipFill>
          <a:blip r:embed="rId4"/>
          <a:stretch>
            <a:fillRect/>
          </a:stretch>
        </p:blipFill>
        <p:spPr>
          <a:xfrm>
            <a:off x="6644030" y="4220870"/>
            <a:ext cx="427939" cy="427939"/>
          </a:xfrm>
          <a:prstGeom prst="rect">
            <a:avLst/>
          </a:prstGeom>
        </p:spPr>
      </p:pic>
      <p:sp>
        <p:nvSpPr>
          <p:cNvPr id="25" name="text-522"/>
          <p:cNvSpPr txBox="1"/>
          <p:nvPr/>
        </p:nvSpPr>
        <p:spPr>
          <a:xfrm>
            <a:off x="7498080" y="3977640"/>
            <a:ext cx="3931920" cy="365760"/>
          </a:xfrm>
          <a:prstGeom prst="rect">
            <a:avLst/>
          </a:prstGeom>
          <a:noFill/>
          <a:ln/>
        </p:spPr>
        <p:txBody>
          <a:bodyPr wrap="square" lIns="0" tIns="0" rIns="0" bIns="0" rtlCol="0" anchor="t"/>
          <a:lstStyle/>
          <a:p>
            <a:pPr indent="0" marL="0">
              <a:buNone/>
            </a:pPr>
            <a:r>
              <a:rPr lang="en-US" sz="1400" b="1" dirty="0">
                <a:solidFill>
                  <a:schemeClr val="accent3"/>
                </a:solidFill>
              </a:rPr>
              <a:t>Both fail</a:t>
            </a:r>
            <a:endParaRPr lang="en-US" sz="1400" dirty="0"/>
          </a:p>
        </p:txBody>
      </p:sp>
      <p:sp>
        <p:nvSpPr>
          <p:cNvPr id="26" name="text-523"/>
          <p:cNvSpPr txBox="1"/>
          <p:nvPr/>
        </p:nvSpPr>
        <p:spPr>
          <a:xfrm>
            <a:off x="7498080" y="4343400"/>
            <a:ext cx="3931920" cy="457200"/>
          </a:xfrm>
          <a:prstGeom prst="rect">
            <a:avLst/>
          </a:prstGeom>
          <a:noFill/>
          <a:ln/>
        </p:spPr>
        <p:txBody>
          <a:bodyPr wrap="square" lIns="0" tIns="0" rIns="0" bIns="0" rtlCol="0" anchor="t"/>
          <a:lstStyle/>
          <a:p>
            <a:pPr indent="0" marL="0">
              <a:buNone/>
            </a:pPr>
            <a:r>
              <a:rPr lang="en-US" sz="2200" b="1" dirty="0">
                <a:solidFill>
                  <a:schemeClr val="tx2"/>
                </a:solidFill>
              </a:rPr>
              <a:t>Stop</a:t>
            </a:r>
            <a:endParaRPr lang="en-US" sz="2200" dirty="0"/>
          </a:p>
        </p:txBody>
      </p:sp>
      <p:sp>
        <p:nvSpPr>
          <p:cNvPr id="27" name="text-524"/>
          <p:cNvSpPr txBox="1"/>
          <p:nvPr/>
        </p:nvSpPr>
        <p:spPr>
          <a:xfrm>
            <a:off x="7498080" y="4846320"/>
            <a:ext cx="3931920" cy="822960"/>
          </a:xfrm>
          <a:prstGeom prst="rect">
            <a:avLst/>
          </a:prstGeom>
          <a:noFill/>
          <a:ln/>
        </p:spPr>
        <p:txBody>
          <a:bodyPr wrap="square" lIns="0" tIns="0" rIns="0" bIns="0" rtlCol="0" anchor="t"/>
          <a:lstStyle/>
          <a:p>
            <a:pPr indent="0" marL="0">
              <a:buNone/>
            </a:pPr>
            <a:r>
              <a:rPr lang="en-US" sz="1500" dirty="0">
                <a:solidFill>
                  <a:schemeClr val="tx1"/>
                </a:solidFill>
              </a:rPr>
              <a:t>Stop the v2 credential model; return to the evidence and archived v1 options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Owners, dates and the stop condition</a:t>
            </a:r>
            <a:endParaRPr lang="en-US" sz="3200" dirty="0"/>
          </a:p>
        </p:txBody>
      </p:sp>
      <p:sp>
        <p:nvSpPr>
          <p:cNvPr id="4" name="timeline"/>
          <p:cNvSpPr/>
          <p:nvPr/>
        </p:nvSpPr>
        <p:spPr>
          <a:xfrm>
            <a:off x="914400" y="2331720"/>
            <a:ext cx="10332720" cy="0"/>
          </a:xfrm>
          <a:prstGeom prst="line">
            <a:avLst/>
          </a:prstGeom>
          <a:noFill/>
          <a:ln w="38100">
            <a:solidFill>
              <a:schemeClr val="accent5"/>
            </a:solidFill>
            <a:prstDash val="solid"/>
          </a:ln>
        </p:spPr>
      </p:sp>
      <p:sp>
        <p:nvSpPr>
          <p:cNvPr id="5" name="node-525"/>
          <p:cNvSpPr/>
          <p:nvPr/>
        </p:nvSpPr>
        <p:spPr>
          <a:xfrm>
            <a:off x="777240" y="2103120"/>
            <a:ext cx="457200" cy="457200"/>
          </a:xfrm>
          <a:prstGeom prst="ellipse">
            <a:avLst/>
          </a:prstGeom>
          <a:solidFill>
            <a:schemeClr val="accent1"/>
          </a:solidFill>
          <a:ln w="25400">
            <a:solidFill>
              <a:schemeClr val="bg1"/>
            </a:solidFill>
            <a:prstDash val="solid"/>
          </a:ln>
        </p:spPr>
      </p:sp>
      <p:sp>
        <p:nvSpPr>
          <p:cNvPr id="6" name="text-526"/>
          <p:cNvSpPr txBox="1"/>
          <p:nvPr/>
        </p:nvSpPr>
        <p:spPr>
          <a:xfrm>
            <a:off x="548640" y="1463040"/>
            <a:ext cx="2560320" cy="457200"/>
          </a:xfrm>
          <a:prstGeom prst="rect">
            <a:avLst/>
          </a:prstGeom>
          <a:noFill/>
          <a:ln/>
        </p:spPr>
        <p:txBody>
          <a:bodyPr wrap="square" lIns="0" tIns="0" rIns="0" bIns="0" rtlCol="0" anchor="t"/>
          <a:lstStyle/>
          <a:p>
            <a:pPr indent="0" marL="0">
              <a:buNone/>
            </a:pPr>
            <a:r>
              <a:rPr lang="en-US" sz="2000" b="1" dirty="0">
                <a:solidFill>
                  <a:schemeClr val="tx2"/>
                </a:solidFill>
              </a:rPr>
              <a:t>16 Oct</a:t>
            </a:r>
            <a:endParaRPr lang="en-US" sz="2000" dirty="0"/>
          </a:p>
        </p:txBody>
      </p:sp>
      <p:sp>
        <p:nvSpPr>
          <p:cNvPr id="7" name="card-527"/>
          <p:cNvSpPr/>
          <p:nvPr/>
        </p:nvSpPr>
        <p:spPr>
          <a:xfrm>
            <a:off x="548640" y="2788920"/>
            <a:ext cx="2606040" cy="1645920"/>
          </a:xfrm>
          <a:prstGeom prst="roundRect">
            <a:avLst>
              <a:gd name="adj" fmla="val 4444"/>
            </a:avLst>
          </a:prstGeom>
          <a:solidFill>
            <a:schemeClr val="bg2"/>
          </a:solidFill>
          <a:ln w="12700">
            <a:solidFill>
              <a:schemeClr val="bg2"/>
            </a:solidFill>
            <a:prstDash val="solid"/>
          </a:ln>
        </p:spPr>
      </p:sp>
      <p:sp>
        <p:nvSpPr>
          <p:cNvPr id="8" name="text-528"/>
          <p:cNvSpPr txBox="1"/>
          <p:nvPr/>
        </p:nvSpPr>
        <p:spPr>
          <a:xfrm>
            <a:off x="731520" y="2926080"/>
            <a:ext cx="2240280" cy="1417320"/>
          </a:xfrm>
          <a:prstGeom prst="rect">
            <a:avLst/>
          </a:prstGeom>
          <a:noFill/>
          <a:ln/>
        </p:spPr>
        <p:txBody>
          <a:bodyPr wrap="square" lIns="0" tIns="0" rIns="0" bIns="0" rtlCol="0" anchor="t"/>
          <a:lstStyle/>
          <a:p>
            <a:pPr indent="0" marL="0">
              <a:buNone/>
            </a:pPr>
            <a:r>
              <a:rPr lang="en-US" sz="1400" dirty="0">
                <a:solidFill>
                  <a:schemeClr val="tx1"/>
                </a:solidFill>
              </a:rPr>
              <a:t>Company brief confirmed, or switch to an illustrative brief on a public dataset</a:t>
            </a:r>
            <a:endParaRPr lang="en-US" sz="1400" dirty="0"/>
          </a:p>
        </p:txBody>
      </p:sp>
      <p:sp>
        <p:nvSpPr>
          <p:cNvPr id="9" name="node-529"/>
          <p:cNvSpPr/>
          <p:nvPr/>
        </p:nvSpPr>
        <p:spPr>
          <a:xfrm>
            <a:off x="3611880" y="2103120"/>
            <a:ext cx="457200" cy="457200"/>
          </a:xfrm>
          <a:prstGeom prst="ellipse">
            <a:avLst/>
          </a:prstGeom>
          <a:solidFill>
            <a:schemeClr val="accent1"/>
          </a:solidFill>
          <a:ln w="25400">
            <a:solidFill>
              <a:schemeClr val="bg1"/>
            </a:solidFill>
            <a:prstDash val="solid"/>
          </a:ln>
        </p:spPr>
      </p:sp>
      <p:sp>
        <p:nvSpPr>
          <p:cNvPr id="10" name="text-530"/>
          <p:cNvSpPr txBox="1"/>
          <p:nvPr/>
        </p:nvSpPr>
        <p:spPr>
          <a:xfrm>
            <a:off x="3383280" y="1463040"/>
            <a:ext cx="2560320" cy="457200"/>
          </a:xfrm>
          <a:prstGeom prst="rect">
            <a:avLst/>
          </a:prstGeom>
          <a:noFill/>
          <a:ln/>
        </p:spPr>
        <p:txBody>
          <a:bodyPr wrap="square" lIns="0" tIns="0" rIns="0" bIns="0" rtlCol="0" anchor="t"/>
          <a:lstStyle/>
          <a:p>
            <a:pPr indent="0" marL="0">
              <a:buNone/>
            </a:pPr>
            <a:r>
              <a:rPr lang="en-US" sz="2000" b="1" dirty="0">
                <a:solidFill>
                  <a:schemeClr val="tx2"/>
                </a:solidFill>
              </a:rPr>
              <a:t>16–30 Oct</a:t>
            </a:r>
            <a:endParaRPr lang="en-US" sz="2000" dirty="0"/>
          </a:p>
        </p:txBody>
      </p:sp>
      <p:sp>
        <p:nvSpPr>
          <p:cNvPr id="11" name="card-531"/>
          <p:cNvSpPr/>
          <p:nvPr/>
        </p:nvSpPr>
        <p:spPr>
          <a:xfrm>
            <a:off x="3383280" y="2788920"/>
            <a:ext cx="2606040" cy="1645920"/>
          </a:xfrm>
          <a:prstGeom prst="roundRect">
            <a:avLst>
              <a:gd name="adj" fmla="val 4444"/>
            </a:avLst>
          </a:prstGeom>
          <a:solidFill>
            <a:schemeClr val="bg2"/>
          </a:solidFill>
          <a:ln w="12700">
            <a:solidFill>
              <a:schemeClr val="bg2"/>
            </a:solidFill>
            <a:prstDash val="solid"/>
          </a:ln>
        </p:spPr>
      </p:sp>
      <p:sp>
        <p:nvSpPr>
          <p:cNvPr id="12" name="text-532"/>
          <p:cNvSpPr txBox="1"/>
          <p:nvPr/>
        </p:nvSpPr>
        <p:spPr>
          <a:xfrm>
            <a:off x="3566160" y="2926080"/>
            <a:ext cx="2240280" cy="1417320"/>
          </a:xfrm>
          <a:prstGeom prst="rect">
            <a:avLst/>
          </a:prstGeom>
          <a:noFill/>
          <a:ln/>
        </p:spPr>
        <p:txBody>
          <a:bodyPr wrap="square" lIns="0" tIns="0" rIns="0" bIns="0" rtlCol="0" anchor="t"/>
          <a:lstStyle/>
          <a:p>
            <a:pPr indent="0" marL="0">
              <a:buNone/>
            </a:pPr>
            <a:r>
              <a:rPr lang="en-US" sz="1400" dirty="0">
                <a:solidFill>
                  <a:schemeClr val="tx1"/>
                </a:solidFill>
              </a:rPr>
              <a:t>Two-arm pilot runs: students take the challenge; 5+ recruiters compare profiles</a:t>
            </a:r>
            <a:endParaRPr lang="en-US" sz="1400" dirty="0"/>
          </a:p>
        </p:txBody>
      </p:sp>
      <p:sp>
        <p:nvSpPr>
          <p:cNvPr id="13" name="node-533"/>
          <p:cNvSpPr/>
          <p:nvPr/>
        </p:nvSpPr>
        <p:spPr>
          <a:xfrm>
            <a:off x="6446520" y="2103120"/>
            <a:ext cx="457200" cy="457200"/>
          </a:xfrm>
          <a:prstGeom prst="ellipse">
            <a:avLst/>
          </a:prstGeom>
          <a:solidFill>
            <a:schemeClr val="accent2"/>
          </a:solidFill>
          <a:ln w="25400">
            <a:solidFill>
              <a:schemeClr val="bg1"/>
            </a:solidFill>
            <a:prstDash val="solid"/>
          </a:ln>
        </p:spPr>
      </p:sp>
      <p:sp>
        <p:nvSpPr>
          <p:cNvPr id="14" name="text-534"/>
          <p:cNvSpPr txBox="1"/>
          <p:nvPr/>
        </p:nvSpPr>
        <p:spPr>
          <a:xfrm>
            <a:off x="6217920" y="1463040"/>
            <a:ext cx="2560320" cy="457200"/>
          </a:xfrm>
          <a:prstGeom prst="rect">
            <a:avLst/>
          </a:prstGeom>
          <a:noFill/>
          <a:ln/>
        </p:spPr>
        <p:txBody>
          <a:bodyPr wrap="square" lIns="0" tIns="0" rIns="0" bIns="0" rtlCol="0" anchor="t"/>
          <a:lstStyle/>
          <a:p>
            <a:pPr indent="0" marL="0">
              <a:buNone/>
            </a:pPr>
            <a:r>
              <a:rPr lang="en-US" sz="2000" b="1" dirty="0">
                <a:solidFill>
                  <a:schemeClr val="tx2"/>
                </a:solidFill>
              </a:rPr>
              <a:t>20 Oct</a:t>
            </a:r>
            <a:endParaRPr lang="en-US" sz="2000" dirty="0"/>
          </a:p>
        </p:txBody>
      </p:sp>
      <p:sp>
        <p:nvSpPr>
          <p:cNvPr id="15" name="card-535"/>
          <p:cNvSpPr/>
          <p:nvPr/>
        </p:nvSpPr>
        <p:spPr>
          <a:xfrm>
            <a:off x="6217920" y="2788920"/>
            <a:ext cx="2606040" cy="1645920"/>
          </a:xfrm>
          <a:prstGeom prst="roundRect">
            <a:avLst>
              <a:gd name="adj" fmla="val 4444"/>
            </a:avLst>
          </a:prstGeom>
          <a:solidFill>
            <a:schemeClr val="bg2"/>
          </a:solidFill>
          <a:ln w="12700">
            <a:solidFill>
              <a:schemeClr val="bg2"/>
            </a:solidFill>
            <a:prstDash val="solid"/>
          </a:ln>
        </p:spPr>
      </p:sp>
      <p:sp>
        <p:nvSpPr>
          <p:cNvPr id="16" name="text-536"/>
          <p:cNvSpPr txBox="1"/>
          <p:nvPr/>
        </p:nvSpPr>
        <p:spPr>
          <a:xfrm>
            <a:off x="6400800" y="2926080"/>
            <a:ext cx="2240280" cy="1417320"/>
          </a:xfrm>
          <a:prstGeom prst="rect">
            <a:avLst/>
          </a:prstGeom>
          <a:noFill/>
          <a:ln/>
        </p:spPr>
        <p:txBody>
          <a:bodyPr wrap="square" lIns="0" tIns="0" rIns="0" bIns="0" rtlCol="0" anchor="t"/>
          <a:lstStyle/>
          <a:p>
            <a:pPr indent="0" marL="0">
              <a:buNone/>
            </a:pPr>
            <a:r>
              <a:rPr lang="en-US" sz="1400" dirty="0">
                <a:solidFill>
                  <a:schemeClr val="tx1"/>
                </a:solidFill>
              </a:rPr>
              <a:t>Written brief + engineer's rubric sign-off (owner: Lucas Avila)</a:t>
            </a:r>
            <a:endParaRPr lang="en-US" sz="1400" dirty="0"/>
          </a:p>
        </p:txBody>
      </p:sp>
      <p:sp>
        <p:nvSpPr>
          <p:cNvPr id="17" name="node-537"/>
          <p:cNvSpPr/>
          <p:nvPr/>
        </p:nvSpPr>
        <p:spPr>
          <a:xfrm>
            <a:off x="9281160" y="2103120"/>
            <a:ext cx="457200" cy="457200"/>
          </a:xfrm>
          <a:prstGeom prst="ellipse">
            <a:avLst/>
          </a:prstGeom>
          <a:solidFill>
            <a:schemeClr val="accent1"/>
          </a:solidFill>
          <a:ln w="25400">
            <a:solidFill>
              <a:schemeClr val="bg1"/>
            </a:solidFill>
            <a:prstDash val="solid"/>
          </a:ln>
        </p:spPr>
      </p:sp>
      <p:sp>
        <p:nvSpPr>
          <p:cNvPr id="18" name="text-538"/>
          <p:cNvSpPr txBox="1"/>
          <p:nvPr/>
        </p:nvSpPr>
        <p:spPr>
          <a:xfrm>
            <a:off x="9052560" y="1463040"/>
            <a:ext cx="2560320" cy="457200"/>
          </a:xfrm>
          <a:prstGeom prst="rect">
            <a:avLst/>
          </a:prstGeom>
          <a:noFill/>
          <a:ln/>
        </p:spPr>
        <p:txBody>
          <a:bodyPr wrap="square" lIns="0" tIns="0" rIns="0" bIns="0" rtlCol="0" anchor="t"/>
          <a:lstStyle/>
          <a:p>
            <a:pPr indent="0" marL="0">
              <a:buNone/>
            </a:pPr>
            <a:r>
              <a:rPr lang="en-US" sz="2000" b="1" dirty="0">
                <a:solidFill>
                  <a:schemeClr val="tx2"/>
                </a:solidFill>
              </a:rPr>
              <a:t>30 Oct</a:t>
            </a:r>
            <a:endParaRPr lang="en-US" sz="2000" dirty="0"/>
          </a:p>
        </p:txBody>
      </p:sp>
      <p:sp>
        <p:nvSpPr>
          <p:cNvPr id="19" name="card-539"/>
          <p:cNvSpPr/>
          <p:nvPr/>
        </p:nvSpPr>
        <p:spPr>
          <a:xfrm>
            <a:off x="9052560" y="2788920"/>
            <a:ext cx="2606040" cy="1645920"/>
          </a:xfrm>
          <a:prstGeom prst="roundRect">
            <a:avLst>
              <a:gd name="adj" fmla="val 4444"/>
            </a:avLst>
          </a:prstGeom>
          <a:solidFill>
            <a:schemeClr val="bg2"/>
          </a:solidFill>
          <a:ln w="12700">
            <a:solidFill>
              <a:schemeClr val="bg2"/>
            </a:solidFill>
            <a:prstDash val="solid"/>
          </a:ln>
        </p:spPr>
      </p:sp>
      <p:sp>
        <p:nvSpPr>
          <p:cNvPr id="20" name="text-540"/>
          <p:cNvSpPr txBox="1"/>
          <p:nvPr/>
        </p:nvSpPr>
        <p:spPr>
          <a:xfrm>
            <a:off x="9235440" y="2926080"/>
            <a:ext cx="2240280" cy="1417320"/>
          </a:xfrm>
          <a:prstGeom prst="rect">
            <a:avLst/>
          </a:prstGeom>
          <a:noFill/>
          <a:ln/>
        </p:spPr>
        <p:txBody>
          <a:bodyPr wrap="square" lIns="0" tIns="0" rIns="0" bIns="0" rtlCol="0" anchor="t"/>
          <a:lstStyle/>
          <a:p>
            <a:pPr indent="0" marL="0">
              <a:buNone/>
            </a:pPr>
            <a:r>
              <a:rPr lang="en-US" sz="1400" dirty="0">
                <a:solidFill>
                  <a:schemeClr val="tx1"/>
                </a:solidFill>
              </a:rPr>
              <a:t>Results against the fixed thresholds → decision rule</a:t>
            </a:r>
            <a:endParaRPr lang="en-US" sz="1400" dirty="0"/>
          </a:p>
        </p:txBody>
      </p:sp>
      <p:sp>
        <p:nvSpPr>
          <p:cNvPr id="21" name="card-541"/>
          <p:cNvSpPr/>
          <p:nvPr/>
        </p:nvSpPr>
        <p:spPr>
          <a:xfrm>
            <a:off x="548640" y="4709160"/>
            <a:ext cx="11064240" cy="1143000"/>
          </a:xfrm>
          <a:prstGeom prst="roundRect">
            <a:avLst>
              <a:gd name="adj" fmla="val 6400"/>
            </a:avLst>
          </a:prstGeom>
          <a:solidFill>
            <a:schemeClr val="accent4"/>
          </a:solidFill>
          <a:ln w="12700">
            <a:solidFill>
              <a:schemeClr val="accent4"/>
            </a:solidFill>
            <a:prstDash val="solid"/>
          </a:ln>
        </p:spPr>
      </p:sp>
      <p:sp>
        <p:nvSpPr>
          <p:cNvPr id="22" name="badge-542"/>
          <p:cNvSpPr/>
          <p:nvPr/>
        </p:nvSpPr>
        <p:spPr>
          <a:xfrm>
            <a:off x="822960" y="4892040"/>
            <a:ext cx="777240" cy="777240"/>
          </a:xfrm>
          <a:prstGeom prst="ellipse">
            <a:avLst/>
          </a:prstGeom>
          <a:solidFill>
            <a:schemeClr val="tx2"/>
          </a:solidFill>
          <a:ln w="12700">
            <a:solidFill>
              <a:schemeClr val="tx2"/>
            </a:solidFill>
            <a:prstDash val="solid"/>
          </a:ln>
        </p:spPr>
      </p:sp>
      <p:pic>
        <p:nvPicPr>
          <p:cNvPr id="23" name="icon-543" descr="preencoded.png">    </p:cNvPr>
          <p:cNvPicPr>
            <a:picLocks noChangeAspect="1"/>
          </p:cNvPicPr>
          <p:nvPr/>
        </p:nvPicPr>
        <p:blipFill>
          <a:blip r:embed="rId1"/>
          <a:stretch>
            <a:fillRect/>
          </a:stretch>
        </p:blipFill>
        <p:spPr>
          <a:xfrm>
            <a:off x="1009498" y="5078578"/>
            <a:ext cx="404165" cy="404165"/>
          </a:xfrm>
          <a:prstGeom prst="rect">
            <a:avLst/>
          </a:prstGeom>
        </p:spPr>
      </p:pic>
      <p:sp>
        <p:nvSpPr>
          <p:cNvPr id="24" name="text-544"/>
          <p:cNvSpPr txBox="1"/>
          <p:nvPr/>
        </p:nvSpPr>
        <p:spPr>
          <a:xfrm>
            <a:off x="1828800" y="4709160"/>
            <a:ext cx="9509760" cy="1143000"/>
          </a:xfrm>
          <a:prstGeom prst="rect">
            <a:avLst/>
          </a:prstGeom>
          <a:noFill/>
          <a:ln/>
        </p:spPr>
        <p:txBody>
          <a:bodyPr wrap="square" lIns="0" tIns="0" rIns="0" bIns="0" rtlCol="0" anchor="ctr"/>
          <a:lstStyle/>
          <a:p>
            <a:pPr indent="0" marL="0">
              <a:buNone/>
            </a:pPr>
            <a:r>
              <a:rPr lang="en-US" sz="1700" b="1" dirty="0">
                <a:solidFill>
                  <a:schemeClr val="bg1"/>
                </a:solidFill>
              </a:rPr>
              <a:t>Stop condition: </a:t>
            </a:r>
            <a:pPr indent="0" marL="0">
              <a:buNone/>
            </a:pPr>
            <a:r>
              <a:rPr lang="en-US" sz="1700" dirty="0">
                <a:solidFill>
                  <a:schemeClr val="bg1"/>
                </a:solidFill>
              </a:rPr>
              <a:t>no engineer sign-off of a brief and rubric by 20 Oct → run Arm B alone and record Arm A as not run.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How we answered your feedback</a:t>
            </a:r>
            <a:endParaRPr lang="en-US" sz="3200" dirty="0"/>
          </a:p>
        </p:txBody>
      </p:sp>
      <p:sp>
        <p:nvSpPr>
          <p:cNvPr id="4" name="card-545"/>
          <p:cNvSpPr/>
          <p:nvPr/>
        </p:nvSpPr>
        <p:spPr>
          <a:xfrm>
            <a:off x="548640" y="1417320"/>
            <a:ext cx="5440680" cy="1188720"/>
          </a:xfrm>
          <a:prstGeom prst="roundRect">
            <a:avLst>
              <a:gd name="adj" fmla="val 6154"/>
            </a:avLst>
          </a:prstGeom>
          <a:solidFill>
            <a:schemeClr val="bg2"/>
          </a:solidFill>
          <a:ln w="12700">
            <a:solidFill>
              <a:schemeClr val="bg2"/>
            </a:solidFill>
            <a:prstDash val="solid"/>
          </a:ln>
        </p:spPr>
      </p:sp>
      <p:sp>
        <p:nvSpPr>
          <p:cNvPr id="5" name="badge-546"/>
          <p:cNvSpPr/>
          <p:nvPr/>
        </p:nvSpPr>
        <p:spPr>
          <a:xfrm>
            <a:off x="731520" y="1691640"/>
            <a:ext cx="640080" cy="640080"/>
          </a:xfrm>
          <a:prstGeom prst="ellipse">
            <a:avLst/>
          </a:prstGeom>
          <a:solidFill>
            <a:schemeClr val="accent1"/>
          </a:solidFill>
          <a:ln w="12700">
            <a:solidFill>
              <a:schemeClr val="accent1"/>
            </a:solidFill>
            <a:prstDash val="solid"/>
          </a:ln>
        </p:spPr>
      </p:sp>
      <p:pic>
        <p:nvPicPr>
          <p:cNvPr id="6" name="icon-547" descr="preencoded.png">    </p:cNvPr>
          <p:cNvPicPr>
            <a:picLocks noChangeAspect="1"/>
          </p:cNvPicPr>
          <p:nvPr/>
        </p:nvPicPr>
        <p:blipFill>
          <a:blip r:embed="rId1"/>
          <a:stretch>
            <a:fillRect/>
          </a:stretch>
        </p:blipFill>
        <p:spPr>
          <a:xfrm>
            <a:off x="885139" y="1845259"/>
            <a:ext cx="332842" cy="332842"/>
          </a:xfrm>
          <a:prstGeom prst="rect">
            <a:avLst/>
          </a:prstGeom>
        </p:spPr>
      </p:pic>
      <p:sp>
        <p:nvSpPr>
          <p:cNvPr id="7" name="text-548"/>
          <p:cNvSpPr txBox="1"/>
          <p:nvPr/>
        </p:nvSpPr>
        <p:spPr>
          <a:xfrm>
            <a:off x="1554480" y="1508760"/>
            <a:ext cx="4297680" cy="365760"/>
          </a:xfrm>
          <a:prstGeom prst="rect">
            <a:avLst/>
          </a:prstGeom>
          <a:noFill/>
          <a:ln/>
        </p:spPr>
        <p:txBody>
          <a:bodyPr wrap="square" lIns="0" tIns="0" rIns="0" bIns="0" rtlCol="0" anchor="t"/>
          <a:lstStyle/>
          <a:p>
            <a:pPr indent="0" marL="0">
              <a:buNone/>
            </a:pPr>
            <a:r>
              <a:rPr lang="en-US" sz="1500" b="1" dirty="0">
                <a:solidFill>
                  <a:schemeClr val="tx2"/>
                </a:solidFill>
              </a:rPr>
              <a:t>"Has this been done already?"</a:t>
            </a:r>
            <a:endParaRPr lang="en-US" sz="1500" dirty="0"/>
          </a:p>
        </p:txBody>
      </p:sp>
      <p:sp>
        <p:nvSpPr>
          <p:cNvPr id="8" name="text-549"/>
          <p:cNvSpPr txBox="1"/>
          <p:nvPr/>
        </p:nvSpPr>
        <p:spPr>
          <a:xfrm>
            <a:off x="1554480" y="1874520"/>
            <a:ext cx="4297680" cy="685800"/>
          </a:xfrm>
          <a:prstGeom prst="rect">
            <a:avLst/>
          </a:prstGeom>
          <a:noFill/>
          <a:ln/>
        </p:spPr>
        <p:txBody>
          <a:bodyPr wrap="square" lIns="0" tIns="0" rIns="0" bIns="0" rtlCol="0" anchor="t"/>
          <a:lstStyle/>
          <a:p>
            <a:pPr indent="0" marL="0">
              <a:buNone/>
            </a:pPr>
            <a:r>
              <a:rPr lang="en-US" sz="1300" dirty="0">
                <a:solidFill>
                  <a:schemeClr val="tx1"/>
                </a:solidFill>
              </a:rPr>
              <a:t>Competitor check: no individual-contribution certification found in four platforms; NUWE unverified</a:t>
            </a:r>
            <a:endParaRPr lang="en-US" sz="1300" dirty="0"/>
          </a:p>
        </p:txBody>
      </p:sp>
      <p:sp>
        <p:nvSpPr>
          <p:cNvPr id="9" name="card-550"/>
          <p:cNvSpPr/>
          <p:nvPr/>
        </p:nvSpPr>
        <p:spPr>
          <a:xfrm>
            <a:off x="6172200" y="1417320"/>
            <a:ext cx="5440680" cy="1188720"/>
          </a:xfrm>
          <a:prstGeom prst="roundRect">
            <a:avLst>
              <a:gd name="adj" fmla="val 6154"/>
            </a:avLst>
          </a:prstGeom>
          <a:solidFill>
            <a:schemeClr val="bg2"/>
          </a:solidFill>
          <a:ln w="12700">
            <a:solidFill>
              <a:schemeClr val="bg2"/>
            </a:solidFill>
            <a:prstDash val="solid"/>
          </a:ln>
        </p:spPr>
      </p:sp>
      <p:sp>
        <p:nvSpPr>
          <p:cNvPr id="10" name="badge-551"/>
          <p:cNvSpPr/>
          <p:nvPr/>
        </p:nvSpPr>
        <p:spPr>
          <a:xfrm>
            <a:off x="6355080" y="1691640"/>
            <a:ext cx="640080" cy="640080"/>
          </a:xfrm>
          <a:prstGeom prst="ellipse">
            <a:avLst/>
          </a:prstGeom>
          <a:solidFill>
            <a:schemeClr val="accent1"/>
          </a:solidFill>
          <a:ln w="12700">
            <a:solidFill>
              <a:schemeClr val="accent1"/>
            </a:solidFill>
            <a:prstDash val="solid"/>
          </a:ln>
        </p:spPr>
      </p:sp>
      <p:pic>
        <p:nvPicPr>
          <p:cNvPr id="11" name="icon-552" descr="preencoded.png">    </p:cNvPr>
          <p:cNvPicPr>
            <a:picLocks noChangeAspect="1"/>
          </p:cNvPicPr>
          <p:nvPr/>
        </p:nvPicPr>
        <p:blipFill>
          <a:blip r:embed="rId2"/>
          <a:stretch>
            <a:fillRect/>
          </a:stretch>
        </p:blipFill>
        <p:spPr>
          <a:xfrm>
            <a:off x="6508699" y="1845259"/>
            <a:ext cx="332842" cy="332842"/>
          </a:xfrm>
          <a:prstGeom prst="rect">
            <a:avLst/>
          </a:prstGeom>
        </p:spPr>
      </p:pic>
      <p:sp>
        <p:nvSpPr>
          <p:cNvPr id="12" name="text-553"/>
          <p:cNvSpPr txBox="1"/>
          <p:nvPr/>
        </p:nvSpPr>
        <p:spPr>
          <a:xfrm>
            <a:off x="7178040" y="1508760"/>
            <a:ext cx="4297680" cy="365760"/>
          </a:xfrm>
          <a:prstGeom prst="rect">
            <a:avLst/>
          </a:prstGeom>
          <a:noFill/>
          <a:ln/>
        </p:spPr>
        <p:txBody>
          <a:bodyPr wrap="square" lIns="0" tIns="0" rIns="0" bIns="0" rtlCol="0" anchor="t"/>
          <a:lstStyle/>
          <a:p>
            <a:pPr indent="0" marL="0">
              <a:buNone/>
            </a:pPr>
            <a:r>
              <a:rPr lang="en-US" sz="1500" b="1" dirty="0">
                <a:solidFill>
                  <a:schemeClr val="tx2"/>
                </a:solidFill>
              </a:rPr>
              <a:t>"Skills or payment?"</a:t>
            </a:r>
            <a:endParaRPr lang="en-US" sz="1500" dirty="0"/>
          </a:p>
        </p:txBody>
      </p:sp>
      <p:sp>
        <p:nvSpPr>
          <p:cNvPr id="13" name="text-554"/>
          <p:cNvSpPr txBox="1"/>
          <p:nvPr/>
        </p:nvSpPr>
        <p:spPr>
          <a:xfrm>
            <a:off x="7178040" y="1874520"/>
            <a:ext cx="4297680" cy="685800"/>
          </a:xfrm>
          <a:prstGeom prst="rect">
            <a:avLst/>
          </a:prstGeom>
          <a:noFill/>
          <a:ln/>
        </p:spPr>
        <p:txBody>
          <a:bodyPr wrap="square" lIns="0" tIns="0" rIns="0" bIns="0" rtlCol="0" anchor="t"/>
          <a:lstStyle/>
          <a:p>
            <a:pPr indent="0" marL="0">
              <a:buNone/>
            </a:pPr>
            <a:r>
              <a:rPr lang="en-US" sz="1300" dirty="0">
                <a:solidFill>
                  <a:schemeClr val="tx1"/>
                </a:solidFill>
              </a:rPr>
              <a:t>Skills. Payment motivates 3/17; v2 drops paid client work</a:t>
            </a:r>
            <a:endParaRPr lang="en-US" sz="1300" dirty="0"/>
          </a:p>
        </p:txBody>
      </p:sp>
      <p:sp>
        <p:nvSpPr>
          <p:cNvPr id="14" name="card-555"/>
          <p:cNvSpPr/>
          <p:nvPr/>
        </p:nvSpPr>
        <p:spPr>
          <a:xfrm>
            <a:off x="548640" y="2743200"/>
            <a:ext cx="5440680" cy="1188720"/>
          </a:xfrm>
          <a:prstGeom prst="roundRect">
            <a:avLst>
              <a:gd name="adj" fmla="val 6154"/>
            </a:avLst>
          </a:prstGeom>
          <a:solidFill>
            <a:schemeClr val="bg2"/>
          </a:solidFill>
          <a:ln w="12700">
            <a:solidFill>
              <a:schemeClr val="bg2"/>
            </a:solidFill>
            <a:prstDash val="solid"/>
          </a:ln>
        </p:spPr>
      </p:sp>
      <p:sp>
        <p:nvSpPr>
          <p:cNvPr id="15" name="badge-556"/>
          <p:cNvSpPr/>
          <p:nvPr/>
        </p:nvSpPr>
        <p:spPr>
          <a:xfrm>
            <a:off x="731520" y="3017520"/>
            <a:ext cx="640080" cy="640080"/>
          </a:xfrm>
          <a:prstGeom prst="ellipse">
            <a:avLst/>
          </a:prstGeom>
          <a:solidFill>
            <a:schemeClr val="accent1"/>
          </a:solidFill>
          <a:ln w="12700">
            <a:solidFill>
              <a:schemeClr val="accent1"/>
            </a:solidFill>
            <a:prstDash val="solid"/>
          </a:ln>
        </p:spPr>
      </p:sp>
      <p:pic>
        <p:nvPicPr>
          <p:cNvPr id="16" name="icon-557" descr="preencoded.png">    </p:cNvPr>
          <p:cNvPicPr>
            <a:picLocks noChangeAspect="1"/>
          </p:cNvPicPr>
          <p:nvPr/>
        </p:nvPicPr>
        <p:blipFill>
          <a:blip r:embed="rId3"/>
          <a:stretch>
            <a:fillRect/>
          </a:stretch>
        </p:blipFill>
        <p:spPr>
          <a:xfrm>
            <a:off x="885139" y="3171139"/>
            <a:ext cx="332842" cy="332842"/>
          </a:xfrm>
          <a:prstGeom prst="rect">
            <a:avLst/>
          </a:prstGeom>
        </p:spPr>
      </p:pic>
      <p:sp>
        <p:nvSpPr>
          <p:cNvPr id="17" name="text-558"/>
          <p:cNvSpPr txBox="1"/>
          <p:nvPr/>
        </p:nvSpPr>
        <p:spPr>
          <a:xfrm>
            <a:off x="1554480" y="2834640"/>
            <a:ext cx="4297680" cy="365760"/>
          </a:xfrm>
          <a:prstGeom prst="rect">
            <a:avLst/>
          </a:prstGeom>
          <a:noFill/>
          <a:ln/>
        </p:spPr>
        <p:txBody>
          <a:bodyPr wrap="square" lIns="0" tIns="0" rIns="0" bIns="0" rtlCol="0" anchor="t"/>
          <a:lstStyle/>
          <a:p>
            <a:pPr indent="0" marL="0">
              <a:buNone/>
            </a:pPr>
            <a:r>
              <a:rPr lang="en-US" sz="1500" b="1" dirty="0">
                <a:solidFill>
                  <a:schemeClr val="tx2"/>
                </a:solidFill>
              </a:rPr>
              <a:t>Traceability: show participant fit</a:t>
            </a:r>
            <a:endParaRPr lang="en-US" sz="1500" dirty="0"/>
          </a:p>
        </p:txBody>
      </p:sp>
      <p:sp>
        <p:nvSpPr>
          <p:cNvPr id="18" name="text-559"/>
          <p:cNvSpPr txBox="1"/>
          <p:nvPr/>
        </p:nvSpPr>
        <p:spPr>
          <a:xfrm>
            <a:off x="1554480" y="3200400"/>
            <a:ext cx="4297680" cy="685800"/>
          </a:xfrm>
          <a:prstGeom prst="rect">
            <a:avLst/>
          </a:prstGeom>
          <a:noFill/>
          <a:ln/>
        </p:spPr>
        <p:txBody>
          <a:bodyPr wrap="square" lIns="0" tIns="0" rIns="0" bIns="0" rtlCol="0" anchor="t"/>
          <a:lstStyle/>
          <a:p>
            <a:pPr indent="0" marL="0">
              <a:buNone/>
            </a:pPr>
            <a:r>
              <a:rPr lang="en-US" sz="1300" dirty="0">
                <a:solidFill>
                  <a:schemeClr val="tx1"/>
                </a:solidFill>
              </a:rPr>
              <a:t>Participant-fit table in recruitment.md; screening questions for the next round</a:t>
            </a:r>
            <a:endParaRPr lang="en-US" sz="1300" dirty="0"/>
          </a:p>
        </p:txBody>
      </p:sp>
      <p:sp>
        <p:nvSpPr>
          <p:cNvPr id="19" name="card-560"/>
          <p:cNvSpPr/>
          <p:nvPr/>
        </p:nvSpPr>
        <p:spPr>
          <a:xfrm>
            <a:off x="6172200" y="2743200"/>
            <a:ext cx="5440680" cy="1188720"/>
          </a:xfrm>
          <a:prstGeom prst="roundRect">
            <a:avLst>
              <a:gd name="adj" fmla="val 6154"/>
            </a:avLst>
          </a:prstGeom>
          <a:solidFill>
            <a:schemeClr val="bg2"/>
          </a:solidFill>
          <a:ln w="12700">
            <a:solidFill>
              <a:schemeClr val="bg2"/>
            </a:solidFill>
            <a:prstDash val="solid"/>
          </a:ln>
        </p:spPr>
      </p:sp>
      <p:sp>
        <p:nvSpPr>
          <p:cNvPr id="20" name="badge-561"/>
          <p:cNvSpPr/>
          <p:nvPr/>
        </p:nvSpPr>
        <p:spPr>
          <a:xfrm>
            <a:off x="6355080" y="3017520"/>
            <a:ext cx="640080" cy="640080"/>
          </a:xfrm>
          <a:prstGeom prst="ellipse">
            <a:avLst/>
          </a:prstGeom>
          <a:solidFill>
            <a:schemeClr val="accent1"/>
          </a:solidFill>
          <a:ln w="12700">
            <a:solidFill>
              <a:schemeClr val="accent1"/>
            </a:solidFill>
            <a:prstDash val="solid"/>
          </a:ln>
        </p:spPr>
      </p:sp>
      <p:pic>
        <p:nvPicPr>
          <p:cNvPr id="21" name="icon-562" descr="preencoded.png">    </p:cNvPr>
          <p:cNvPicPr>
            <a:picLocks noChangeAspect="1"/>
          </p:cNvPicPr>
          <p:nvPr/>
        </p:nvPicPr>
        <p:blipFill>
          <a:blip r:embed="rId4"/>
          <a:stretch>
            <a:fillRect/>
          </a:stretch>
        </p:blipFill>
        <p:spPr>
          <a:xfrm>
            <a:off x="6508699" y="3171139"/>
            <a:ext cx="332842" cy="332842"/>
          </a:xfrm>
          <a:prstGeom prst="rect">
            <a:avLst/>
          </a:prstGeom>
        </p:spPr>
      </p:pic>
      <p:sp>
        <p:nvSpPr>
          <p:cNvPr id="22" name="text-563"/>
          <p:cNvSpPr txBox="1"/>
          <p:nvPr/>
        </p:nvSpPr>
        <p:spPr>
          <a:xfrm>
            <a:off x="7178040" y="2834640"/>
            <a:ext cx="4297680" cy="365760"/>
          </a:xfrm>
          <a:prstGeom prst="rect">
            <a:avLst/>
          </a:prstGeom>
          <a:noFill/>
          <a:ln/>
        </p:spPr>
        <p:txBody>
          <a:bodyPr wrap="square" lIns="0" tIns="0" rIns="0" bIns="0" rtlCol="0" anchor="t"/>
          <a:lstStyle/>
          <a:p>
            <a:pPr indent="0" marL="0">
              <a:buNone/>
            </a:pPr>
            <a:r>
              <a:rPr lang="en-US" sz="1500" b="1" dirty="0">
                <a:solidFill>
                  <a:schemeClr val="tx2"/>
                </a:solidFill>
              </a:rPr>
              <a:t>Real-user validation (Rework)</a:t>
            </a:r>
            <a:endParaRPr lang="en-US" sz="1500" dirty="0"/>
          </a:p>
        </p:txBody>
      </p:sp>
      <p:sp>
        <p:nvSpPr>
          <p:cNvPr id="23" name="text-564"/>
          <p:cNvSpPr txBox="1"/>
          <p:nvPr/>
        </p:nvSpPr>
        <p:spPr>
          <a:xfrm>
            <a:off x="7178040" y="3200400"/>
            <a:ext cx="4297680" cy="685800"/>
          </a:xfrm>
          <a:prstGeom prst="rect">
            <a:avLst/>
          </a:prstGeom>
          <a:noFill/>
          <a:ln/>
        </p:spPr>
        <p:txBody>
          <a:bodyPr wrap="square" lIns="0" tIns="0" rIns="0" bIns="0" rtlCol="0" anchor="t"/>
          <a:lstStyle/>
          <a:p>
            <a:pPr indent="0" marL="0">
              <a:buNone/>
            </a:pPr>
            <a:r>
              <a:rPr lang="en-US" sz="1300" dirty="0">
                <a:solidFill>
                  <a:schemeClr val="tx1"/>
                </a:solidFill>
              </a:rPr>
              <a:t>Six rounds incl. students, three recruiters, an engineer; claims-changed table</a:t>
            </a:r>
            <a:endParaRPr lang="en-US" sz="1300" dirty="0"/>
          </a:p>
        </p:txBody>
      </p:sp>
      <p:sp>
        <p:nvSpPr>
          <p:cNvPr id="24" name="card-565"/>
          <p:cNvSpPr/>
          <p:nvPr/>
        </p:nvSpPr>
        <p:spPr>
          <a:xfrm>
            <a:off x="548640" y="4069080"/>
            <a:ext cx="5440680" cy="1188720"/>
          </a:xfrm>
          <a:prstGeom prst="roundRect">
            <a:avLst>
              <a:gd name="adj" fmla="val 6154"/>
            </a:avLst>
          </a:prstGeom>
          <a:solidFill>
            <a:schemeClr val="bg2"/>
          </a:solidFill>
          <a:ln w="12700">
            <a:solidFill>
              <a:schemeClr val="bg2"/>
            </a:solidFill>
            <a:prstDash val="solid"/>
          </a:ln>
        </p:spPr>
      </p:sp>
      <p:sp>
        <p:nvSpPr>
          <p:cNvPr id="25" name="badge-566"/>
          <p:cNvSpPr/>
          <p:nvPr/>
        </p:nvSpPr>
        <p:spPr>
          <a:xfrm>
            <a:off x="731520" y="4343400"/>
            <a:ext cx="640080" cy="640080"/>
          </a:xfrm>
          <a:prstGeom prst="ellipse">
            <a:avLst/>
          </a:prstGeom>
          <a:solidFill>
            <a:schemeClr val="accent1"/>
          </a:solidFill>
          <a:ln w="12700">
            <a:solidFill>
              <a:schemeClr val="accent1"/>
            </a:solidFill>
            <a:prstDash val="solid"/>
          </a:ln>
        </p:spPr>
      </p:sp>
      <p:pic>
        <p:nvPicPr>
          <p:cNvPr id="26" name="icon-567" descr="preencoded.png">    </p:cNvPr>
          <p:cNvPicPr>
            <a:picLocks noChangeAspect="1"/>
          </p:cNvPicPr>
          <p:nvPr/>
        </p:nvPicPr>
        <p:blipFill>
          <a:blip r:embed="rId5"/>
          <a:stretch>
            <a:fillRect/>
          </a:stretch>
        </p:blipFill>
        <p:spPr>
          <a:xfrm>
            <a:off x="885139" y="4497019"/>
            <a:ext cx="332842" cy="332842"/>
          </a:xfrm>
          <a:prstGeom prst="rect">
            <a:avLst/>
          </a:prstGeom>
        </p:spPr>
      </p:pic>
      <p:sp>
        <p:nvSpPr>
          <p:cNvPr id="27" name="text-568"/>
          <p:cNvSpPr txBox="1"/>
          <p:nvPr/>
        </p:nvSpPr>
        <p:spPr>
          <a:xfrm>
            <a:off x="1554480" y="4160520"/>
            <a:ext cx="4297680" cy="365760"/>
          </a:xfrm>
          <a:prstGeom prst="rect">
            <a:avLst/>
          </a:prstGeom>
          <a:noFill/>
          <a:ln/>
        </p:spPr>
        <p:txBody>
          <a:bodyPr wrap="square" lIns="0" tIns="0" rIns="0" bIns="0" rtlCol="0" anchor="t"/>
          <a:lstStyle/>
          <a:p>
            <a:pPr indent="0" marL="0">
              <a:buNone/>
            </a:pPr>
            <a:r>
              <a:rPr lang="en-US" sz="1500" b="1" dirty="0">
                <a:solidFill>
                  <a:schemeClr val="tx2"/>
                </a:solidFill>
              </a:rPr>
              <a:t>Link between learning and change</a:t>
            </a:r>
            <a:endParaRPr lang="en-US" sz="1500" dirty="0"/>
          </a:p>
        </p:txBody>
      </p:sp>
      <p:sp>
        <p:nvSpPr>
          <p:cNvPr id="28" name="text-569"/>
          <p:cNvSpPr txBox="1"/>
          <p:nvPr/>
        </p:nvSpPr>
        <p:spPr>
          <a:xfrm>
            <a:off x="1554480" y="4526280"/>
            <a:ext cx="4297680" cy="685800"/>
          </a:xfrm>
          <a:prstGeom prst="rect">
            <a:avLst/>
          </a:prstGeom>
          <a:noFill/>
          <a:ln/>
        </p:spPr>
        <p:txBody>
          <a:bodyPr wrap="square" lIns="0" tIns="0" rIns="0" bIns="0" rtlCol="0" anchor="t"/>
          <a:lstStyle/>
          <a:p>
            <a:pPr indent="0" marL="0">
              <a:buNone/>
            </a:pPr>
            <a:r>
              <a:rPr lang="en-US" sz="1300" dirty="0">
                <a:solidFill>
                  <a:schemeClr val="tx1"/>
                </a:solidFill>
              </a:rPr>
              <a:t>Claims changed: before → what people said → what changed</a:t>
            </a:r>
            <a:endParaRPr lang="en-US" sz="1300" dirty="0"/>
          </a:p>
        </p:txBody>
      </p:sp>
      <p:sp>
        <p:nvSpPr>
          <p:cNvPr id="29" name="card-570"/>
          <p:cNvSpPr/>
          <p:nvPr/>
        </p:nvSpPr>
        <p:spPr>
          <a:xfrm>
            <a:off x="6172200" y="4069080"/>
            <a:ext cx="5440680" cy="1188720"/>
          </a:xfrm>
          <a:prstGeom prst="roundRect">
            <a:avLst>
              <a:gd name="adj" fmla="val 6154"/>
            </a:avLst>
          </a:prstGeom>
          <a:solidFill>
            <a:schemeClr val="bg2"/>
          </a:solidFill>
          <a:ln w="12700">
            <a:solidFill>
              <a:schemeClr val="bg2"/>
            </a:solidFill>
            <a:prstDash val="solid"/>
          </a:ln>
        </p:spPr>
      </p:sp>
      <p:sp>
        <p:nvSpPr>
          <p:cNvPr id="30" name="badge-571"/>
          <p:cNvSpPr/>
          <p:nvPr/>
        </p:nvSpPr>
        <p:spPr>
          <a:xfrm>
            <a:off x="6355080" y="4343400"/>
            <a:ext cx="640080" cy="640080"/>
          </a:xfrm>
          <a:prstGeom prst="ellipse">
            <a:avLst/>
          </a:prstGeom>
          <a:solidFill>
            <a:schemeClr val="accent1"/>
          </a:solidFill>
          <a:ln w="12700">
            <a:solidFill>
              <a:schemeClr val="accent1"/>
            </a:solidFill>
            <a:prstDash val="solid"/>
          </a:ln>
        </p:spPr>
      </p:sp>
      <p:pic>
        <p:nvPicPr>
          <p:cNvPr id="31" name="icon-572" descr="preencoded.png">    </p:cNvPr>
          <p:cNvPicPr>
            <a:picLocks noChangeAspect="1"/>
          </p:cNvPicPr>
          <p:nvPr/>
        </p:nvPicPr>
        <p:blipFill>
          <a:blip r:embed="rId6"/>
          <a:stretch>
            <a:fillRect/>
          </a:stretch>
        </p:blipFill>
        <p:spPr>
          <a:xfrm>
            <a:off x="6508699" y="4497019"/>
            <a:ext cx="332842" cy="332842"/>
          </a:xfrm>
          <a:prstGeom prst="rect">
            <a:avLst/>
          </a:prstGeom>
        </p:spPr>
      </p:pic>
      <p:sp>
        <p:nvSpPr>
          <p:cNvPr id="32" name="text-573"/>
          <p:cNvSpPr txBox="1"/>
          <p:nvPr/>
        </p:nvSpPr>
        <p:spPr>
          <a:xfrm>
            <a:off x="7178040" y="4160520"/>
            <a:ext cx="4297680" cy="365760"/>
          </a:xfrm>
          <a:prstGeom prst="rect">
            <a:avLst/>
          </a:prstGeom>
          <a:noFill/>
          <a:ln/>
        </p:spPr>
        <p:txBody>
          <a:bodyPr wrap="square" lIns="0" tIns="0" rIns="0" bIns="0" rtlCol="0" anchor="t"/>
          <a:lstStyle/>
          <a:p>
            <a:pPr indent="0" marL="0">
              <a:buNone/>
            </a:pPr>
            <a:r>
              <a:rPr lang="en-US" sz="1500" b="1" dirty="0">
                <a:solidFill>
                  <a:schemeClr val="tx2"/>
                </a:solidFill>
              </a:rPr>
              <a:t>Dynamics, hurdles, options</a:t>
            </a:r>
            <a:endParaRPr lang="en-US" sz="1500" dirty="0"/>
          </a:p>
        </p:txBody>
      </p:sp>
      <p:sp>
        <p:nvSpPr>
          <p:cNvPr id="33" name="text-574"/>
          <p:cNvSpPr txBox="1"/>
          <p:nvPr/>
        </p:nvSpPr>
        <p:spPr>
          <a:xfrm>
            <a:off x="7178040" y="4526280"/>
            <a:ext cx="4297680" cy="685800"/>
          </a:xfrm>
          <a:prstGeom prst="rect">
            <a:avLst/>
          </a:prstGeom>
          <a:noFill/>
          <a:ln/>
        </p:spPr>
        <p:txBody>
          <a:bodyPr wrap="square" lIns="0" tIns="0" rIns="0" bIns="0" rtlCol="0" anchor="t"/>
          <a:lstStyle/>
          <a:p>
            <a:pPr indent="0" marL="0">
              <a:buNone/>
            </a:pPr>
            <a:r>
              <a:rPr lang="en-US" sz="1300" dirty="0">
                <a:solidFill>
                  <a:schemeClr val="tx1"/>
                </a:solidFill>
              </a:rPr>
              <a:t>Stakeholder map: value per player, hurdles, 11 ranked options</a:t>
            </a:r>
            <a:endParaRPr lang="en-US" sz="1300" dirty="0"/>
          </a:p>
        </p:txBody>
      </p:sp>
      <p:sp>
        <p:nvSpPr>
          <p:cNvPr id="34" name="card-575"/>
          <p:cNvSpPr/>
          <p:nvPr/>
        </p:nvSpPr>
        <p:spPr>
          <a:xfrm>
            <a:off x="548640" y="5440680"/>
            <a:ext cx="11064240" cy="457200"/>
          </a:xfrm>
          <a:prstGeom prst="roundRect">
            <a:avLst>
              <a:gd name="adj" fmla="val 16000"/>
            </a:avLst>
          </a:prstGeom>
          <a:solidFill>
            <a:schemeClr val="bg2"/>
          </a:solidFill>
          <a:ln w="12700">
            <a:solidFill>
              <a:schemeClr val="bg2"/>
            </a:solidFill>
            <a:prstDash val="solid"/>
          </a:ln>
        </p:spPr>
      </p:sp>
      <p:sp>
        <p:nvSpPr>
          <p:cNvPr id="35" name="text-576"/>
          <p:cNvSpPr txBox="1"/>
          <p:nvPr/>
        </p:nvSpPr>
        <p:spPr>
          <a:xfrm>
            <a:off x="822960" y="5440680"/>
            <a:ext cx="10607040" cy="457200"/>
          </a:xfrm>
          <a:prstGeom prst="rect">
            <a:avLst/>
          </a:prstGeom>
          <a:noFill/>
          <a:ln/>
        </p:spPr>
        <p:txBody>
          <a:bodyPr wrap="square" lIns="0" tIns="0" rIns="0" bIns="0" rtlCol="0" anchor="ctr"/>
          <a:lstStyle/>
          <a:p>
            <a:pPr indent="0" marL="0">
              <a:buNone/>
            </a:pPr>
            <a:r>
              <a:rPr lang="en-US" sz="1400" b="1" dirty="0">
                <a:solidFill>
                  <a:schemeClr val="accent4"/>
                </a:solidFill>
              </a:rPr>
              <a:t>Still open: </a:t>
            </a:r>
            <a:pPr indent="0" marL="0">
              <a:buNone/>
            </a:pPr>
            <a:r>
              <a:rPr lang="en-US" sz="1400" dirty="0">
                <a:solidFill>
                  <a:schemeClr val="tx1"/>
                </a:solidFill>
              </a:rPr>
              <a:t>the v2 test hasn't run yet. That is the same weakness Challenge I flagged; the pilot starts 16 Oct.</a:t>
            </a:r>
            <a:endParaRPr lang="en-US" sz="1400" dirty="0"/>
          </a:p>
        </p:txBody>
      </p:sp>
      <p:sp>
        <p:nvSpPr>
          <p:cNvPr id="36" name="text-577"/>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evidence-log/feedback-response.md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2"/>
                </a:solidFill>
              </a:rPr>
              <a:t>Honest status check</a:t>
            </a:r>
            <a:endParaRPr lang="en-US" sz="3200" dirty="0"/>
          </a:p>
        </p:txBody>
      </p:sp>
      <p:sp>
        <p:nvSpPr>
          <p:cNvPr id="4" name="card-578"/>
          <p:cNvSpPr/>
          <p:nvPr/>
        </p:nvSpPr>
        <p:spPr>
          <a:xfrm>
            <a:off x="548640" y="1417320"/>
            <a:ext cx="3520440" cy="4434840"/>
          </a:xfrm>
          <a:prstGeom prst="roundRect">
            <a:avLst>
              <a:gd name="adj" fmla="val 2078"/>
            </a:avLst>
          </a:prstGeom>
          <a:solidFill>
            <a:schemeClr val="bg2"/>
          </a:solidFill>
          <a:ln w="12700">
            <a:solidFill>
              <a:schemeClr val="bg2"/>
            </a:solidFill>
            <a:prstDash val="solid"/>
          </a:ln>
        </p:spPr>
      </p:sp>
      <p:sp>
        <p:nvSpPr>
          <p:cNvPr id="5" name="badge-579"/>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6" name="icon-580" descr="preencoded.png">    </p:cNvPr>
          <p:cNvPicPr>
            <a:picLocks noChangeAspect="1"/>
          </p:cNvPicPr>
          <p:nvPr/>
        </p:nvPicPr>
        <p:blipFill>
          <a:blip r:embed="rId1"/>
          <a:stretch>
            <a:fillRect/>
          </a:stretch>
        </p:blipFill>
        <p:spPr>
          <a:xfrm>
            <a:off x="998525" y="1821485"/>
            <a:ext cx="380390" cy="380390"/>
          </a:xfrm>
          <a:prstGeom prst="rect">
            <a:avLst/>
          </a:prstGeom>
        </p:spPr>
      </p:pic>
      <p:sp>
        <p:nvSpPr>
          <p:cNvPr id="7" name="text-581"/>
          <p:cNvSpPr txBox="1"/>
          <p:nvPr/>
        </p:nvSpPr>
        <p:spPr>
          <a:xfrm>
            <a:off x="1737360" y="1783080"/>
            <a:ext cx="2194560" cy="457200"/>
          </a:xfrm>
          <a:prstGeom prst="rect">
            <a:avLst/>
          </a:prstGeom>
          <a:noFill/>
          <a:ln/>
        </p:spPr>
        <p:txBody>
          <a:bodyPr wrap="square" lIns="0" tIns="0" rIns="0" bIns="0" rtlCol="0" anchor="t"/>
          <a:lstStyle/>
          <a:p>
            <a:pPr indent="0" marL="0">
              <a:buNone/>
            </a:pPr>
            <a:r>
              <a:rPr lang="en-US" sz="1900" b="1" dirty="0">
                <a:solidFill>
                  <a:schemeClr val="tx2"/>
                </a:solidFill>
              </a:rPr>
              <a:t>We know</a:t>
            </a:r>
            <a:endParaRPr lang="en-US" sz="1900" dirty="0"/>
          </a:p>
        </p:txBody>
      </p:sp>
      <p:sp>
        <p:nvSpPr>
          <p:cNvPr id="8" name="text-582"/>
          <p:cNvSpPr txBox="1"/>
          <p:nvPr/>
        </p:nvSpPr>
        <p:spPr>
          <a:xfrm>
            <a:off x="822960" y="265176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Students struggle to show their own contribution (14/17)</a:t>
            </a:r>
            <a:endParaRPr lang="en-US" sz="1500" dirty="0"/>
          </a:p>
          <a:p>
            <a:pPr marL="342900" indent="-342900">
              <a:spcAft>
                <a:spcPts val="800"/>
              </a:spcAft>
              <a:buSzPct val="100000"/>
              <a:buChar char="•"/>
            </a:pPr>
            <a:r>
              <a:rPr lang="en-US" sz="1500" dirty="0">
                <a:solidFill>
                  <a:schemeClr val="tx1"/>
                </a:solidFill>
              </a:rPr>
              <a:t>Short challenges fit their time (12/17 ≤ 4 h)</a:t>
            </a:r>
            <a:endParaRPr lang="en-US" sz="1500" dirty="0"/>
          </a:p>
          <a:p>
            <a:pPr marL="342900" indent="-342900">
              <a:spcAft>
                <a:spcPts val="800"/>
              </a:spcAft>
              <a:buSzPct val="100000"/>
              <a:buChar char="•"/>
            </a:pPr>
            <a:r>
              <a:rPr lang="en-US" sz="1500" dirty="0">
                <a:solidFill>
                  <a:schemeClr val="tx1"/>
                </a:solidFill>
              </a:rPr>
              <a:t>Recruiters want inspectable evidence, not a number</a:t>
            </a:r>
            <a:endParaRPr lang="en-US" sz="1500" dirty="0"/>
          </a:p>
        </p:txBody>
      </p:sp>
      <p:sp>
        <p:nvSpPr>
          <p:cNvPr id="9" name="card-583"/>
          <p:cNvSpPr/>
          <p:nvPr/>
        </p:nvSpPr>
        <p:spPr>
          <a:xfrm>
            <a:off x="4297680" y="1417320"/>
            <a:ext cx="3520440" cy="4434840"/>
          </a:xfrm>
          <a:prstGeom prst="roundRect">
            <a:avLst>
              <a:gd name="adj" fmla="val 2078"/>
            </a:avLst>
          </a:prstGeom>
          <a:solidFill>
            <a:schemeClr val="bg2"/>
          </a:solidFill>
          <a:ln w="12700">
            <a:solidFill>
              <a:schemeClr val="bg2"/>
            </a:solidFill>
            <a:prstDash val="solid"/>
          </a:ln>
        </p:spPr>
      </p:sp>
      <p:sp>
        <p:nvSpPr>
          <p:cNvPr id="10" name="badge-584"/>
          <p:cNvSpPr/>
          <p:nvPr/>
        </p:nvSpPr>
        <p:spPr>
          <a:xfrm>
            <a:off x="4572000" y="1645920"/>
            <a:ext cx="731520" cy="731520"/>
          </a:xfrm>
          <a:prstGeom prst="ellipse">
            <a:avLst/>
          </a:prstGeom>
          <a:solidFill>
            <a:schemeClr val="accent2"/>
          </a:solidFill>
          <a:ln w="12700">
            <a:solidFill>
              <a:schemeClr val="accent2"/>
            </a:solidFill>
            <a:prstDash val="solid"/>
          </a:ln>
        </p:spPr>
      </p:sp>
      <p:pic>
        <p:nvPicPr>
          <p:cNvPr id="11" name="icon-585" descr="preencoded.png">    </p:cNvPr>
          <p:cNvPicPr>
            <a:picLocks noChangeAspect="1"/>
          </p:cNvPicPr>
          <p:nvPr/>
        </p:nvPicPr>
        <p:blipFill>
          <a:blip r:embed="rId2"/>
          <a:stretch>
            <a:fillRect/>
          </a:stretch>
        </p:blipFill>
        <p:spPr>
          <a:xfrm>
            <a:off x="4747565" y="1821485"/>
            <a:ext cx="380390" cy="380390"/>
          </a:xfrm>
          <a:prstGeom prst="rect">
            <a:avLst/>
          </a:prstGeom>
        </p:spPr>
      </p:pic>
      <p:sp>
        <p:nvSpPr>
          <p:cNvPr id="12" name="text-586"/>
          <p:cNvSpPr txBox="1"/>
          <p:nvPr/>
        </p:nvSpPr>
        <p:spPr>
          <a:xfrm>
            <a:off x="5486400" y="1783080"/>
            <a:ext cx="2194560" cy="457200"/>
          </a:xfrm>
          <a:prstGeom prst="rect">
            <a:avLst/>
          </a:prstGeom>
          <a:noFill/>
          <a:ln/>
        </p:spPr>
        <p:txBody>
          <a:bodyPr wrap="square" lIns="0" tIns="0" rIns="0" bIns="0" rtlCol="0" anchor="t"/>
          <a:lstStyle/>
          <a:p>
            <a:pPr indent="0" marL="0">
              <a:buNone/>
            </a:pPr>
            <a:r>
              <a:rPr lang="en-US" sz="1900" b="1" dirty="0">
                <a:solidFill>
                  <a:schemeClr val="tx2"/>
                </a:solidFill>
              </a:rPr>
              <a:t>Only stated so far</a:t>
            </a:r>
            <a:endParaRPr lang="en-US" sz="1900" dirty="0"/>
          </a:p>
        </p:txBody>
      </p:sp>
      <p:sp>
        <p:nvSpPr>
          <p:cNvPr id="13" name="text-587"/>
          <p:cNvSpPr txBox="1"/>
          <p:nvPr/>
        </p:nvSpPr>
        <p:spPr>
          <a:xfrm>
            <a:off x="4572000" y="265176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Students would pay €15, on conditions</a:t>
            </a:r>
            <a:endParaRPr lang="en-US" sz="1500" dirty="0"/>
          </a:p>
          <a:p>
            <a:pPr marL="342900" indent="-342900">
              <a:spcAft>
                <a:spcPts val="800"/>
              </a:spcAft>
              <a:buSzPct val="100000"/>
              <a:buChar char="•"/>
            </a:pPr>
            <a:r>
              <a:rPr lang="en-US" sz="1500" dirty="0">
                <a:solidFill>
                  <a:schemeClr val="tx1"/>
                </a:solidFill>
              </a:rPr>
              <a:t>Recruiters would shortlist on the bundle</a:t>
            </a:r>
            <a:endParaRPr lang="en-US" sz="1500" dirty="0"/>
          </a:p>
          <a:p>
            <a:pPr marL="342900" indent="-342900">
              <a:spcAft>
                <a:spcPts val="800"/>
              </a:spcAft>
              <a:buSzPct val="100000"/>
              <a:buChar char="•"/>
            </a:pPr>
            <a:r>
              <a:rPr lang="en-US" sz="1500" dirty="0">
                <a:solidFill>
                  <a:schemeClr val="tx1"/>
                </a:solidFill>
              </a:rPr>
              <a:t>Companies would pay per challenge or sponsor</a:t>
            </a:r>
            <a:endParaRPr lang="en-US" sz="1500" dirty="0"/>
          </a:p>
        </p:txBody>
      </p:sp>
      <p:sp>
        <p:nvSpPr>
          <p:cNvPr id="14" name="card-588"/>
          <p:cNvSpPr/>
          <p:nvPr/>
        </p:nvSpPr>
        <p:spPr>
          <a:xfrm>
            <a:off x="8046720" y="1417320"/>
            <a:ext cx="3520440" cy="4434840"/>
          </a:xfrm>
          <a:prstGeom prst="roundRect">
            <a:avLst>
              <a:gd name="adj" fmla="val 2078"/>
            </a:avLst>
          </a:prstGeom>
          <a:solidFill>
            <a:schemeClr val="bg2"/>
          </a:solidFill>
          <a:ln w="12700">
            <a:solidFill>
              <a:schemeClr val="bg2"/>
            </a:solidFill>
            <a:prstDash val="solid"/>
          </a:ln>
        </p:spPr>
      </p:sp>
      <p:sp>
        <p:nvSpPr>
          <p:cNvPr id="15" name="badge-589"/>
          <p:cNvSpPr/>
          <p:nvPr/>
        </p:nvSpPr>
        <p:spPr>
          <a:xfrm>
            <a:off x="8321040" y="1645920"/>
            <a:ext cx="731520" cy="731520"/>
          </a:xfrm>
          <a:prstGeom prst="ellipse">
            <a:avLst/>
          </a:prstGeom>
          <a:solidFill>
            <a:schemeClr val="accent4"/>
          </a:solidFill>
          <a:ln w="12700">
            <a:solidFill>
              <a:schemeClr val="accent4"/>
            </a:solidFill>
            <a:prstDash val="solid"/>
          </a:ln>
        </p:spPr>
      </p:sp>
      <p:pic>
        <p:nvPicPr>
          <p:cNvPr id="16" name="icon-590" descr="preencoded.png">    </p:cNvPr>
          <p:cNvPicPr>
            <a:picLocks noChangeAspect="1"/>
          </p:cNvPicPr>
          <p:nvPr/>
        </p:nvPicPr>
        <p:blipFill>
          <a:blip r:embed="rId3"/>
          <a:stretch>
            <a:fillRect/>
          </a:stretch>
        </p:blipFill>
        <p:spPr>
          <a:xfrm>
            <a:off x="8496605" y="1821485"/>
            <a:ext cx="380390" cy="380390"/>
          </a:xfrm>
          <a:prstGeom prst="rect">
            <a:avLst/>
          </a:prstGeom>
        </p:spPr>
      </p:pic>
      <p:sp>
        <p:nvSpPr>
          <p:cNvPr id="17" name="text-591"/>
          <p:cNvSpPr txBox="1"/>
          <p:nvPr/>
        </p:nvSpPr>
        <p:spPr>
          <a:xfrm>
            <a:off x="9235440" y="1783080"/>
            <a:ext cx="2194560" cy="457200"/>
          </a:xfrm>
          <a:prstGeom prst="rect">
            <a:avLst/>
          </a:prstGeom>
          <a:noFill/>
          <a:ln/>
        </p:spPr>
        <p:txBody>
          <a:bodyPr wrap="square" lIns="0" tIns="0" rIns="0" bIns="0" rtlCol="0" anchor="t"/>
          <a:lstStyle/>
          <a:p>
            <a:pPr indent="0" marL="0">
              <a:buNone/>
            </a:pPr>
            <a:r>
              <a:rPr lang="en-US" sz="1900" b="1" dirty="0">
                <a:solidFill>
                  <a:schemeClr val="tx2"/>
                </a:solidFill>
              </a:rPr>
              <a:t>Still unknown</a:t>
            </a:r>
            <a:endParaRPr lang="en-US" sz="1900" dirty="0"/>
          </a:p>
        </p:txBody>
      </p:sp>
      <p:sp>
        <p:nvSpPr>
          <p:cNvPr id="18" name="text-592"/>
          <p:cNvSpPr txBox="1"/>
          <p:nvPr/>
        </p:nvSpPr>
        <p:spPr>
          <a:xfrm>
            <a:off x="8321040" y="265176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Real payment and real completion</a:t>
            </a:r>
            <a:endParaRPr lang="en-US" sz="1500" dirty="0"/>
          </a:p>
          <a:p>
            <a:pPr marL="342900" indent="-342900">
              <a:spcAft>
                <a:spcPts val="800"/>
              </a:spcAft>
              <a:buSzPct val="100000"/>
              <a:buChar char="•"/>
            </a:pPr>
            <a:r>
              <a:rPr lang="en-US" sz="1500" dirty="0">
                <a:solidFill>
                  <a:schemeClr val="tx1"/>
                </a:solidFill>
              </a:rPr>
              <a:t>A signed company brief and rubric</a:t>
            </a:r>
            <a:endParaRPr lang="en-US" sz="1500" dirty="0"/>
          </a:p>
          <a:p>
            <a:pPr marL="342900" indent="-342900">
              <a:spcAft>
                <a:spcPts val="800"/>
              </a:spcAft>
              <a:buSzPct val="100000"/>
              <a:buChar char="•"/>
            </a:pPr>
            <a:r>
              <a:rPr lang="en-US" sz="1500" dirty="0">
                <a:solidFill>
                  <a:schemeClr val="tx1"/>
                </a:solidFill>
              </a:rPr>
              <a:t>AI–engineer score agreement</a:t>
            </a:r>
            <a:endParaRPr lang="en-US" sz="1500" dirty="0"/>
          </a:p>
          <a:p>
            <a:pPr marL="342900" indent="-342900">
              <a:spcAft>
                <a:spcPts val="800"/>
              </a:spcAft>
              <a:buSzPct val="100000"/>
              <a:buChar char="•"/>
            </a:pPr>
            <a:r>
              <a:rPr lang="en-US" sz="1500" dirty="0">
                <a:solidFill>
                  <a:schemeClr val="tx1"/>
                </a:solidFill>
              </a:rPr>
              <a:t>Any hiring decision made on a certified result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863840" cy="1280160"/>
          </a:xfrm>
          <a:prstGeom prst="rect">
            <a:avLst/>
          </a:prstGeom>
          <a:noFill/>
          <a:ln/>
        </p:spPr>
        <p:txBody>
          <a:bodyPr wrap="square" lIns="0" tIns="0" rIns="0" bIns="0" rtlCol="0" anchor="b"/>
          <a:lstStyle/>
          <a:p>
            <a:pPr algn="l" indent="0" marL="0">
              <a:buNone/>
            </a:pPr>
            <a:r>
              <a:rPr lang="en-US" sz="5400" b="1" dirty="0">
                <a:solidFill>
                  <a:schemeClr val="bg1"/>
                </a:solidFill>
              </a:rPr>
              <a:t>Questions</a:t>
            </a:r>
            <a:endParaRPr lang="en-US" sz="5400" dirty="0"/>
          </a:p>
        </p:txBody>
      </p:sp>
      <p:sp>
        <p:nvSpPr>
          <p:cNvPr id="3" name="Text 0"/>
          <p:cNvSpPr/>
          <p:nvPr>
            <p:ph idx="101" type="body" hasCustomPrompt="1"/>
          </p:nvPr>
        </p:nvSpPr>
        <p:spPr>
          <a:xfrm>
            <a:off x="731520" y="3429000"/>
            <a:ext cx="7863840" cy="1097280"/>
          </a:xfrm>
          <a:prstGeom prst="rect">
            <a:avLst/>
          </a:prstGeom>
          <a:noFill/>
          <a:ln/>
        </p:spPr>
        <p:txBody>
          <a:bodyPr wrap="square" lIns="0" tIns="0" rIns="0" bIns="0" rtlCol="0" anchor="t"/>
          <a:lstStyle/>
          <a:p>
            <a:pPr indent="0" marL="0">
              <a:buNone/>
            </a:pPr>
            <a:r>
              <a:rPr lang="en-US" sz="2200" dirty="0">
                <a:solidFill>
                  <a:schemeClr val="accent5"/>
                </a:solidFill>
              </a:rPr>
              <a:t>What did real evidence change?  ·  What could make us narrow, pivot or stop?</a:t>
            </a:r>
            <a:endParaRPr lang="en-US" sz="2200" dirty="0"/>
          </a:p>
        </p:txBody>
      </p:sp>
      <p:sp>
        <p:nvSpPr>
          <p:cNvPr id="4" name="text-593"/>
          <p:cNvSpPr txBox="1"/>
          <p:nvPr/>
        </p:nvSpPr>
        <p:spPr>
          <a:xfrm>
            <a:off x="731520" y="5669280"/>
            <a:ext cx="8229600" cy="548640"/>
          </a:xfrm>
          <a:prstGeom prst="rect">
            <a:avLst/>
          </a:prstGeom>
          <a:noFill/>
          <a:ln/>
        </p:spPr>
        <p:txBody>
          <a:bodyPr wrap="square" lIns="0" tIns="0" rIns="0" bIns="0" rtlCol="0" anchor="t"/>
          <a:lstStyle/>
          <a:p>
            <a:pPr indent="0" marL="0">
              <a:buNone/>
            </a:pPr>
            <a:r>
              <a:rPr lang="en-US" sz="1400" dirty="0">
                <a:solidFill>
                  <a:schemeClr val="accent5"/>
                </a:solidFill>
              </a:rPr>
              <a:t>Everything lives in the repo. Start at evidence-log/venture-skeleton.md: the whole venture on one page.</a:t>
            </a:r>
            <a:endParaRPr lang="en-US" sz="1400" dirty="0"/>
          </a:p>
        </p:txBody>
      </p:sp>
      <p:sp>
        <p:nvSpPr>
          <p:cNvPr id="5" name="badge-594"/>
          <p:cNvSpPr/>
          <p:nvPr/>
        </p:nvSpPr>
        <p:spPr>
          <a:xfrm>
            <a:off x="9326880" y="1920240"/>
            <a:ext cx="2103120" cy="2103120"/>
          </a:xfrm>
          <a:prstGeom prst="ellipse">
            <a:avLst/>
          </a:prstGeom>
          <a:solidFill>
            <a:schemeClr val="accent1"/>
          </a:solidFill>
          <a:ln w="12700">
            <a:solidFill>
              <a:schemeClr val="accent1"/>
            </a:solidFill>
            <a:prstDash val="solid"/>
          </a:ln>
        </p:spPr>
      </p:sp>
      <p:pic>
        <p:nvPicPr>
          <p:cNvPr id="6" name="icon-595" descr="preencoded.png">    </p:cNvPr>
          <p:cNvPicPr>
            <a:picLocks noChangeAspect="1"/>
          </p:cNvPicPr>
          <p:nvPr/>
        </p:nvPicPr>
        <p:blipFill>
          <a:blip r:embed="rId1"/>
          <a:stretch>
            <a:fillRect/>
          </a:stretch>
        </p:blipFill>
        <p:spPr>
          <a:xfrm>
            <a:off x="9831629" y="2424989"/>
            <a:ext cx="1093622" cy="1093622"/>
          </a:xfrm>
          <a:prstGeom prst="rect">
            <a:avLst/>
          </a:prstGeom>
        </p:spPr>
      </p:pic>
    </p:spTree>
  </p:cSld>
  <p:clrMapOvr>
    <a:masterClrMapping/>
  </p:clrMapOvr>
</p:sld>
</file>

<file path=ppt/theme/theme1.xml><?xml version="1.0" encoding="utf-8"?>
<a:theme xmlns:a="http://schemas.openxmlformats.org/drawingml/2006/main" name="SkillBridge Verified">
  <a:themeElements>
    <a:clrScheme name="SkillBridge Verified">
      <a:dk1>
        <a:srgbClr val="1B1F1D"/>
      </a:dk1>
      <a:lt1>
        <a:srgbClr val="FFFFFF"/>
      </a:lt1>
      <a:dk2>
        <a:srgbClr val="16352F"/>
      </a:dk2>
      <a:lt2>
        <a:srgbClr val="EDF4F0"/>
      </a:lt2>
      <a:accent1>
        <a:srgbClr val="2E8B67"/>
      </a:accent1>
      <a:accent2>
        <a:srgbClr val="E39B32"/>
      </a:accent2>
      <a:accent3>
        <a:srgbClr val="5E6B66"/>
      </a:accent3>
      <a:accent4>
        <a:srgbClr val="B9503A"/>
      </a:accent4>
      <a:accent5>
        <a:srgbClr val="A9D3BF"/>
      </a:accent5>
      <a:accent6>
        <a:srgbClr val="2F5D8A"/>
      </a:accent6>
      <a:hlink>
        <a:srgbClr val="2E8B67"/>
      </a:hlink>
      <a:folHlink>
        <a:srgbClr val="5E6B66"/>
      </a:folHlink>
    </a:clrScheme>
    <a:fontScheme name="SkillBridge Verifi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SkillBridge — Group Project I</dc:title>
  <dc:subject>PptxGenJS Presentation</dc:subject>
  <dc:creator>Group G2</dc:creator>
  <cp:lastModifiedBy>Group G2</cp:lastModifiedBy>
  <cp:revision>1</cp:revision>
  <dcterms:created xsi:type="dcterms:W3CDTF">2026-10-13T07:12:46Z</dcterms:created>
  <dcterms:modified xsi:type="dcterms:W3CDTF">2026-10-13T07:12:46Z</dcterms:modified>
</cp:coreProperties>
</file>