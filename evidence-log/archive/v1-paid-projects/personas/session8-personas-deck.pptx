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4389120" cy="438912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60120"/>
            <a:ext cx="960120" cy="9601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776" y="1084936"/>
            <a:ext cx="710489" cy="71048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VALIDATION · SESSION 8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A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SkillBridge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63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 Skeleton v0.1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605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 Be Done, the required persona set, and real-user validation evidence — with unresolved gaps kept visible.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989320"/>
            <a:ext cx="897941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5989320"/>
            <a:ext cx="8979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→ V0.1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2026-09-22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 Skeleton v0.1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v0 skeleton, refined only where locked decisions or new evidence warrant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438912"/>
            <a:ext cx="153985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46920" y="438912"/>
            <a:ext cx="1539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2026-09-22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11096"/>
            <a:ext cx="804672" cy="8046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287" y="2015703"/>
            <a:ext cx="595457" cy="59545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65960" y="17830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idea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965960" y="2167128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platform where teams of tech students take on small, real, paid “campaigns” for small businesses and come away with a verified record of shipped client work, plus some cash.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511296"/>
            <a:ext cx="804672" cy="8046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287" y="3615903"/>
            <a:ext cx="595457" cy="59545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965960" y="33832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goal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965960" y="3767328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tech students gain real experience through real business projects while helping businesses get those projects completed.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80060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5111496"/>
            <a:ext cx="804672" cy="8046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87" y="5216103"/>
            <a:ext cx="595457" cy="59545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96596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sprint goal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965960" y="5367528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whether small businesses are willing to entrust real, paid projects to inexperienced student teams.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· Venture Skeleton v0.1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changed: v0 → v0.1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course workflow, only real-user evidence and locked decisions move the skeleton forward.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91072" y="1600200"/>
            <a:ext cx="5349240" cy="4617720"/>
          </a:xfrm>
          <a:prstGeom prst="roundRect">
            <a:avLst>
              <a:gd name="adj" fmla="val 1782"/>
            </a:avLst>
          </a:prstGeom>
          <a:solidFill>
            <a:srgbClr val="EAF9F4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· 2026-09-08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58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+ assumption map locked; riskiest assumption named: Area 2 — will a business hand real, paid work to a student team?</a:t>
            </a:r>
            <a:endParaRPr lang="en-US" sz="1250" dirty="0"/>
          </a:p>
          <a:p>
            <a:pPr algn="l"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framed as one generic student persona and one generic business persona.</a:t>
            </a:r>
            <a:endParaRPr lang="en-US" sz="1250" dirty="0"/>
          </a:p>
          <a:p>
            <a:pPr algn="l"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test proposal: unstructured cold-outreach to 10–15 small businesses.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11112" y="187452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11112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 · REFINED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611112" y="2258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Refined through 2026-09-22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11112" y="26517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Card locked (09-09): concierge method, 10-business pitch, 10% deposit, precommitted decision rule.</a:t>
            </a:r>
            <a:endParaRPr lang="en-US" sz="1250" dirty="0"/>
          </a:p>
          <a:p>
            <a:pPr algn="l"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set expanded 2 → 6: added the Once-Bitten Owner, the Tinkerer, the Late Sprinter, the Solo Specialist, and the Skeptical Verifier.</a:t>
            </a:r>
            <a:endParaRPr lang="en-US" sz="1250" dirty="0"/>
          </a:p>
          <a:p>
            <a:pPr algn="l"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real-user intake (09-22): 4 teammate-reported interviews (2 students, 2 business owners) reviewed against JTBD and every persona.</a:t>
            </a:r>
            <a:endParaRPr lang="en-US" sz="1250" dirty="0"/>
          </a:p>
          <a:p>
            <a:pPr algn="l"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JTBD moves from pure team hypothesis (v0.1) to partial participant-reported grounding (v0.2) — trigger refined to match what was actually reported.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· Venture Skeleton v0.1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 to Be Done — v0.1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60920" y="457200"/>
            <a:ext cx="2148840" cy="274320"/>
          </a:xfrm>
          <a:prstGeom prst="roundRect">
            <a:avLst>
              <a:gd name="adj" fmla="val 20000"/>
            </a:avLst>
          </a:prstGeom>
          <a:solidFill>
            <a:srgbClr val="3D5A9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60920" y="457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2026-09-17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46920" y="45720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C77D1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46920" y="457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OPEN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5361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tech student whose experience comes from coursework and personal projects is applying for internships or jobs, a listing explicitly requiring real-world project experience prompts them to seek practical experience they can use to demonstrate their ability to meet business needs.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2688336" cy="1481328"/>
          </a:xfrm>
          <a:prstGeom prst="roundRect">
            <a:avLst>
              <a:gd name="adj" fmla="val 555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94944" y="27157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Circumstance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026664"/>
            <a:ext cx="23957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internships/jobs with only coursework + personal-project experience.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28416" y="2606040"/>
            <a:ext cx="2688336" cy="1481328"/>
          </a:xfrm>
          <a:prstGeom prst="roundRect">
            <a:avLst>
              <a:gd name="adj" fmla="val 555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74720" y="27157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026664"/>
            <a:ext cx="23957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listing that explicitly requires real-world project experience.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08192" y="2606040"/>
            <a:ext cx="2688336" cy="1481328"/>
          </a:xfrm>
          <a:prstGeom prst="roundRect">
            <a:avLst>
              <a:gd name="adj" fmla="val 555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54496" y="27157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Desired progress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3026664"/>
            <a:ext cx="23957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experience to demonstrate ability to meet business needs.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87968" y="2606040"/>
            <a:ext cx="2688336" cy="1481328"/>
          </a:xfrm>
          <a:prstGeom prst="roundRect">
            <a:avLst>
              <a:gd name="adj" fmla="val 555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034272" y="27157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hired (current)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034272" y="3026664"/>
            <a:ext cx="23957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projects and coursework — hypothesised, not confirmed.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197096"/>
            <a:ext cx="2688336" cy="1481328"/>
          </a:xfrm>
          <a:prstGeom prst="roundRect">
            <a:avLst>
              <a:gd name="adj" fmla="val 555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94944" y="4306824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" y="4617720"/>
            <a:ext cx="23957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Coursework/personal projects may lack technical depth and business practicality.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28416" y="4197096"/>
            <a:ext cx="2688336" cy="1481328"/>
          </a:xfrm>
          <a:prstGeom prst="roundRect">
            <a:avLst>
              <a:gd name="adj" fmla="val 555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474720" y="4306824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4617720"/>
            <a:ext cx="23957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money while gaining practical experience.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08192" y="4197096"/>
            <a:ext cx="2688336" cy="1481328"/>
          </a:xfrm>
          <a:prstGeom prst="roundRect">
            <a:avLst>
              <a:gd name="adj" fmla="val 555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254496" y="4306824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254496" y="4617720"/>
            <a:ext cx="23957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projects are familiar — no business client depends on delivery.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887968" y="4197096"/>
            <a:ext cx="2688336" cy="1481328"/>
          </a:xfrm>
          <a:prstGeom prst="roundRect">
            <a:avLst>
              <a:gd name="adj" fmla="val 555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034272" y="4306824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Anxiety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34272" y="4617720"/>
            <a:ext cx="23957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whether coursework-level skills meet real business expectations.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· Venture Skeleton v0.1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required persona 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personas across both sides of the marketplace — 3 selected as critical for this review.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SIDE — DEMAND FOR TRUST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834" y="2237994"/>
            <a:ext cx="507492" cy="5074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Guarded Owner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24048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uncertainty about trusting any student team.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737360" y="3081528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C77D1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737360" y="3081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HYPOTHESIS-HEAVY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91072" y="187452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5F7FB"/>
          </a:solidFill>
          <a:ln w="22225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058400" y="2039112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58400" y="2039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611112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266" y="2237994"/>
            <a:ext cx="507492" cy="50749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479792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Once-Bitten Owner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7479792" y="24048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prior bad experience with paid digital work.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479792" y="3081528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C77D18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479792" y="3081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HYPOTHESIS-HEAVY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SIDE — SUPPLY OF TALENT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" y="409651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04672" y="4352544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260" y="4438132"/>
            <a:ext cx="487192" cy="48719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49808" y="505663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Unconnected Student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749808" y="539496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out of referrals, seeking a sustained track record.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279392" y="409651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5F7FB"/>
          </a:solidFill>
          <a:ln w="22225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73952" y="423367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473952" y="4233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535424" y="4352544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012" y="4438132"/>
            <a:ext cx="487192" cy="48719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480560" y="505663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Tinkerer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4480560" y="539496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Engages early, adapts tools, wants sustained commitment tested.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8010144" y="409651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5F7FB"/>
          </a:solidFill>
          <a:ln w="22225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10204704" y="423367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10204704" y="4233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8266176" y="4352544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764" y="4438132"/>
            <a:ext cx="487192" cy="487192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8211312" y="505663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Late Sprinter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8211312" y="539496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Late-timing, one-shot: races a deadline, then churns.</a:t>
            </a:r>
            <a:endParaRPr lang="en-US" sz="1050" dirty="0"/>
          </a:p>
        </p:txBody>
      </p:sp>
      <p:sp>
        <p:nvSpPr>
          <p:cNvPr id="41" name="Text 3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· Venture Skeleton v0.1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485089"/>
            <a:ext cx="575158" cy="5751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81328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Tinkerer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481328" y="85039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Engages early and gradually, customises tools, seeks a sustained verified track record.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298448"/>
            <a:ext cx="1468526" cy="274320"/>
          </a:xfrm>
          <a:prstGeom prst="roundRect">
            <a:avLst>
              <a:gd name="adj" fmla="val 20000"/>
            </a:avLst>
          </a:prstGeom>
          <a:solidFill>
            <a:srgbClr val="3D5A9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298448"/>
            <a:ext cx="14685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GROUNDING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154326" y="1298448"/>
            <a:ext cx="1397203" cy="274320"/>
          </a:xfrm>
          <a:prstGeom prst="roundRect">
            <a:avLst>
              <a:gd name="adj" fmla="val 20000"/>
            </a:avLst>
          </a:prstGeom>
          <a:solidFill>
            <a:srgbClr val="C77D1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154326" y="1298448"/>
            <a:ext cx="1397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HYPOTHESIS-HEAVY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88690" y="1298448"/>
            <a:ext cx="1468526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88690" y="1298448"/>
            <a:ext cx="14685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 · 2026-09-22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828800"/>
            <a:ext cx="5715000" cy="4434840"/>
          </a:xfrm>
          <a:prstGeom prst="roundRect">
            <a:avLst>
              <a:gd name="adj" fmla="val 185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" y="2011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&amp; behaviour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2395728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UV-S01 (real, teammate-reported): an internship application asked for GitHub/project examples — narrower than the original “explicit listing” trigger.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alternative, confirmed: built a study planner with two classmates — a team project, not solo — doing the frontend and adapting a component library.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 against Area 1: paused ~2 weeks during exams and dropped a feature (calendar integration) under academic pressure.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recovery, confirmed: professor + friends reviewed it; simplified task creation after feedback that it took too many steps.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a mixed motive, confirmed: chose paid tutoring over a coding competition once — but states portfolio value as the main driver.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control (still hypothesis): wants team/support info up front; an open-ended commitment would put them off.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28232" y="182880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702552" y="19751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 (refined)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702552" y="2267712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an application asks for project examples I can’t confidently provide, I want practical work I can demonstrate and explain — with pay as a welcome bonus, not the main driver.”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28232" y="37947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702552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challenged (Area 1)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702552" y="422452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will commit real, sustained hours to a campaign — now has a real counter-signal (the exam pause), not just a hypothesis.</a:t>
            </a:r>
            <a:endParaRPr lang="en-US" sz="1050" dirty="0"/>
          </a:p>
          <a:p>
            <a:pPr algn="l"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Coursework-level skills + light scaffolding are enough to deliver work a real business accepts — still untested; DB/integration help was needed even for a class project.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28232" y="534924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FF5E8"/>
          </a:solidFill>
          <a:ln w="12700">
            <a:solidFill>
              <a:srgbClr val="C77D1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702552" y="542239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UPDATE — 2026-09-22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702552" y="5669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participant-reported grounding via UV-S01 (teammate-shared notes, not independently observed). Now the most-evidenced student-side persona — still no client-delivery or sustained-campaign evidence.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· Venture Skeleton v0.1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485089"/>
            <a:ext cx="575158" cy="5751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81328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Late Sprinter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481328" y="85039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 the clock under a graduation/internship deadline, then disappears — the structural counter-case to the Tinkerer.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298448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C77D1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2984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OVERLAP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011680" y="1298448"/>
            <a:ext cx="1397203" cy="274320"/>
          </a:xfrm>
          <a:prstGeom prst="roundRect">
            <a:avLst>
              <a:gd name="adj" fmla="val 20000"/>
            </a:avLst>
          </a:prstGeom>
          <a:solidFill>
            <a:srgbClr val="C77D1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011680" y="1298448"/>
            <a:ext cx="1397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HYPOTHESIS-HEAVY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546043" y="1298448"/>
            <a:ext cx="1468526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46043" y="1298448"/>
            <a:ext cx="14685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 · 2026-09-22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151730" y="1298448"/>
            <a:ext cx="111191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151730" y="1298448"/>
            <a:ext cx="1111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COUNTER-CASE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828800"/>
            <a:ext cx="5715000" cy="4434840"/>
          </a:xfrm>
          <a:prstGeom prst="roundRect">
            <a:avLst>
              <a:gd name="adj" fmla="val 185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2960" y="2011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&amp; behaviour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2395728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UV-S02 (real, teammate-reported): an internship application asked to describe something delivered — the student “struggled with that.”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Contradicted, not confirmed: the reported project was a collaborative class dashboard, not the solo cram project this persona is defined by.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overlap: effort concentrated right before the deadline — but this was an ordinary class deadline, not graduation/internship pressure.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 after submission, no use outside the course — loosely resembles “one-shot,” but for a class assignment, not a churn-after-internship pattern.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fully unconfirmed: near-graduation status, certification dependence, and churn after securing an internship — this persona's actual differentiators.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conditions (Q6): a few hours/week, not during finals, no obligation to fix things immediately.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28232" y="182880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702552" y="19751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702552" y="2267712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my deadline is closing in and I'm behind on real-world experience, I want the fastest possible way to get one verifiable project done, so I still have a shot at an internship.”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28232" y="37947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702552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challenged (Areas 1 &amp; 3)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702552" y="422452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1, counter-case: a one-shot user who churns the moment an internship lands — still unconfirmed by UV-S02.</a:t>
            </a:r>
            <a:endParaRPr lang="en-US" sz="1050" dirty="0"/>
          </a:p>
          <a:p>
            <a:pPr algn="l"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3: whether a verified record actually moves a recruiter — this persona's whole reason to engage, still untested.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28232" y="534924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FF5E8"/>
          </a:solidFill>
          <a:ln w="12700">
            <a:solidFill>
              <a:srgbClr val="C77D1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702552" y="542239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UNKNOWN — still open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702552" y="5669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engaging with SkillBridge under this profile actually improves internship-landing odds. UV-S02 (2026-09-22) gives limited overlap but doesn't establish this persona's defining traits.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· Venture Skeleton v0.1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485089"/>
            <a:ext cx="575158" cy="5751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81328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Once-Bitten Owner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481328" y="85039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already paid for a bad website. I won’t get burned twice.” — distinct from the Guarded Owner's general uncertainty.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298448"/>
            <a:ext cx="1397203" cy="274320"/>
          </a:xfrm>
          <a:prstGeom prst="roundRect">
            <a:avLst>
              <a:gd name="adj" fmla="val 20000"/>
            </a:avLst>
          </a:prstGeom>
          <a:solidFill>
            <a:srgbClr val="C77D1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298448"/>
            <a:ext cx="1397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HYPOTHESIS-HEAVY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083003" y="1298448"/>
            <a:ext cx="1611173" cy="27432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083003" y="1298448"/>
            <a:ext cx="16111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2026-09-22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1828800"/>
            <a:ext cx="5715000" cy="4434840"/>
          </a:xfrm>
          <a:prstGeom prst="roundRect">
            <a:avLst>
              <a:gd name="adj" fmla="val 185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22960" y="2011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 &amp; trust boundary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395728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 small local business; previously paid for digital work that missed expectations.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alternatives: patch the site themselves, delay, ask someone they know, or try another low-cost freelancer.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 fixed deliverables, clear milestones, a named responsible person, and examples of completed work.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work with students given a written charter, milestone payments, and a refund/protection mechanism.</a:t>
            </a:r>
            <a:endParaRPr lang="en-US" sz="1150" dirty="0"/>
          </a:p>
          <a:p>
            <a:pPr algn="l"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upfront payment is particularly difficult for this persona to accept.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28232" y="182880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702552" y="19751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702552" y="2267712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I’ve already wasted money on digital work that didn’t stick, I want a tightly controlled way to get the next project done properly, so I don’t pay again for something I’ll have to fix.”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28232" y="37947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702552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stressed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702552" y="422452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Business-side trust after a previous negative experience.</a:t>
            </a:r>
            <a:endParaRPr lang="en-US" sz="1050" dirty="0"/>
          </a:p>
          <a:p>
            <a:pPr algn="l"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pay; whether delivered quality drives repeat/referral behaviour.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28232" y="534924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FF5E8"/>
          </a:solidFill>
          <a:ln w="12700">
            <a:solidFill>
              <a:srgbClr val="C77D1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702552" y="542239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UPDATE — 2026-09-22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702552" y="5669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against both business interviews this round (Baya, Nolita) — neither reported a prior bad paid experience. Still zero GROUNDED evidence; not ruled out, just untouched.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· Venture Skeleton v0.1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Real-user validation evidence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market-level support, now joined by a first, partial round of participant-reported persona evidence.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15000" cy="4663440"/>
          </a:xfrm>
          <a:prstGeom prst="roundRect">
            <a:avLst>
              <a:gd name="adj" fmla="val 1765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C7A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10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Market-level evidence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487168"/>
            <a:ext cx="5166360" cy="749808"/>
          </a:xfrm>
          <a:prstGeom prst="roundRect">
            <a:avLst>
              <a:gd name="adj" fmla="val 10976"/>
            </a:avLst>
          </a:prstGeom>
          <a:solidFill>
            <a:srgbClr val="EAF9F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05840" y="25420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66.8%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54203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grads name lack of experience as their #1 obstacle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337560"/>
            <a:ext cx="5166360" cy="749808"/>
          </a:xfrm>
          <a:prstGeom prst="roundRect">
            <a:avLst>
              <a:gd name="adj" fmla="val 10976"/>
            </a:avLst>
          </a:prstGeom>
          <a:solidFill>
            <a:srgbClr val="EAF9F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05840" y="339242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30–60% vs 0.1–2%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39242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vs. cold-application interview conversion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187952"/>
            <a:ext cx="5166360" cy="749808"/>
          </a:xfrm>
          <a:prstGeom prst="roundRect">
            <a:avLst>
              <a:gd name="adj" fmla="val 10976"/>
            </a:avLst>
          </a:prstGeom>
          <a:solidFill>
            <a:srgbClr val="EAF9F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42428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in 700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424281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actually shift on unverified skills-based claims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5038344"/>
            <a:ext cx="5166360" cy="749808"/>
          </a:xfrm>
          <a:prstGeom prst="roundRect">
            <a:avLst>
              <a:gd name="adj" fmla="val 10976"/>
            </a:avLst>
          </a:prstGeom>
          <a:solidFill>
            <a:srgbClr val="EAF9F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05840" y="50932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 / 27%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509320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SMBs spend $1k–$10k on a site / have none at all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9618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opportunity.md — labor-market and SMB desk research.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82512" y="1600200"/>
            <a:ext cx="5257800" cy="4663440"/>
          </a:xfrm>
          <a:prstGeom prst="roundRect">
            <a:avLst>
              <a:gd name="adj" fmla="val 17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56832" y="1810512"/>
            <a:ext cx="2514600" cy="274320"/>
          </a:xfrm>
          <a:prstGeom prst="roundRect">
            <a:avLst>
              <a:gd name="adj" fmla="val 20000"/>
            </a:avLst>
          </a:prstGeom>
          <a:solidFill>
            <a:srgbClr val="3D5A9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56832" y="18105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REVIEWED 09-22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656832" y="2148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Persona-level evidence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656832" y="24871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teammate-reported interviews (2 students, 2 business owners) were reviewed against all 3 selected personas — participant-reported, not independently observed.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56832" y="3154680"/>
            <a:ext cx="4709160" cy="932688"/>
          </a:xfrm>
          <a:prstGeom prst="roundRect">
            <a:avLst>
              <a:gd name="adj" fmla="val 8824"/>
            </a:avLst>
          </a:prstGeom>
          <a:solidFill>
            <a:srgbClr val="263080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858000" y="3246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Tinkerer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35387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UV-S01, 2026-09-22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0" y="3776472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3D5A9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0" y="3776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GROUNDING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56832" y="4178808"/>
            <a:ext cx="4709160" cy="932688"/>
          </a:xfrm>
          <a:prstGeom prst="roundRect">
            <a:avLst>
              <a:gd name="adj" fmla="val 8824"/>
            </a:avLst>
          </a:prstGeom>
          <a:solidFill>
            <a:srgbClr val="263080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858000" y="4270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Late Sprinter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45628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UV-S02, 2026-09-22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58000" y="4800600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C77D1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58000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OVERLAP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56832" y="5202936"/>
            <a:ext cx="4709160" cy="932688"/>
          </a:xfrm>
          <a:prstGeom prst="roundRect">
            <a:avLst>
              <a:gd name="adj" fmla="val 8824"/>
            </a:avLst>
          </a:prstGeom>
          <a:solidFill>
            <a:srgbClr val="263080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858000" y="52943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Once-Bitten Owner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0" y="55869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reviewed, 0/2 match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58000" y="5824728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858000" y="5824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GROUNDED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· Venture Skeleton v0.1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Refined current test: Experiment Card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AF9F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— small businesses will agree to pay inexperienced student teams for real projects when the students show coursework-level skill, a desire to learn, and a commitment to delivering.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307592" y="21031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3670" y="2179198"/>
            <a:ext cx="433060" cy="4330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07592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16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9067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unique qualifying businesses, documented pricing method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670048" y="2368296"/>
            <a:ext cx="73152" cy="54864"/>
          </a:xfrm>
          <a:prstGeom prst="rect">
            <a:avLst/>
          </a:prstGeom>
          <a:solidFill>
            <a:srgbClr val="DCE2EF"/>
          </a:solidFill>
          <a:ln/>
        </p:spPr>
      </p:sp>
      <p:sp>
        <p:nvSpPr>
          <p:cNvPr id="11" name="Shape 8"/>
          <p:cNvSpPr/>
          <p:nvPr/>
        </p:nvSpPr>
        <p:spPr>
          <a:xfrm>
            <a:off x="3520440" y="21031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518" y="2179198"/>
            <a:ext cx="433060" cy="4330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761488" y="2816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Profiles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761488" y="309067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1-page student profiles + Skills Toolkit + “why this project”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882896" y="2368296"/>
            <a:ext cx="73152" cy="54864"/>
          </a:xfrm>
          <a:prstGeom prst="rect">
            <a:avLst/>
          </a:prstGeom>
          <a:solidFill>
            <a:srgbClr val="DCE2EF"/>
          </a:solidFill>
          <a:ln/>
        </p:spPr>
      </p:sp>
      <p:sp>
        <p:nvSpPr>
          <p:cNvPr id="17" name="Shape 13"/>
          <p:cNvSpPr/>
          <p:nvPr/>
        </p:nvSpPr>
        <p:spPr>
          <a:xfrm>
            <a:off x="5733288" y="21031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366" y="2179198"/>
            <a:ext cx="433060" cy="4330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733288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974336" y="2816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Charter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4974336" y="309067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charter + 10% deposit, 10-day response window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095744" y="2368296"/>
            <a:ext cx="73152" cy="54864"/>
          </a:xfrm>
          <a:prstGeom prst="rect">
            <a:avLst/>
          </a:prstGeom>
          <a:solidFill>
            <a:srgbClr val="DCE2EF"/>
          </a:solidFill>
          <a:ln/>
        </p:spPr>
      </p:sp>
      <p:sp>
        <p:nvSpPr>
          <p:cNvPr id="23" name="Shape 18"/>
          <p:cNvSpPr/>
          <p:nvPr/>
        </p:nvSpPr>
        <p:spPr>
          <a:xfrm>
            <a:off x="7946136" y="21031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214" y="2179198"/>
            <a:ext cx="433060" cy="4330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946136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187184" y="2816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Kickoff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187184" y="309067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match confirmed within 5 business days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9308592" y="2368296"/>
            <a:ext cx="73152" cy="54864"/>
          </a:xfrm>
          <a:prstGeom prst="rect">
            <a:avLst/>
          </a:prstGeom>
          <a:solidFill>
            <a:srgbClr val="DCE2EF"/>
          </a:solidFill>
          <a:ln/>
        </p:spPr>
      </p:sp>
      <p:sp>
        <p:nvSpPr>
          <p:cNvPr id="29" name="Shape 23"/>
          <p:cNvSpPr/>
          <p:nvPr/>
        </p:nvSpPr>
        <p:spPr>
          <a:xfrm>
            <a:off x="10158984" y="21031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5062" y="2179198"/>
            <a:ext cx="433060" cy="4330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158984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400032" y="2816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9400032" y="309067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weekly syncs + 30-min final evaluation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548640" y="429768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 w="12700">
            <a:solidFill>
              <a:srgbClr val="DCE2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822960" y="44622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822960" y="4736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 rate (%) of the 10 businesses pitched</a:t>
            </a:r>
            <a:endParaRPr lang="en-US" sz="1350" dirty="0"/>
          </a:p>
        </p:txBody>
      </p:sp>
      <p:sp>
        <p:nvSpPr>
          <p:cNvPr id="37" name="Text 30"/>
          <p:cNvSpPr txBox="1"/>
          <p:nvPr/>
        </p:nvSpPr>
        <p:spPr>
          <a:xfrm>
            <a:off x="822960" y="513892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conversion requires both a signed project charter and the 10% deposit, transferred within that business’s 10-day response window.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291072" y="429768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39" name="Text 32"/>
          <p:cNvSpPr txBox="1"/>
          <p:nvPr/>
        </p:nvSpPr>
        <p:spPr>
          <a:xfrm>
            <a:off x="6565392" y="44622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6565392" y="4663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20%</a:t>
            </a:r>
            <a:endParaRPr lang="en-US" sz="4000" dirty="0"/>
          </a:p>
        </p:txBody>
      </p:sp>
      <p:sp>
        <p:nvSpPr>
          <p:cNvPr id="41" name="Text 34"/>
          <p:cNvSpPr txBox="1"/>
          <p:nvPr/>
        </p:nvSpPr>
        <p:spPr>
          <a:xfrm>
            <a:off x="6565392" y="546811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2 qualifying conversions out of the original 10 pitched. Committed before the test; not adjusted after seeing results.</a:t>
            </a:r>
            <a:endParaRPr lang="en-US" sz="1050" dirty="0"/>
          </a:p>
        </p:txBody>
      </p:sp>
      <p:sp>
        <p:nvSpPr>
          <p:cNvPr id="42" name="Text 3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· Venture Skeleton v0.1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rule — precommitted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branches were fixed before the first pitch went out.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931920"/>
          </a:xfrm>
          <a:prstGeom prst="roundRect">
            <a:avLst>
              <a:gd name="adj" fmla="val 2278"/>
            </a:avLst>
          </a:prstGeom>
          <a:solidFill>
            <a:srgbClr val="F5F7FB"/>
          </a:solidFill>
          <a:ln w="22225">
            <a:solidFill>
              <a:srgbClr val="6B728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47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04872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26080"/>
            <a:ext cx="3099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the declining owners, drop to a flat $10 registration fee, and re-pitch 10 new businesses with a 1-week micro-task scope.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88536" y="1691640"/>
            <a:ext cx="3611880" cy="3931920"/>
          </a:xfrm>
          <a:prstGeom prst="roundRect">
            <a:avLst>
              <a:gd name="adj" fmla="val 2278"/>
            </a:avLst>
          </a:prstGeom>
          <a:solidFill>
            <a:srgbClr val="F5F7FB"/>
          </a:solidFill>
          <a:ln w="22225">
            <a:solidFill>
              <a:srgbClr val="C77D1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1947672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C77D1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4568" y="1947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/ 10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404872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EXTEND, then decide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926080"/>
            <a:ext cx="3099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Precommitted 5-business extension. 0 more conversions → STOP scaling and pivot away from the deposit. ≥ 1 more → CONTINUE with the full cohort.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28432" y="1691640"/>
            <a:ext cx="3611880" cy="3931920"/>
          </a:xfrm>
          <a:prstGeom prst="roundRect">
            <a:avLst>
              <a:gd name="adj" fmla="val 2278"/>
            </a:avLst>
          </a:prstGeom>
          <a:solidFill>
            <a:srgbClr val="F5F7FB"/>
          </a:solidFill>
          <a:ln w="22225">
            <a:solidFill>
              <a:srgbClr val="2C7A4B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1947672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C7A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84464" y="1947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/ 10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404872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926080"/>
            <a:ext cx="3099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straight to the student supply-side test: recruit SUNI students, form teams, and hit the Project Kickoff Milestone within 5 business days.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· Venture Skeleton v0.1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Unresolved gaps — still visible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update rule: only real-user evidence closes these — nothing here is resolved by this deck.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26308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C77D1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19856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965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 map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606040"/>
            <a:ext cx="30998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teammate-reported interviews now exist, but exact dates, interviewer identity and source materials are still unconfirmed.</a:t>
            </a:r>
            <a:endParaRPr lang="en-US" sz="1050" dirty="0"/>
          </a:p>
          <a:p>
            <a:pPr algn="l"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from UV-B01: who supports delivered work once the student team disperses — not in the original risk map.</a:t>
            </a:r>
            <a:endParaRPr lang="en-US" sz="1050" dirty="0"/>
          </a:p>
          <a:p>
            <a:pPr algn="l"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anti-gaming design not yet specified.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88536" y="169164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263080"/>
          </a:solidFill>
          <a:ln/>
        </p:spPr>
      </p:sp>
      <p:sp>
        <p:nvSpPr>
          <p:cNvPr id="10" name="Shape 7"/>
          <p:cNvSpPr/>
          <p:nvPr/>
        </p:nvSpPr>
        <p:spPr>
          <a:xfrm>
            <a:off x="4517136" y="1920240"/>
            <a:ext cx="502920" cy="502920"/>
          </a:xfrm>
          <a:prstGeom prst="ellipse">
            <a:avLst/>
          </a:prstGeom>
          <a:solidFill>
            <a:srgbClr val="C77D1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516" y="198562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57216" y="1965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 to Be Done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44568" y="2606040"/>
            <a:ext cx="30998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refined to “asked for delivered-work examples,” but the full application-to-outcome sequence is still one unobserved episode per student.</a:t>
            </a:r>
            <a:endParaRPr lang="en-US" sz="1050" dirty="0"/>
          </a:p>
          <a:p>
            <a:pPr algn="l"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confirmed as a mixed, not primary, motive — its effect on sustained commitment is still unobserved.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28432" y="169164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263080"/>
          </a:solidFill>
          <a:ln/>
        </p:spPr>
      </p:sp>
      <p:sp>
        <p:nvSpPr>
          <p:cNvPr id="15" name="Shape 11"/>
          <p:cNvSpPr/>
          <p:nvPr/>
        </p:nvSpPr>
        <p:spPr>
          <a:xfrm>
            <a:off x="8257032" y="1920240"/>
            <a:ext cx="502920" cy="502920"/>
          </a:xfrm>
          <a:prstGeom prst="ellipse">
            <a:avLst/>
          </a:prstGeom>
          <a:solidFill>
            <a:srgbClr val="C77D1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412" y="198562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97112" y="1965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personas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284464" y="2606040"/>
            <a:ext cx="30998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Tinkerer: exam-pause is now real evidence against sustained commitment; still no client-acceptance result.</a:t>
            </a:r>
            <a:endParaRPr lang="en-US" sz="1050" dirty="0"/>
          </a:p>
          <a:p>
            <a:pPr algn="l"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Sprinter: reported project was collaborative, not solo — contradicts the persona's own current-alternative.</a:t>
            </a:r>
            <a:endParaRPr lang="en-US" sz="1050" dirty="0"/>
          </a:p>
          <a:p>
            <a:pPr algn="l"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Once-Bitten Owner: reviewed against both business interviews — still 0/2 match, not ruled out.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· Venture Skeleton v0.1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941832"/>
            <a:ext cx="676656" cy="6766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1920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next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606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10-business concierge pitch is in flight — its result triggers the precommitted decision rule.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338328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70432" y="324612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event: pitch results arrive and the decision rule on slide 11 fires — CONTINUE, EXTEND, or CHANGE.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409651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70432" y="395935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deck’s 3 selected personas mark what real-user evidence must resolve next: student delivery capability, credential credibility, and business trust after a bad experience.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80974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70432" y="4672584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rule holds — only real-user evidence changes a persona or the Jobs to Be Done grounding, not this review.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· Session 8 · 2026-09-22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2026-09-22T08:55:08Z</dcterms:created>
  <dcterms:modified xsi:type="dcterms:W3CDTF">2026-09-22T08:55:08Z</dcterms:modified>
</cp:coreProperties>
</file>